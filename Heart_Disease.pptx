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4"/>
  </p:notes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Roboto Bold" charset="1" panose="02000000000000000000"/>
      <p:regular r:id="rId17"/>
    </p:embeddedFont>
    <p:embeddedFont>
      <p:font typeface="Roboto Italics" charset="1" panose="02000000000000000000"/>
      <p:regular r:id="rId18"/>
    </p:embeddedFont>
    <p:embeddedFont>
      <p:font typeface="Open Sans Bold" charset="1" panose="00000000000000000000"/>
      <p:regular r:id="rId20"/>
    </p:embeddedFont>
    <p:embeddedFont>
      <p:font typeface="Open Sans" charset="1" panose="00000000000000000000"/>
      <p:regular r:id="rId21"/>
    </p:embeddedFont>
    <p:embeddedFont>
      <p:font typeface="Open Sans Italics" charset="1" panose="000000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notesMasters/notesMaster1.xml" Type="http://schemas.openxmlformats.org/officeDocument/2006/relationships/notesMaster"/><Relationship Id="rId15" Target="theme/theme2.xml" Type="http://schemas.openxmlformats.org/officeDocument/2006/relationships/theme"/><Relationship Id="rId16" Target="notesSlides/notesSlide1.xml" Type="http://schemas.openxmlformats.org/officeDocument/2006/relationships/notesSlide"/><Relationship Id="rId17" Target="fonts/font17.fntdata" Type="http://schemas.openxmlformats.org/officeDocument/2006/relationships/font"/><Relationship Id="rId18" Target="fonts/font18.fntdata" Type="http://schemas.openxmlformats.org/officeDocument/2006/relationships/font"/><Relationship Id="rId19" Target="notesSlides/notesSlide2.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3.xml" Type="http://schemas.openxmlformats.org/officeDocument/2006/relationships/notesSlide"/><Relationship Id="rId23" Target="fonts/font23.fntdata" Type="http://schemas.openxmlformats.org/officeDocument/2006/relationships/font"/><Relationship Id="rId24" Target="notesSlides/notesSlide4.xml" Type="http://schemas.openxmlformats.org/officeDocument/2006/relationships/notesSlide"/><Relationship Id="rId25" Target="notesSlides/notesSlide5.xml" Type="http://schemas.openxmlformats.org/officeDocument/2006/relationships/notesSlide"/><Relationship Id="rId26" Target="notesSlides/notesSlide6.xml" Type="http://schemas.openxmlformats.org/officeDocument/2006/relationships/notesSlide"/><Relationship Id="rId27" Target="notesSlides/notesSlide7.xml" Type="http://schemas.openxmlformats.org/officeDocument/2006/relationships/notesSlide"/><Relationship Id="rId28" Target="notesSlides/notesSlide8.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4A0008"/>
        </a:solidFill>
      </p:bgPr>
    </p:bg>
    <p:spTree>
      <p:nvGrpSpPr>
        <p:cNvPr id="1" name=""/>
        <p:cNvGrpSpPr/>
        <p:nvPr/>
      </p:nvGrpSpPr>
      <p:grpSpPr>
        <a:xfrm>
          <a:off x="0" y="0"/>
          <a:ext cx="0" cy="0"/>
          <a:chOff x="0" y="0"/>
          <a:chExt cx="0" cy="0"/>
        </a:xfrm>
      </p:grpSpPr>
      <p:grpSp>
        <p:nvGrpSpPr>
          <p:cNvPr name="Group 2" id="2"/>
          <p:cNvGrpSpPr/>
          <p:nvPr/>
        </p:nvGrpSpPr>
        <p:grpSpPr>
          <a:xfrm rot="0">
            <a:off x="-14288" y="6157912"/>
            <a:ext cx="7435215" cy="28575"/>
            <a:chOff x="0" y="0"/>
            <a:chExt cx="9913620" cy="38100"/>
          </a:xfrm>
        </p:grpSpPr>
        <p:sp>
          <p:nvSpPr>
            <p:cNvPr name="Freeform 3" id="3"/>
            <p:cNvSpPr/>
            <p:nvPr/>
          </p:nvSpPr>
          <p:spPr>
            <a:xfrm flipH="false" flipV="false" rot="0">
              <a:off x="0" y="0"/>
              <a:ext cx="9913620" cy="38100"/>
            </a:xfrm>
            <a:custGeom>
              <a:avLst/>
              <a:gdLst/>
              <a:ahLst/>
              <a:cxnLst/>
              <a:rect r="r" b="b" t="t" l="l"/>
              <a:pathLst>
                <a:path h="38100" w="9913620">
                  <a:moveTo>
                    <a:pt x="0" y="0"/>
                  </a:moveTo>
                  <a:lnTo>
                    <a:pt x="9913620" y="38100"/>
                  </a:lnTo>
                </a:path>
              </a:pathLst>
            </a:custGeom>
            <a:blipFill>
              <a:blip r:embed="rId3">
                <a:alphaModFix amt="0"/>
              </a:blip>
              <a:stretch>
                <a:fillRect l="0" t="-5020006" r="0" b="-5020006"/>
              </a:stretch>
            </a:blipFill>
            <a:ln w="28575" cap="sq">
              <a:solidFill>
                <a:srgbClr val="FFFFFF"/>
              </a:solidFill>
              <a:prstDash val="solid"/>
              <a:miter/>
            </a:ln>
          </p:spPr>
        </p:sp>
      </p:grpSp>
      <p:grpSp>
        <p:nvGrpSpPr>
          <p:cNvPr name="Group 4" id="4"/>
          <p:cNvGrpSpPr/>
          <p:nvPr/>
        </p:nvGrpSpPr>
        <p:grpSpPr>
          <a:xfrm rot="0">
            <a:off x="7931468" y="4639628"/>
            <a:ext cx="527685" cy="2653665"/>
            <a:chOff x="0" y="0"/>
            <a:chExt cx="703580" cy="3538220"/>
          </a:xfrm>
        </p:grpSpPr>
        <p:sp>
          <p:nvSpPr>
            <p:cNvPr name="Freeform 5" id="5"/>
            <p:cNvSpPr/>
            <p:nvPr/>
          </p:nvSpPr>
          <p:spPr>
            <a:xfrm flipH="false" flipV="false" rot="0">
              <a:off x="0" y="0"/>
              <a:ext cx="703580" cy="3538220"/>
            </a:xfrm>
            <a:custGeom>
              <a:avLst/>
              <a:gdLst/>
              <a:ahLst/>
              <a:cxnLst/>
              <a:rect r="r" b="b" t="t" l="l"/>
              <a:pathLst>
                <a:path h="3538220" w="703580">
                  <a:moveTo>
                    <a:pt x="0" y="0"/>
                  </a:moveTo>
                  <a:lnTo>
                    <a:pt x="703580" y="3538220"/>
                  </a:lnTo>
                </a:path>
              </a:pathLst>
            </a:custGeom>
            <a:blipFill>
              <a:blip r:embed="rId3">
                <a:alphaModFix amt="0"/>
              </a:blip>
              <a:stretch>
                <a:fillRect l="-595223" t="0" r="-595223" b="0"/>
              </a:stretch>
            </a:blipFill>
            <a:ln w="47625" cap="sq">
              <a:solidFill>
                <a:srgbClr val="990011"/>
              </a:solidFill>
              <a:prstDash val="solid"/>
              <a:miter/>
            </a:ln>
          </p:spPr>
        </p:sp>
      </p:grpSp>
      <p:grpSp>
        <p:nvGrpSpPr>
          <p:cNvPr name="Group 6" id="6"/>
          <p:cNvGrpSpPr/>
          <p:nvPr/>
        </p:nvGrpSpPr>
        <p:grpSpPr>
          <a:xfrm rot="0">
            <a:off x="8891588" y="4228147"/>
            <a:ext cx="596265" cy="1967865"/>
            <a:chOff x="0" y="0"/>
            <a:chExt cx="795020" cy="2623820"/>
          </a:xfrm>
        </p:grpSpPr>
        <p:sp>
          <p:nvSpPr>
            <p:cNvPr name="Freeform 7" id="7"/>
            <p:cNvSpPr/>
            <p:nvPr/>
          </p:nvSpPr>
          <p:spPr>
            <a:xfrm flipH="false" flipV="false" rot="0">
              <a:off x="0" y="0"/>
              <a:ext cx="795020" cy="2623820"/>
            </a:xfrm>
            <a:custGeom>
              <a:avLst/>
              <a:gdLst/>
              <a:ahLst/>
              <a:cxnLst/>
              <a:rect r="r" b="b" t="t" l="l"/>
              <a:pathLst>
                <a:path h="2623820" w="795020">
                  <a:moveTo>
                    <a:pt x="0" y="0"/>
                  </a:moveTo>
                  <a:lnTo>
                    <a:pt x="795020" y="2623820"/>
                  </a:lnTo>
                </a:path>
              </a:pathLst>
            </a:custGeom>
            <a:blipFill>
              <a:blip r:embed="rId3">
                <a:alphaModFix amt="0"/>
              </a:blip>
              <a:stretch>
                <a:fillRect l="-373442" t="0" r="-373442" b="0"/>
              </a:stretch>
            </a:blipFill>
            <a:ln w="47625" cap="sq">
              <a:solidFill>
                <a:srgbClr val="990011"/>
              </a:solidFill>
              <a:prstDash val="solid"/>
              <a:miter/>
            </a:ln>
          </p:spPr>
        </p:sp>
      </p:grpSp>
      <p:grpSp>
        <p:nvGrpSpPr>
          <p:cNvPr name="Group 8" id="8"/>
          <p:cNvGrpSpPr/>
          <p:nvPr/>
        </p:nvGrpSpPr>
        <p:grpSpPr>
          <a:xfrm rot="0">
            <a:off x="9449752" y="6157912"/>
            <a:ext cx="8806815" cy="28575"/>
            <a:chOff x="0" y="0"/>
            <a:chExt cx="11742420" cy="38100"/>
          </a:xfrm>
        </p:grpSpPr>
        <p:sp>
          <p:nvSpPr>
            <p:cNvPr name="Freeform 9" id="9"/>
            <p:cNvSpPr/>
            <p:nvPr/>
          </p:nvSpPr>
          <p:spPr>
            <a:xfrm flipH="false" flipV="false" rot="0">
              <a:off x="0" y="0"/>
              <a:ext cx="11742420" cy="38100"/>
            </a:xfrm>
            <a:custGeom>
              <a:avLst/>
              <a:gdLst/>
              <a:ahLst/>
              <a:cxnLst/>
              <a:rect r="r" b="b" t="t" l="l"/>
              <a:pathLst>
                <a:path h="38100" w="11742420">
                  <a:moveTo>
                    <a:pt x="0" y="0"/>
                  </a:moveTo>
                  <a:lnTo>
                    <a:pt x="11742420" y="38100"/>
                  </a:lnTo>
                </a:path>
              </a:pathLst>
            </a:custGeom>
            <a:blipFill>
              <a:blip r:embed="rId3">
                <a:alphaModFix amt="0"/>
              </a:blip>
              <a:stretch>
                <a:fillRect l="0" t="-5955288" r="0" b="-5955288"/>
              </a:stretch>
            </a:blipFill>
            <a:ln w="28575" cap="sq">
              <a:solidFill>
                <a:srgbClr val="FFFFFF"/>
              </a:solidFill>
              <a:prstDash val="solid"/>
              <a:miter/>
            </a:ln>
          </p:spPr>
        </p:sp>
      </p:grpSp>
      <p:grpSp>
        <p:nvGrpSpPr>
          <p:cNvPr name="Group 10" id="10"/>
          <p:cNvGrpSpPr/>
          <p:nvPr/>
        </p:nvGrpSpPr>
        <p:grpSpPr>
          <a:xfrm rot="0">
            <a:off x="1234440" y="2743200"/>
            <a:ext cx="15773400" cy="1920240"/>
            <a:chOff x="0" y="0"/>
            <a:chExt cx="21031200" cy="2560320"/>
          </a:xfrm>
        </p:grpSpPr>
        <p:sp>
          <p:nvSpPr>
            <p:cNvPr name="Freeform 11" id="11"/>
            <p:cNvSpPr/>
            <p:nvPr/>
          </p:nvSpPr>
          <p:spPr>
            <a:xfrm flipH="false" flipV="false" rot="0">
              <a:off x="0" y="0"/>
              <a:ext cx="21031200" cy="2560320"/>
            </a:xfrm>
            <a:custGeom>
              <a:avLst/>
              <a:gdLst/>
              <a:ahLst/>
              <a:cxnLst/>
              <a:rect r="r" b="b" t="t" l="l"/>
              <a:pathLst>
                <a:path h="2560320" w="21031200">
                  <a:moveTo>
                    <a:pt x="0" y="0"/>
                  </a:moveTo>
                  <a:lnTo>
                    <a:pt x="21031200" y="0"/>
                  </a:lnTo>
                  <a:lnTo>
                    <a:pt x="21031200" y="2560320"/>
                  </a:lnTo>
                  <a:lnTo>
                    <a:pt x="0" y="2560320"/>
                  </a:lnTo>
                  <a:close/>
                </a:path>
              </a:pathLst>
            </a:custGeom>
            <a:blipFill>
              <a:blip r:embed="rId3">
                <a:alphaModFix amt="0"/>
              </a:blip>
              <a:stretch>
                <a:fillRect l="0" t="-110055" r="0" b="-110055"/>
              </a:stretch>
            </a:blipFill>
          </p:spPr>
        </p:sp>
        <p:sp>
          <p:nvSpPr>
            <p:cNvPr name="TextBox 12" id="12"/>
            <p:cNvSpPr txBox="true"/>
            <p:nvPr/>
          </p:nvSpPr>
          <p:spPr>
            <a:xfrm>
              <a:off x="0" y="-9525"/>
              <a:ext cx="21031200" cy="2569845"/>
            </a:xfrm>
            <a:prstGeom prst="rect">
              <a:avLst/>
            </a:prstGeom>
          </p:spPr>
          <p:txBody>
            <a:bodyPr anchor="ctr" rtlCol="false" tIns="0" lIns="0" bIns="0" rIns="0"/>
            <a:lstStyle/>
            <a:p>
              <a:pPr algn="l">
                <a:lnSpc>
                  <a:spcPts val="8280"/>
                </a:lnSpc>
              </a:pPr>
              <a:r>
                <a:rPr lang="en-US" sz="6900" b="true">
                  <a:solidFill>
                    <a:srgbClr val="FFFFFF"/>
                  </a:solidFill>
                  <a:latin typeface="Roboto Bold"/>
                  <a:ea typeface="Roboto Bold"/>
                  <a:cs typeface="Roboto Bold"/>
                  <a:sym typeface="Roboto Bold"/>
                </a:rPr>
                <a:t>Phân tích các yếu tố nguy cơ bệnh tim</a:t>
              </a:r>
            </a:p>
          </p:txBody>
        </p:sp>
      </p:grpSp>
      <p:grpSp>
        <p:nvGrpSpPr>
          <p:cNvPr name="Group 13" id="13"/>
          <p:cNvGrpSpPr/>
          <p:nvPr/>
        </p:nvGrpSpPr>
        <p:grpSpPr>
          <a:xfrm rot="0">
            <a:off x="1303020" y="4596465"/>
            <a:ext cx="15773400" cy="547035"/>
            <a:chOff x="0" y="0"/>
            <a:chExt cx="21031200" cy="729381"/>
          </a:xfrm>
        </p:grpSpPr>
        <p:sp>
          <p:nvSpPr>
            <p:cNvPr name="Freeform 14" id="14"/>
            <p:cNvSpPr/>
            <p:nvPr/>
          </p:nvSpPr>
          <p:spPr>
            <a:xfrm flipH="false" flipV="false" rot="0">
              <a:off x="0" y="0"/>
              <a:ext cx="21031200" cy="729381"/>
            </a:xfrm>
            <a:custGeom>
              <a:avLst/>
              <a:gdLst/>
              <a:ahLst/>
              <a:cxnLst/>
              <a:rect r="r" b="b" t="t" l="l"/>
              <a:pathLst>
                <a:path h="729381" w="21031200">
                  <a:moveTo>
                    <a:pt x="0" y="0"/>
                  </a:moveTo>
                  <a:lnTo>
                    <a:pt x="21031200" y="0"/>
                  </a:lnTo>
                  <a:lnTo>
                    <a:pt x="21031200" y="729381"/>
                  </a:lnTo>
                  <a:lnTo>
                    <a:pt x="0" y="729381"/>
                  </a:lnTo>
                  <a:close/>
                </a:path>
              </a:pathLst>
            </a:custGeom>
            <a:blipFill>
              <a:blip r:embed="rId3">
                <a:alphaModFix amt="0"/>
              </a:blip>
              <a:stretch>
                <a:fillRect l="0" t="-511691" r="0" b="-511984"/>
              </a:stretch>
            </a:blipFill>
          </p:spPr>
        </p:sp>
        <p:sp>
          <p:nvSpPr>
            <p:cNvPr name="TextBox 15" id="15"/>
            <p:cNvSpPr txBox="true"/>
            <p:nvPr/>
          </p:nvSpPr>
          <p:spPr>
            <a:xfrm>
              <a:off x="0" y="-19050"/>
              <a:ext cx="21031200" cy="748431"/>
            </a:xfrm>
            <a:prstGeom prst="rect">
              <a:avLst/>
            </a:prstGeom>
          </p:spPr>
          <p:txBody>
            <a:bodyPr anchor="ctr" rtlCol="false" tIns="0" lIns="0" bIns="0" rIns="0"/>
            <a:lstStyle/>
            <a:p>
              <a:pPr algn="l">
                <a:lnSpc>
                  <a:spcPts val="3419"/>
                </a:lnSpc>
              </a:pPr>
              <a:r>
                <a:rPr lang="en-US" sz="2849" i="true">
                  <a:solidFill>
                    <a:srgbClr val="CC9999"/>
                  </a:solidFill>
                  <a:latin typeface="Roboto Italics"/>
                  <a:ea typeface="Roboto Italics"/>
                  <a:cs typeface="Roboto Italics"/>
                  <a:sym typeface="Roboto Italics"/>
                </a:rPr>
                <a:t>Nguồn dữ liệu: UCI Heart Disease Dataset · 303 bệnh nhân · 13 biến đầu vào</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CF6F5"/>
        </a:solidFill>
      </p:bgPr>
    </p:bg>
    <p:spTree>
      <p:nvGrpSpPr>
        <p:cNvPr id="1" name=""/>
        <p:cNvGrpSpPr/>
        <p:nvPr/>
      </p:nvGrpSpPr>
      <p:grpSpPr>
        <a:xfrm>
          <a:off x="0" y="0"/>
          <a:ext cx="0" cy="0"/>
          <a:chOff x="0" y="0"/>
          <a:chExt cx="0" cy="0"/>
        </a:xfrm>
      </p:grpSpPr>
      <p:grpSp>
        <p:nvGrpSpPr>
          <p:cNvPr name="Group 2" id="2"/>
          <p:cNvGrpSpPr/>
          <p:nvPr/>
        </p:nvGrpSpPr>
        <p:grpSpPr>
          <a:xfrm rot="0">
            <a:off x="822960" y="754380"/>
            <a:ext cx="754380" cy="754380"/>
            <a:chOff x="0" y="0"/>
            <a:chExt cx="1005840" cy="1005840"/>
          </a:xfrm>
        </p:grpSpPr>
        <p:sp>
          <p:nvSpPr>
            <p:cNvPr name="Freeform 3" id="3"/>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990011"/>
            </a:solidFill>
          </p:spPr>
        </p:sp>
      </p:grpSp>
      <p:grpSp>
        <p:nvGrpSpPr>
          <p:cNvPr name="Group 4" id="4"/>
          <p:cNvGrpSpPr/>
          <p:nvPr/>
        </p:nvGrpSpPr>
        <p:grpSpPr>
          <a:xfrm rot="0">
            <a:off x="822960" y="754380"/>
            <a:ext cx="754380" cy="754380"/>
            <a:chOff x="0" y="0"/>
            <a:chExt cx="1005840" cy="1005840"/>
          </a:xfrm>
        </p:grpSpPr>
        <p:sp>
          <p:nvSpPr>
            <p:cNvPr name="Freeform 5" id="5"/>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6" id="6"/>
            <p:cNvSpPr txBox="true"/>
            <p:nvPr/>
          </p:nvSpPr>
          <p:spPr>
            <a:xfrm>
              <a:off x="0" y="-9525"/>
              <a:ext cx="1005840" cy="1015365"/>
            </a:xfrm>
            <a:prstGeom prst="rect">
              <a:avLst/>
            </a:prstGeom>
          </p:spPr>
          <p:txBody>
            <a:bodyPr anchor="ctr" rtlCol="false" tIns="0" lIns="0" bIns="0" rIns="0"/>
            <a:lstStyle/>
            <a:p>
              <a:pPr algn="ctr">
                <a:lnSpc>
                  <a:spcPts val="3960"/>
                </a:lnSpc>
              </a:pPr>
              <a:r>
                <a:rPr lang="en-US" sz="3300" b="true">
                  <a:solidFill>
                    <a:srgbClr val="FFFFFF"/>
                  </a:solidFill>
                  <a:latin typeface="Roboto Bold"/>
                  <a:ea typeface="Roboto Bold"/>
                  <a:cs typeface="Roboto Bold"/>
                  <a:sym typeface="Roboto Bold"/>
                </a:rPr>
                <a:t>2</a:t>
              </a:r>
            </a:p>
          </p:txBody>
        </p:sp>
      </p:grpSp>
      <p:grpSp>
        <p:nvGrpSpPr>
          <p:cNvPr name="Group 7" id="7"/>
          <p:cNvGrpSpPr/>
          <p:nvPr/>
        </p:nvGrpSpPr>
        <p:grpSpPr>
          <a:xfrm rot="0">
            <a:off x="1851660" y="685800"/>
            <a:ext cx="15499080" cy="960120"/>
            <a:chOff x="0" y="0"/>
            <a:chExt cx="20665440" cy="1280160"/>
          </a:xfrm>
        </p:grpSpPr>
        <p:sp>
          <p:nvSpPr>
            <p:cNvPr name="Freeform 8" id="8"/>
            <p:cNvSpPr/>
            <p:nvPr/>
          </p:nvSpPr>
          <p:spPr>
            <a:xfrm flipH="false" flipV="false" rot="0">
              <a:off x="0" y="0"/>
              <a:ext cx="20665439" cy="1280160"/>
            </a:xfrm>
            <a:custGeom>
              <a:avLst/>
              <a:gdLst/>
              <a:ahLst/>
              <a:cxnLst/>
              <a:rect r="r" b="b" t="t" l="l"/>
              <a:pathLst>
                <a:path h="1280160" w="20665439">
                  <a:moveTo>
                    <a:pt x="0" y="0"/>
                  </a:moveTo>
                  <a:lnTo>
                    <a:pt x="20665439" y="0"/>
                  </a:lnTo>
                  <a:lnTo>
                    <a:pt x="20665439" y="1280160"/>
                  </a:lnTo>
                  <a:lnTo>
                    <a:pt x="0" y="1280160"/>
                  </a:lnTo>
                  <a:close/>
                </a:path>
              </a:pathLst>
            </a:custGeom>
            <a:blipFill>
              <a:blip r:embed="rId3">
                <a:alphaModFix amt="0"/>
              </a:blip>
              <a:stretch>
                <a:fillRect l="0" t="-264544" r="0" b="-264544"/>
              </a:stretch>
            </a:blipFill>
          </p:spPr>
        </p:sp>
        <p:sp>
          <p:nvSpPr>
            <p:cNvPr name="TextBox 9" id="9"/>
            <p:cNvSpPr txBox="true"/>
            <p:nvPr/>
          </p:nvSpPr>
          <p:spPr>
            <a:xfrm>
              <a:off x="0" y="-19050"/>
              <a:ext cx="20665440" cy="1299210"/>
            </a:xfrm>
            <a:prstGeom prst="rect">
              <a:avLst/>
            </a:prstGeom>
          </p:spPr>
          <p:txBody>
            <a:bodyPr anchor="ctr" rtlCol="false" tIns="0" lIns="0" bIns="0" rIns="0"/>
            <a:lstStyle/>
            <a:p>
              <a:pPr algn="l">
                <a:lnSpc>
                  <a:spcPts val="5400"/>
                </a:lnSpc>
              </a:pPr>
              <a:r>
                <a:rPr lang="en-US" sz="4500" b="true">
                  <a:solidFill>
                    <a:srgbClr val="990011"/>
                  </a:solidFill>
                  <a:latin typeface="Roboto Bold"/>
                  <a:ea typeface="Roboto Bold"/>
                  <a:cs typeface="Roboto Bold"/>
                  <a:sym typeface="Roboto Bold"/>
                </a:rPr>
                <a:t>Mục tiêu nghiên cứu</a:t>
              </a:r>
            </a:p>
          </p:txBody>
        </p:sp>
      </p:grpSp>
      <p:grpSp>
        <p:nvGrpSpPr>
          <p:cNvPr name="Group 10" id="10"/>
          <p:cNvGrpSpPr/>
          <p:nvPr/>
        </p:nvGrpSpPr>
        <p:grpSpPr>
          <a:xfrm rot="0">
            <a:off x="1028700" y="2080260"/>
            <a:ext cx="8229600" cy="548640"/>
            <a:chOff x="0" y="0"/>
            <a:chExt cx="10972800" cy="731520"/>
          </a:xfrm>
        </p:grpSpPr>
        <p:sp>
          <p:nvSpPr>
            <p:cNvPr name="Freeform 11" id="11"/>
            <p:cNvSpPr/>
            <p:nvPr/>
          </p:nvSpPr>
          <p:spPr>
            <a:xfrm flipH="false" flipV="false" rot="0">
              <a:off x="0" y="0"/>
              <a:ext cx="10972800" cy="731520"/>
            </a:xfrm>
            <a:custGeom>
              <a:avLst/>
              <a:gdLst/>
              <a:ahLst/>
              <a:cxnLst/>
              <a:rect r="r" b="b" t="t" l="l"/>
              <a:pathLst>
                <a:path h="731520" w="10972800">
                  <a:moveTo>
                    <a:pt x="0" y="0"/>
                  </a:moveTo>
                  <a:lnTo>
                    <a:pt x="10972800" y="0"/>
                  </a:lnTo>
                  <a:lnTo>
                    <a:pt x="10972800" y="731520"/>
                  </a:lnTo>
                  <a:lnTo>
                    <a:pt x="0" y="731520"/>
                  </a:lnTo>
                  <a:close/>
                </a:path>
              </a:pathLst>
            </a:custGeom>
            <a:blipFill>
              <a:blip r:embed="rId3">
                <a:alphaModFix amt="0"/>
              </a:blip>
              <a:stretch>
                <a:fillRect l="0" t="-242275" r="0" b="-242275"/>
              </a:stretch>
            </a:blipFill>
          </p:spPr>
        </p:sp>
        <p:sp>
          <p:nvSpPr>
            <p:cNvPr name="TextBox 12" id="12"/>
            <p:cNvSpPr txBox="true"/>
            <p:nvPr/>
          </p:nvSpPr>
          <p:spPr>
            <a:xfrm>
              <a:off x="0" y="0"/>
              <a:ext cx="10972800" cy="731520"/>
            </a:xfrm>
            <a:prstGeom prst="rect">
              <a:avLst/>
            </a:prstGeom>
          </p:spPr>
          <p:txBody>
            <a:bodyPr anchor="ctr" rtlCol="false" tIns="0" lIns="0" bIns="0" rIns="0"/>
            <a:lstStyle/>
            <a:p>
              <a:pPr algn="l">
                <a:lnSpc>
                  <a:spcPts val="3059"/>
                </a:lnSpc>
              </a:pPr>
              <a:r>
                <a:rPr lang="en-US" b="true" sz="2549" spc="339">
                  <a:solidFill>
                    <a:srgbClr val="990011"/>
                  </a:solidFill>
                  <a:latin typeface="Open Sans Bold"/>
                  <a:ea typeface="Open Sans Bold"/>
                  <a:cs typeface="Open Sans Bold"/>
                  <a:sym typeface="Open Sans Bold"/>
                </a:rPr>
                <a:t>MỤC TIÊU</a:t>
              </a:r>
            </a:p>
          </p:txBody>
        </p:sp>
      </p:grpSp>
      <p:sp>
        <p:nvSpPr>
          <p:cNvPr name="TextBox 13" id="13"/>
          <p:cNvSpPr txBox="true"/>
          <p:nvPr/>
        </p:nvSpPr>
        <p:spPr>
          <a:xfrm rot="0">
            <a:off x="821055" y="2832878"/>
            <a:ext cx="8183880" cy="3282030"/>
          </a:xfrm>
          <a:prstGeom prst="rect">
            <a:avLst/>
          </a:prstGeom>
        </p:spPr>
        <p:txBody>
          <a:bodyPr anchor="t" rtlCol="false" tIns="0" lIns="0" bIns="0" rIns="0">
            <a:spAutoFit/>
          </a:bodyPr>
          <a:lstStyle/>
          <a:p>
            <a:pPr algn="l" marL="502204" indent="-251102" lvl="1">
              <a:lnSpc>
                <a:spcPts val="4412"/>
              </a:lnSpc>
              <a:buFont typeface="Arial"/>
              <a:buChar char="•"/>
            </a:pPr>
            <a:r>
              <a:rPr lang="en-US" sz="2774">
                <a:solidFill>
                  <a:srgbClr val="2B2B2B"/>
                </a:solidFill>
                <a:latin typeface="Open Sans"/>
                <a:ea typeface="Open Sans"/>
                <a:cs typeface="Open Sans"/>
                <a:sym typeface="Open Sans"/>
              </a:rPr>
              <a:t>Khám phá mối quan hệ giữa các yếu tố sức khỏe và bệnh tim</a:t>
            </a:r>
          </a:p>
          <a:p>
            <a:pPr algn="l" marL="502204" indent="-251102" lvl="1">
              <a:lnSpc>
                <a:spcPts val="4412"/>
              </a:lnSpc>
              <a:buFont typeface="Arial"/>
              <a:buChar char="•"/>
            </a:pPr>
            <a:r>
              <a:rPr lang="en-US" sz="2774">
                <a:solidFill>
                  <a:srgbClr val="2B2B2B"/>
                </a:solidFill>
                <a:latin typeface="Open Sans"/>
                <a:ea typeface="Open Sans"/>
                <a:cs typeface="Open Sans"/>
                <a:sym typeface="Open Sans"/>
              </a:rPr>
              <a:t>Xác định những yếu tố có ảnh hưởng đáng kể đến khả năng mắc bệnh tim</a:t>
            </a:r>
          </a:p>
          <a:p>
            <a:pPr algn="l" marL="502204" indent="-251102" lvl="1">
              <a:lnSpc>
                <a:spcPts val="4412"/>
              </a:lnSpc>
              <a:buFont typeface="Arial"/>
              <a:buChar char="•"/>
            </a:pPr>
            <a:r>
              <a:rPr lang="en-US" sz="2774">
                <a:solidFill>
                  <a:srgbClr val="2B2B2B"/>
                </a:solidFill>
                <a:latin typeface="Open Sans"/>
                <a:ea typeface="Open Sans"/>
                <a:cs typeface="Open Sans"/>
                <a:sym typeface="Open Sans"/>
              </a:rPr>
              <a:t>Cung cấp bằng chứng dựa trên dữ liệu hỗ trợ đánh giá nguy cơ bệnh tim</a:t>
            </a:r>
          </a:p>
        </p:txBody>
      </p:sp>
      <p:grpSp>
        <p:nvGrpSpPr>
          <p:cNvPr name="Group 14" id="14"/>
          <p:cNvGrpSpPr/>
          <p:nvPr/>
        </p:nvGrpSpPr>
        <p:grpSpPr>
          <a:xfrm rot="0">
            <a:off x="9738360" y="2331720"/>
            <a:ext cx="7680960" cy="548640"/>
            <a:chOff x="0" y="0"/>
            <a:chExt cx="10241280" cy="731520"/>
          </a:xfrm>
        </p:grpSpPr>
        <p:sp>
          <p:nvSpPr>
            <p:cNvPr name="Freeform 15" id="15"/>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16" id="16"/>
            <p:cNvSpPr txBox="true"/>
            <p:nvPr/>
          </p:nvSpPr>
          <p:spPr>
            <a:xfrm>
              <a:off x="0" y="0"/>
              <a:ext cx="10241280" cy="731520"/>
            </a:xfrm>
            <a:prstGeom prst="rect">
              <a:avLst/>
            </a:prstGeom>
          </p:spPr>
          <p:txBody>
            <a:bodyPr anchor="ctr" rtlCol="false" tIns="0" lIns="0" bIns="0" rIns="0"/>
            <a:lstStyle/>
            <a:p>
              <a:pPr algn="l">
                <a:lnSpc>
                  <a:spcPts val="2700"/>
                </a:lnSpc>
              </a:pPr>
              <a:r>
                <a:rPr lang="en-US" b="true" sz="2250" spc="150">
                  <a:solidFill>
                    <a:srgbClr val="2F3C7E"/>
                  </a:solidFill>
                  <a:latin typeface="Open Sans Bold"/>
                  <a:ea typeface="Open Sans Bold"/>
                  <a:cs typeface="Open Sans Bold"/>
                  <a:sym typeface="Open Sans Bold"/>
                </a:rPr>
                <a:t>DỮ LIỆU NGHIÊN CỨU — UCI Heart Disease</a:t>
              </a:r>
            </a:p>
          </p:txBody>
        </p:sp>
      </p:grpSp>
      <p:grpSp>
        <p:nvGrpSpPr>
          <p:cNvPr name="Group 17" id="17"/>
          <p:cNvGrpSpPr/>
          <p:nvPr/>
        </p:nvGrpSpPr>
        <p:grpSpPr>
          <a:xfrm rot="0">
            <a:off x="9728835" y="3076575"/>
            <a:ext cx="3722370" cy="2145030"/>
            <a:chOff x="0" y="0"/>
            <a:chExt cx="4963160" cy="2860040"/>
          </a:xfrm>
        </p:grpSpPr>
        <p:sp>
          <p:nvSpPr>
            <p:cNvPr name="Freeform 18" id="18"/>
            <p:cNvSpPr/>
            <p:nvPr/>
          </p:nvSpPr>
          <p:spPr>
            <a:xfrm flipH="false" flipV="false" rot="0">
              <a:off x="0" y="0"/>
              <a:ext cx="4963160" cy="2860040"/>
            </a:xfrm>
            <a:custGeom>
              <a:avLst/>
              <a:gdLst/>
              <a:ahLst/>
              <a:cxnLst/>
              <a:rect r="r" b="b" t="t" l="l"/>
              <a:pathLst>
                <a:path h="2860040" w="4963160">
                  <a:moveTo>
                    <a:pt x="0" y="0"/>
                  </a:moveTo>
                  <a:lnTo>
                    <a:pt x="4963160" y="0"/>
                  </a:lnTo>
                  <a:lnTo>
                    <a:pt x="4963160" y="2860040"/>
                  </a:lnTo>
                  <a:lnTo>
                    <a:pt x="0" y="2860040"/>
                  </a:lnTo>
                  <a:close/>
                </a:path>
              </a:pathLst>
            </a:custGeom>
            <a:solidFill>
              <a:srgbClr val="FFFFFF"/>
            </a:solidFill>
            <a:ln w="19050" cap="sq">
              <a:solidFill>
                <a:srgbClr val="EAD9D9"/>
              </a:solidFill>
              <a:prstDash val="solid"/>
              <a:miter/>
            </a:ln>
          </p:spPr>
        </p:sp>
      </p:grpSp>
      <p:grpSp>
        <p:nvGrpSpPr>
          <p:cNvPr name="Group 19" id="19"/>
          <p:cNvGrpSpPr/>
          <p:nvPr/>
        </p:nvGrpSpPr>
        <p:grpSpPr>
          <a:xfrm rot="0">
            <a:off x="9738360" y="3086100"/>
            <a:ext cx="137160" cy="2125980"/>
            <a:chOff x="0" y="0"/>
            <a:chExt cx="182880" cy="2834640"/>
          </a:xfrm>
        </p:grpSpPr>
        <p:sp>
          <p:nvSpPr>
            <p:cNvPr name="Freeform 20" id="20"/>
            <p:cNvSpPr/>
            <p:nvPr/>
          </p:nvSpPr>
          <p:spPr>
            <a:xfrm flipH="false" flipV="false" rot="0">
              <a:off x="0" y="0"/>
              <a:ext cx="182880" cy="2834640"/>
            </a:xfrm>
            <a:custGeom>
              <a:avLst/>
              <a:gdLst/>
              <a:ahLst/>
              <a:cxnLst/>
              <a:rect r="r" b="b" t="t" l="l"/>
              <a:pathLst>
                <a:path h="2834640" w="182880">
                  <a:moveTo>
                    <a:pt x="0" y="0"/>
                  </a:moveTo>
                  <a:lnTo>
                    <a:pt x="182880" y="0"/>
                  </a:lnTo>
                  <a:lnTo>
                    <a:pt x="182880" y="2834640"/>
                  </a:lnTo>
                  <a:lnTo>
                    <a:pt x="0" y="2834640"/>
                  </a:lnTo>
                  <a:close/>
                </a:path>
              </a:pathLst>
            </a:custGeom>
            <a:solidFill>
              <a:srgbClr val="990011"/>
            </a:solidFill>
          </p:spPr>
        </p:sp>
      </p:grpSp>
      <p:grpSp>
        <p:nvGrpSpPr>
          <p:cNvPr name="Group 21" id="21"/>
          <p:cNvGrpSpPr/>
          <p:nvPr/>
        </p:nvGrpSpPr>
        <p:grpSpPr>
          <a:xfrm rot="0">
            <a:off x="9944100" y="3360420"/>
            <a:ext cx="3291840" cy="1165860"/>
            <a:chOff x="0" y="0"/>
            <a:chExt cx="4389120" cy="1554480"/>
          </a:xfrm>
        </p:grpSpPr>
        <p:sp>
          <p:nvSpPr>
            <p:cNvPr name="Freeform 22" id="22"/>
            <p:cNvSpPr/>
            <p:nvPr/>
          </p:nvSpPr>
          <p:spPr>
            <a:xfrm flipH="false" flipV="false" rot="0">
              <a:off x="0" y="0"/>
              <a:ext cx="4389120" cy="1554480"/>
            </a:xfrm>
            <a:custGeom>
              <a:avLst/>
              <a:gdLst/>
              <a:ahLst/>
              <a:cxnLst/>
              <a:rect r="r" b="b" t="t" l="l"/>
              <a:pathLst>
                <a:path h="1554480" w="4389120">
                  <a:moveTo>
                    <a:pt x="0" y="0"/>
                  </a:moveTo>
                  <a:lnTo>
                    <a:pt x="4389120" y="0"/>
                  </a:lnTo>
                  <a:lnTo>
                    <a:pt x="4389120" y="1554480"/>
                  </a:lnTo>
                  <a:lnTo>
                    <a:pt x="0" y="1554480"/>
                  </a:lnTo>
                  <a:close/>
                </a:path>
              </a:pathLst>
            </a:custGeom>
            <a:blipFill>
              <a:blip r:embed="rId3">
                <a:alphaModFix amt="0"/>
              </a:blip>
              <a:stretch>
                <a:fillRect l="0" t="-5016" r="0" b="-5016"/>
              </a:stretch>
            </a:blipFill>
          </p:spPr>
        </p:sp>
        <p:sp>
          <p:nvSpPr>
            <p:cNvPr name="TextBox 23" id="23"/>
            <p:cNvSpPr txBox="true"/>
            <p:nvPr/>
          </p:nvSpPr>
          <p:spPr>
            <a:xfrm>
              <a:off x="0" y="-19050"/>
              <a:ext cx="4389120" cy="1573530"/>
            </a:xfrm>
            <a:prstGeom prst="rect">
              <a:avLst/>
            </a:prstGeom>
          </p:spPr>
          <p:txBody>
            <a:bodyPr anchor="ctr" rtlCol="false" tIns="0" lIns="0" bIns="0" rIns="0"/>
            <a:lstStyle/>
            <a:p>
              <a:pPr algn="l">
                <a:lnSpc>
                  <a:spcPts val="7200"/>
                </a:lnSpc>
              </a:pPr>
              <a:r>
                <a:rPr lang="en-US" sz="6000" b="true">
                  <a:solidFill>
                    <a:srgbClr val="990011"/>
                  </a:solidFill>
                  <a:latin typeface="Roboto Bold"/>
                  <a:ea typeface="Roboto Bold"/>
                  <a:cs typeface="Roboto Bold"/>
                  <a:sym typeface="Roboto Bold"/>
                </a:rPr>
                <a:t>303</a:t>
              </a:r>
            </a:p>
          </p:txBody>
        </p:sp>
      </p:grpSp>
      <p:grpSp>
        <p:nvGrpSpPr>
          <p:cNvPr name="Group 24" id="24"/>
          <p:cNvGrpSpPr/>
          <p:nvPr/>
        </p:nvGrpSpPr>
        <p:grpSpPr>
          <a:xfrm rot="0">
            <a:off x="9985248" y="4526280"/>
            <a:ext cx="3291840" cy="548640"/>
            <a:chOff x="0" y="0"/>
            <a:chExt cx="4389120" cy="731520"/>
          </a:xfrm>
        </p:grpSpPr>
        <p:sp>
          <p:nvSpPr>
            <p:cNvPr name="Freeform 25" id="25"/>
            <p:cNvSpPr/>
            <p:nvPr/>
          </p:nvSpPr>
          <p:spPr>
            <a:xfrm flipH="false" flipV="false" rot="0">
              <a:off x="0" y="0"/>
              <a:ext cx="4389120" cy="731520"/>
            </a:xfrm>
            <a:custGeom>
              <a:avLst/>
              <a:gdLst/>
              <a:ahLst/>
              <a:cxnLst/>
              <a:rect r="r" b="b" t="t" l="l"/>
              <a:pathLst>
                <a:path h="731520" w="4389120">
                  <a:moveTo>
                    <a:pt x="0" y="0"/>
                  </a:moveTo>
                  <a:lnTo>
                    <a:pt x="4389120" y="0"/>
                  </a:lnTo>
                  <a:lnTo>
                    <a:pt x="4389120" y="731520"/>
                  </a:lnTo>
                  <a:lnTo>
                    <a:pt x="0" y="731520"/>
                  </a:lnTo>
                  <a:close/>
                </a:path>
              </a:pathLst>
            </a:custGeom>
            <a:blipFill>
              <a:blip r:embed="rId3">
                <a:alphaModFix amt="0"/>
              </a:blip>
              <a:stretch>
                <a:fillRect l="0" t="-66910" r="0" b="-66910"/>
              </a:stretch>
            </a:blipFill>
          </p:spPr>
        </p:sp>
        <p:sp>
          <p:nvSpPr>
            <p:cNvPr name="TextBox 26" id="26"/>
            <p:cNvSpPr txBox="true"/>
            <p:nvPr/>
          </p:nvSpPr>
          <p:spPr>
            <a:xfrm>
              <a:off x="0" y="-9525"/>
              <a:ext cx="4389120" cy="741045"/>
            </a:xfrm>
            <a:prstGeom prst="rect">
              <a:avLst/>
            </a:prstGeom>
          </p:spPr>
          <p:txBody>
            <a:bodyPr anchor="ctr" rtlCol="false" tIns="0" lIns="0" bIns="0" rIns="0"/>
            <a:lstStyle/>
            <a:p>
              <a:pPr algn="l">
                <a:lnSpc>
                  <a:spcPts val="2340"/>
                </a:lnSpc>
              </a:pPr>
              <a:r>
                <a:rPr lang="en-US" sz="1950">
                  <a:solidFill>
                    <a:srgbClr val="7A6E6E"/>
                  </a:solidFill>
                  <a:latin typeface="Open Sans"/>
                  <a:ea typeface="Open Sans"/>
                  <a:cs typeface="Open Sans"/>
                  <a:sym typeface="Open Sans"/>
                </a:rPr>
                <a:t>Bệnh nhân</a:t>
              </a:r>
            </a:p>
          </p:txBody>
        </p:sp>
      </p:grpSp>
      <p:grpSp>
        <p:nvGrpSpPr>
          <p:cNvPr name="Group 27" id="27"/>
          <p:cNvGrpSpPr/>
          <p:nvPr/>
        </p:nvGrpSpPr>
        <p:grpSpPr>
          <a:xfrm rot="0">
            <a:off x="13706475" y="3076575"/>
            <a:ext cx="3722370" cy="2145030"/>
            <a:chOff x="0" y="0"/>
            <a:chExt cx="4963160" cy="2860040"/>
          </a:xfrm>
        </p:grpSpPr>
        <p:sp>
          <p:nvSpPr>
            <p:cNvPr name="Freeform 28" id="28"/>
            <p:cNvSpPr/>
            <p:nvPr/>
          </p:nvSpPr>
          <p:spPr>
            <a:xfrm flipH="false" flipV="false" rot="0">
              <a:off x="0" y="0"/>
              <a:ext cx="4963160" cy="2860040"/>
            </a:xfrm>
            <a:custGeom>
              <a:avLst/>
              <a:gdLst/>
              <a:ahLst/>
              <a:cxnLst/>
              <a:rect r="r" b="b" t="t" l="l"/>
              <a:pathLst>
                <a:path h="2860040" w="4963160">
                  <a:moveTo>
                    <a:pt x="0" y="0"/>
                  </a:moveTo>
                  <a:lnTo>
                    <a:pt x="4963160" y="0"/>
                  </a:lnTo>
                  <a:lnTo>
                    <a:pt x="4963160" y="2860040"/>
                  </a:lnTo>
                  <a:lnTo>
                    <a:pt x="0" y="2860040"/>
                  </a:lnTo>
                  <a:close/>
                </a:path>
              </a:pathLst>
            </a:custGeom>
            <a:solidFill>
              <a:srgbClr val="FFFFFF"/>
            </a:solidFill>
            <a:ln w="19050" cap="sq">
              <a:solidFill>
                <a:srgbClr val="EAD9D9"/>
              </a:solidFill>
              <a:prstDash val="solid"/>
              <a:miter/>
            </a:ln>
          </p:spPr>
        </p:sp>
      </p:grpSp>
      <p:grpSp>
        <p:nvGrpSpPr>
          <p:cNvPr name="Group 29" id="29"/>
          <p:cNvGrpSpPr/>
          <p:nvPr/>
        </p:nvGrpSpPr>
        <p:grpSpPr>
          <a:xfrm rot="0">
            <a:off x="13716000" y="3086100"/>
            <a:ext cx="137160" cy="2125980"/>
            <a:chOff x="0" y="0"/>
            <a:chExt cx="182880" cy="2834640"/>
          </a:xfrm>
        </p:grpSpPr>
        <p:sp>
          <p:nvSpPr>
            <p:cNvPr name="Freeform 30" id="30"/>
            <p:cNvSpPr/>
            <p:nvPr/>
          </p:nvSpPr>
          <p:spPr>
            <a:xfrm flipH="false" flipV="false" rot="0">
              <a:off x="0" y="0"/>
              <a:ext cx="182880" cy="2834640"/>
            </a:xfrm>
            <a:custGeom>
              <a:avLst/>
              <a:gdLst/>
              <a:ahLst/>
              <a:cxnLst/>
              <a:rect r="r" b="b" t="t" l="l"/>
              <a:pathLst>
                <a:path h="2834640" w="182880">
                  <a:moveTo>
                    <a:pt x="0" y="0"/>
                  </a:moveTo>
                  <a:lnTo>
                    <a:pt x="182880" y="0"/>
                  </a:lnTo>
                  <a:lnTo>
                    <a:pt x="182880" y="2834640"/>
                  </a:lnTo>
                  <a:lnTo>
                    <a:pt x="0" y="2834640"/>
                  </a:lnTo>
                  <a:close/>
                </a:path>
              </a:pathLst>
            </a:custGeom>
            <a:solidFill>
              <a:srgbClr val="990011"/>
            </a:solidFill>
          </p:spPr>
        </p:sp>
      </p:grpSp>
      <p:grpSp>
        <p:nvGrpSpPr>
          <p:cNvPr name="Group 31" id="31"/>
          <p:cNvGrpSpPr/>
          <p:nvPr/>
        </p:nvGrpSpPr>
        <p:grpSpPr>
          <a:xfrm rot="0">
            <a:off x="13921740" y="3360420"/>
            <a:ext cx="3291840" cy="1165860"/>
            <a:chOff x="0" y="0"/>
            <a:chExt cx="4389120" cy="1554480"/>
          </a:xfrm>
        </p:grpSpPr>
        <p:sp>
          <p:nvSpPr>
            <p:cNvPr name="Freeform 32" id="32"/>
            <p:cNvSpPr/>
            <p:nvPr/>
          </p:nvSpPr>
          <p:spPr>
            <a:xfrm flipH="false" flipV="false" rot="0">
              <a:off x="0" y="0"/>
              <a:ext cx="4389120" cy="1554480"/>
            </a:xfrm>
            <a:custGeom>
              <a:avLst/>
              <a:gdLst/>
              <a:ahLst/>
              <a:cxnLst/>
              <a:rect r="r" b="b" t="t" l="l"/>
              <a:pathLst>
                <a:path h="1554480" w="4389120">
                  <a:moveTo>
                    <a:pt x="0" y="0"/>
                  </a:moveTo>
                  <a:lnTo>
                    <a:pt x="4389120" y="0"/>
                  </a:lnTo>
                  <a:lnTo>
                    <a:pt x="4389120" y="1554480"/>
                  </a:lnTo>
                  <a:lnTo>
                    <a:pt x="0" y="1554480"/>
                  </a:lnTo>
                  <a:close/>
                </a:path>
              </a:pathLst>
            </a:custGeom>
            <a:blipFill>
              <a:blip r:embed="rId3">
                <a:alphaModFix amt="0"/>
              </a:blip>
              <a:stretch>
                <a:fillRect l="0" t="-5016" r="0" b="-5016"/>
              </a:stretch>
            </a:blipFill>
          </p:spPr>
        </p:sp>
        <p:sp>
          <p:nvSpPr>
            <p:cNvPr name="TextBox 33" id="33"/>
            <p:cNvSpPr txBox="true"/>
            <p:nvPr/>
          </p:nvSpPr>
          <p:spPr>
            <a:xfrm>
              <a:off x="0" y="-19050"/>
              <a:ext cx="4389120" cy="1573530"/>
            </a:xfrm>
            <a:prstGeom prst="rect">
              <a:avLst/>
            </a:prstGeom>
          </p:spPr>
          <p:txBody>
            <a:bodyPr anchor="ctr" rtlCol="false" tIns="0" lIns="0" bIns="0" rIns="0"/>
            <a:lstStyle/>
            <a:p>
              <a:pPr algn="l">
                <a:lnSpc>
                  <a:spcPts val="7200"/>
                </a:lnSpc>
              </a:pPr>
              <a:r>
                <a:rPr lang="en-US" sz="6000" b="true">
                  <a:solidFill>
                    <a:srgbClr val="990011"/>
                  </a:solidFill>
                  <a:latin typeface="Roboto Bold"/>
                  <a:ea typeface="Roboto Bold"/>
                  <a:cs typeface="Roboto Bold"/>
                  <a:sym typeface="Roboto Bold"/>
                </a:rPr>
                <a:t>13</a:t>
              </a:r>
            </a:p>
          </p:txBody>
        </p:sp>
      </p:grpSp>
      <p:grpSp>
        <p:nvGrpSpPr>
          <p:cNvPr name="Group 34" id="34"/>
          <p:cNvGrpSpPr/>
          <p:nvPr/>
        </p:nvGrpSpPr>
        <p:grpSpPr>
          <a:xfrm rot="0">
            <a:off x="13962888" y="4526280"/>
            <a:ext cx="3291840" cy="548640"/>
            <a:chOff x="0" y="0"/>
            <a:chExt cx="4389120" cy="731520"/>
          </a:xfrm>
        </p:grpSpPr>
        <p:sp>
          <p:nvSpPr>
            <p:cNvPr name="Freeform 35" id="35"/>
            <p:cNvSpPr/>
            <p:nvPr/>
          </p:nvSpPr>
          <p:spPr>
            <a:xfrm flipH="false" flipV="false" rot="0">
              <a:off x="0" y="0"/>
              <a:ext cx="4389120" cy="731520"/>
            </a:xfrm>
            <a:custGeom>
              <a:avLst/>
              <a:gdLst/>
              <a:ahLst/>
              <a:cxnLst/>
              <a:rect r="r" b="b" t="t" l="l"/>
              <a:pathLst>
                <a:path h="731520" w="4389120">
                  <a:moveTo>
                    <a:pt x="0" y="0"/>
                  </a:moveTo>
                  <a:lnTo>
                    <a:pt x="4389120" y="0"/>
                  </a:lnTo>
                  <a:lnTo>
                    <a:pt x="4389120" y="731520"/>
                  </a:lnTo>
                  <a:lnTo>
                    <a:pt x="0" y="731520"/>
                  </a:lnTo>
                  <a:close/>
                </a:path>
              </a:pathLst>
            </a:custGeom>
            <a:blipFill>
              <a:blip r:embed="rId3">
                <a:alphaModFix amt="0"/>
              </a:blip>
              <a:stretch>
                <a:fillRect l="0" t="-66910" r="0" b="-66910"/>
              </a:stretch>
            </a:blipFill>
          </p:spPr>
        </p:sp>
        <p:sp>
          <p:nvSpPr>
            <p:cNvPr name="TextBox 36" id="36"/>
            <p:cNvSpPr txBox="true"/>
            <p:nvPr/>
          </p:nvSpPr>
          <p:spPr>
            <a:xfrm>
              <a:off x="0" y="-9525"/>
              <a:ext cx="4389120" cy="741045"/>
            </a:xfrm>
            <a:prstGeom prst="rect">
              <a:avLst/>
            </a:prstGeom>
          </p:spPr>
          <p:txBody>
            <a:bodyPr anchor="ctr" rtlCol="false" tIns="0" lIns="0" bIns="0" rIns="0"/>
            <a:lstStyle/>
            <a:p>
              <a:pPr algn="l">
                <a:lnSpc>
                  <a:spcPts val="2340"/>
                </a:lnSpc>
              </a:pPr>
              <a:r>
                <a:rPr lang="en-US" sz="1950">
                  <a:solidFill>
                    <a:srgbClr val="7A6E6E"/>
                  </a:solidFill>
                  <a:latin typeface="Open Sans"/>
                  <a:ea typeface="Open Sans"/>
                  <a:cs typeface="Open Sans"/>
                  <a:sym typeface="Open Sans"/>
                </a:rPr>
                <a:t>Biến đầu vào</a:t>
              </a:r>
            </a:p>
          </p:txBody>
        </p:sp>
      </p:grpSp>
      <p:grpSp>
        <p:nvGrpSpPr>
          <p:cNvPr name="Group 37" id="37"/>
          <p:cNvGrpSpPr/>
          <p:nvPr/>
        </p:nvGrpSpPr>
        <p:grpSpPr>
          <a:xfrm rot="0">
            <a:off x="9728835" y="5545455"/>
            <a:ext cx="3722370" cy="2145030"/>
            <a:chOff x="0" y="0"/>
            <a:chExt cx="4963160" cy="2860040"/>
          </a:xfrm>
        </p:grpSpPr>
        <p:sp>
          <p:nvSpPr>
            <p:cNvPr name="Freeform 38" id="38"/>
            <p:cNvSpPr/>
            <p:nvPr/>
          </p:nvSpPr>
          <p:spPr>
            <a:xfrm flipH="false" flipV="false" rot="0">
              <a:off x="0" y="0"/>
              <a:ext cx="4963160" cy="2860040"/>
            </a:xfrm>
            <a:custGeom>
              <a:avLst/>
              <a:gdLst/>
              <a:ahLst/>
              <a:cxnLst/>
              <a:rect r="r" b="b" t="t" l="l"/>
              <a:pathLst>
                <a:path h="2860040" w="4963160">
                  <a:moveTo>
                    <a:pt x="0" y="0"/>
                  </a:moveTo>
                  <a:lnTo>
                    <a:pt x="4963160" y="0"/>
                  </a:lnTo>
                  <a:lnTo>
                    <a:pt x="4963160" y="2860040"/>
                  </a:lnTo>
                  <a:lnTo>
                    <a:pt x="0" y="2860040"/>
                  </a:lnTo>
                  <a:close/>
                </a:path>
              </a:pathLst>
            </a:custGeom>
            <a:solidFill>
              <a:srgbClr val="FFFFFF"/>
            </a:solidFill>
            <a:ln w="19050" cap="sq">
              <a:solidFill>
                <a:srgbClr val="EAD9D9"/>
              </a:solidFill>
              <a:prstDash val="solid"/>
              <a:miter/>
            </a:ln>
          </p:spPr>
        </p:sp>
      </p:grpSp>
      <p:grpSp>
        <p:nvGrpSpPr>
          <p:cNvPr name="Group 39" id="39"/>
          <p:cNvGrpSpPr/>
          <p:nvPr/>
        </p:nvGrpSpPr>
        <p:grpSpPr>
          <a:xfrm rot="0">
            <a:off x="9738360" y="5554980"/>
            <a:ext cx="137160" cy="2125980"/>
            <a:chOff x="0" y="0"/>
            <a:chExt cx="182880" cy="2834640"/>
          </a:xfrm>
        </p:grpSpPr>
        <p:sp>
          <p:nvSpPr>
            <p:cNvPr name="Freeform 40" id="40"/>
            <p:cNvSpPr/>
            <p:nvPr/>
          </p:nvSpPr>
          <p:spPr>
            <a:xfrm flipH="false" flipV="false" rot="0">
              <a:off x="0" y="0"/>
              <a:ext cx="182880" cy="2834640"/>
            </a:xfrm>
            <a:custGeom>
              <a:avLst/>
              <a:gdLst/>
              <a:ahLst/>
              <a:cxnLst/>
              <a:rect r="r" b="b" t="t" l="l"/>
              <a:pathLst>
                <a:path h="2834640" w="182880">
                  <a:moveTo>
                    <a:pt x="0" y="0"/>
                  </a:moveTo>
                  <a:lnTo>
                    <a:pt x="182880" y="0"/>
                  </a:lnTo>
                  <a:lnTo>
                    <a:pt x="182880" y="2834640"/>
                  </a:lnTo>
                  <a:lnTo>
                    <a:pt x="0" y="2834640"/>
                  </a:lnTo>
                  <a:close/>
                </a:path>
              </a:pathLst>
            </a:custGeom>
            <a:solidFill>
              <a:srgbClr val="990011"/>
            </a:solidFill>
          </p:spPr>
        </p:sp>
      </p:grpSp>
      <p:grpSp>
        <p:nvGrpSpPr>
          <p:cNvPr name="Group 41" id="41"/>
          <p:cNvGrpSpPr/>
          <p:nvPr/>
        </p:nvGrpSpPr>
        <p:grpSpPr>
          <a:xfrm rot="0">
            <a:off x="9944100" y="5829300"/>
            <a:ext cx="3291840" cy="1165860"/>
            <a:chOff x="0" y="0"/>
            <a:chExt cx="4389120" cy="1554480"/>
          </a:xfrm>
        </p:grpSpPr>
        <p:sp>
          <p:nvSpPr>
            <p:cNvPr name="Freeform 42" id="42"/>
            <p:cNvSpPr/>
            <p:nvPr/>
          </p:nvSpPr>
          <p:spPr>
            <a:xfrm flipH="false" flipV="false" rot="0">
              <a:off x="0" y="0"/>
              <a:ext cx="4389120" cy="1554480"/>
            </a:xfrm>
            <a:custGeom>
              <a:avLst/>
              <a:gdLst/>
              <a:ahLst/>
              <a:cxnLst/>
              <a:rect r="r" b="b" t="t" l="l"/>
              <a:pathLst>
                <a:path h="1554480" w="4389120">
                  <a:moveTo>
                    <a:pt x="0" y="0"/>
                  </a:moveTo>
                  <a:lnTo>
                    <a:pt x="4389120" y="0"/>
                  </a:lnTo>
                  <a:lnTo>
                    <a:pt x="4389120" y="1554480"/>
                  </a:lnTo>
                  <a:lnTo>
                    <a:pt x="0" y="1554480"/>
                  </a:lnTo>
                  <a:close/>
                </a:path>
              </a:pathLst>
            </a:custGeom>
            <a:blipFill>
              <a:blip r:embed="rId3">
                <a:alphaModFix amt="0"/>
              </a:blip>
              <a:stretch>
                <a:fillRect l="0" t="-5016" r="0" b="-5016"/>
              </a:stretch>
            </a:blipFill>
          </p:spPr>
        </p:sp>
        <p:sp>
          <p:nvSpPr>
            <p:cNvPr name="TextBox 43" id="43"/>
            <p:cNvSpPr txBox="true"/>
            <p:nvPr/>
          </p:nvSpPr>
          <p:spPr>
            <a:xfrm>
              <a:off x="0" y="-19050"/>
              <a:ext cx="4389120" cy="1573530"/>
            </a:xfrm>
            <a:prstGeom prst="rect">
              <a:avLst/>
            </a:prstGeom>
          </p:spPr>
          <p:txBody>
            <a:bodyPr anchor="ctr" rtlCol="false" tIns="0" lIns="0" bIns="0" rIns="0"/>
            <a:lstStyle/>
            <a:p>
              <a:pPr algn="l">
                <a:lnSpc>
                  <a:spcPts val="7200"/>
                </a:lnSpc>
              </a:pPr>
              <a:r>
                <a:rPr lang="en-US" sz="6000" b="true">
                  <a:solidFill>
                    <a:srgbClr val="990011"/>
                  </a:solidFill>
                  <a:latin typeface="Roboto Bold"/>
                  <a:ea typeface="Roboto Bold"/>
                  <a:cs typeface="Roboto Bold"/>
                  <a:sym typeface="Roboto Bold"/>
                </a:rPr>
                <a:t>1</a:t>
              </a:r>
            </a:p>
          </p:txBody>
        </p:sp>
      </p:grpSp>
      <p:grpSp>
        <p:nvGrpSpPr>
          <p:cNvPr name="Group 44" id="44"/>
          <p:cNvGrpSpPr/>
          <p:nvPr/>
        </p:nvGrpSpPr>
        <p:grpSpPr>
          <a:xfrm rot="0">
            <a:off x="9985248" y="6995160"/>
            <a:ext cx="3291840" cy="548640"/>
            <a:chOff x="0" y="0"/>
            <a:chExt cx="4389120" cy="731520"/>
          </a:xfrm>
        </p:grpSpPr>
        <p:sp>
          <p:nvSpPr>
            <p:cNvPr name="Freeform 45" id="45"/>
            <p:cNvSpPr/>
            <p:nvPr/>
          </p:nvSpPr>
          <p:spPr>
            <a:xfrm flipH="false" flipV="false" rot="0">
              <a:off x="0" y="0"/>
              <a:ext cx="4389120" cy="731520"/>
            </a:xfrm>
            <a:custGeom>
              <a:avLst/>
              <a:gdLst/>
              <a:ahLst/>
              <a:cxnLst/>
              <a:rect r="r" b="b" t="t" l="l"/>
              <a:pathLst>
                <a:path h="731520" w="4389120">
                  <a:moveTo>
                    <a:pt x="0" y="0"/>
                  </a:moveTo>
                  <a:lnTo>
                    <a:pt x="4389120" y="0"/>
                  </a:lnTo>
                  <a:lnTo>
                    <a:pt x="4389120" y="731520"/>
                  </a:lnTo>
                  <a:lnTo>
                    <a:pt x="0" y="731520"/>
                  </a:lnTo>
                  <a:close/>
                </a:path>
              </a:pathLst>
            </a:custGeom>
            <a:blipFill>
              <a:blip r:embed="rId3">
                <a:alphaModFix amt="0"/>
              </a:blip>
              <a:stretch>
                <a:fillRect l="0" t="-66910" r="0" b="-66910"/>
              </a:stretch>
            </a:blipFill>
          </p:spPr>
        </p:sp>
        <p:sp>
          <p:nvSpPr>
            <p:cNvPr name="TextBox 46" id="46"/>
            <p:cNvSpPr txBox="true"/>
            <p:nvPr/>
          </p:nvSpPr>
          <p:spPr>
            <a:xfrm>
              <a:off x="0" y="-9525"/>
              <a:ext cx="4389120" cy="741045"/>
            </a:xfrm>
            <a:prstGeom prst="rect">
              <a:avLst/>
            </a:prstGeom>
          </p:spPr>
          <p:txBody>
            <a:bodyPr anchor="ctr" rtlCol="false" tIns="0" lIns="0" bIns="0" rIns="0"/>
            <a:lstStyle/>
            <a:p>
              <a:pPr algn="l">
                <a:lnSpc>
                  <a:spcPts val="2340"/>
                </a:lnSpc>
              </a:pPr>
              <a:r>
                <a:rPr lang="en-US" sz="1950">
                  <a:solidFill>
                    <a:srgbClr val="7A6E6E"/>
                  </a:solidFill>
                  <a:latin typeface="Open Sans"/>
                  <a:ea typeface="Open Sans"/>
                  <a:cs typeface="Open Sans"/>
                  <a:sym typeface="Open Sans"/>
                </a:rPr>
                <a:t>Biến mục tiêu</a:t>
              </a:r>
            </a:p>
          </p:txBody>
        </p:sp>
      </p:grpSp>
      <p:grpSp>
        <p:nvGrpSpPr>
          <p:cNvPr name="Group 47" id="47"/>
          <p:cNvGrpSpPr/>
          <p:nvPr/>
        </p:nvGrpSpPr>
        <p:grpSpPr>
          <a:xfrm rot="0">
            <a:off x="13706475" y="5545455"/>
            <a:ext cx="3722370" cy="2145030"/>
            <a:chOff x="0" y="0"/>
            <a:chExt cx="4963160" cy="2860040"/>
          </a:xfrm>
        </p:grpSpPr>
        <p:sp>
          <p:nvSpPr>
            <p:cNvPr name="Freeform 48" id="48"/>
            <p:cNvSpPr/>
            <p:nvPr/>
          </p:nvSpPr>
          <p:spPr>
            <a:xfrm flipH="false" flipV="false" rot="0">
              <a:off x="0" y="0"/>
              <a:ext cx="4963160" cy="2860040"/>
            </a:xfrm>
            <a:custGeom>
              <a:avLst/>
              <a:gdLst/>
              <a:ahLst/>
              <a:cxnLst/>
              <a:rect r="r" b="b" t="t" l="l"/>
              <a:pathLst>
                <a:path h="2860040" w="4963160">
                  <a:moveTo>
                    <a:pt x="0" y="0"/>
                  </a:moveTo>
                  <a:lnTo>
                    <a:pt x="4963160" y="0"/>
                  </a:lnTo>
                  <a:lnTo>
                    <a:pt x="4963160" y="2860040"/>
                  </a:lnTo>
                  <a:lnTo>
                    <a:pt x="0" y="2860040"/>
                  </a:lnTo>
                  <a:close/>
                </a:path>
              </a:pathLst>
            </a:custGeom>
            <a:solidFill>
              <a:srgbClr val="FFFFFF"/>
            </a:solidFill>
            <a:ln w="19050" cap="sq">
              <a:solidFill>
                <a:srgbClr val="EAD9D9"/>
              </a:solidFill>
              <a:prstDash val="solid"/>
              <a:miter/>
            </a:ln>
          </p:spPr>
        </p:sp>
      </p:grpSp>
      <p:grpSp>
        <p:nvGrpSpPr>
          <p:cNvPr name="Group 49" id="49"/>
          <p:cNvGrpSpPr/>
          <p:nvPr/>
        </p:nvGrpSpPr>
        <p:grpSpPr>
          <a:xfrm rot="0">
            <a:off x="13716000" y="5554980"/>
            <a:ext cx="137160" cy="2125980"/>
            <a:chOff x="0" y="0"/>
            <a:chExt cx="182880" cy="2834640"/>
          </a:xfrm>
        </p:grpSpPr>
        <p:sp>
          <p:nvSpPr>
            <p:cNvPr name="Freeform 50" id="50"/>
            <p:cNvSpPr/>
            <p:nvPr/>
          </p:nvSpPr>
          <p:spPr>
            <a:xfrm flipH="false" flipV="false" rot="0">
              <a:off x="0" y="0"/>
              <a:ext cx="182880" cy="2834640"/>
            </a:xfrm>
            <a:custGeom>
              <a:avLst/>
              <a:gdLst/>
              <a:ahLst/>
              <a:cxnLst/>
              <a:rect r="r" b="b" t="t" l="l"/>
              <a:pathLst>
                <a:path h="2834640" w="182880">
                  <a:moveTo>
                    <a:pt x="0" y="0"/>
                  </a:moveTo>
                  <a:lnTo>
                    <a:pt x="182880" y="0"/>
                  </a:lnTo>
                  <a:lnTo>
                    <a:pt x="182880" y="2834640"/>
                  </a:lnTo>
                  <a:lnTo>
                    <a:pt x="0" y="2834640"/>
                  </a:lnTo>
                  <a:close/>
                </a:path>
              </a:pathLst>
            </a:custGeom>
            <a:solidFill>
              <a:srgbClr val="990011"/>
            </a:solidFill>
          </p:spPr>
        </p:sp>
      </p:grpSp>
      <p:grpSp>
        <p:nvGrpSpPr>
          <p:cNvPr name="Group 51" id="51"/>
          <p:cNvGrpSpPr/>
          <p:nvPr/>
        </p:nvGrpSpPr>
        <p:grpSpPr>
          <a:xfrm rot="0">
            <a:off x="13921740" y="5829300"/>
            <a:ext cx="3291840" cy="1165860"/>
            <a:chOff x="0" y="0"/>
            <a:chExt cx="4389120" cy="1554480"/>
          </a:xfrm>
        </p:grpSpPr>
        <p:sp>
          <p:nvSpPr>
            <p:cNvPr name="Freeform 52" id="52"/>
            <p:cNvSpPr/>
            <p:nvPr/>
          </p:nvSpPr>
          <p:spPr>
            <a:xfrm flipH="false" flipV="false" rot="0">
              <a:off x="0" y="0"/>
              <a:ext cx="4389120" cy="1554480"/>
            </a:xfrm>
            <a:custGeom>
              <a:avLst/>
              <a:gdLst/>
              <a:ahLst/>
              <a:cxnLst/>
              <a:rect r="r" b="b" t="t" l="l"/>
              <a:pathLst>
                <a:path h="1554480" w="4389120">
                  <a:moveTo>
                    <a:pt x="0" y="0"/>
                  </a:moveTo>
                  <a:lnTo>
                    <a:pt x="4389120" y="0"/>
                  </a:lnTo>
                  <a:lnTo>
                    <a:pt x="4389120" y="1554480"/>
                  </a:lnTo>
                  <a:lnTo>
                    <a:pt x="0" y="1554480"/>
                  </a:lnTo>
                  <a:close/>
                </a:path>
              </a:pathLst>
            </a:custGeom>
            <a:blipFill>
              <a:blip r:embed="rId3">
                <a:alphaModFix amt="0"/>
              </a:blip>
              <a:stretch>
                <a:fillRect l="0" t="-5016" r="0" b="-5016"/>
              </a:stretch>
            </a:blipFill>
          </p:spPr>
        </p:sp>
        <p:sp>
          <p:nvSpPr>
            <p:cNvPr name="TextBox 53" id="53"/>
            <p:cNvSpPr txBox="true"/>
            <p:nvPr/>
          </p:nvSpPr>
          <p:spPr>
            <a:xfrm>
              <a:off x="0" y="-19050"/>
              <a:ext cx="4389120" cy="1573530"/>
            </a:xfrm>
            <a:prstGeom prst="rect">
              <a:avLst/>
            </a:prstGeom>
          </p:spPr>
          <p:txBody>
            <a:bodyPr anchor="ctr" rtlCol="false" tIns="0" lIns="0" bIns="0" rIns="0"/>
            <a:lstStyle/>
            <a:p>
              <a:pPr algn="l">
                <a:lnSpc>
                  <a:spcPts val="7200"/>
                </a:lnSpc>
              </a:pPr>
              <a:r>
                <a:rPr lang="en-US" sz="6000" b="true">
                  <a:solidFill>
                    <a:srgbClr val="990011"/>
                  </a:solidFill>
                  <a:latin typeface="Roboto Bold"/>
                  <a:ea typeface="Roboto Bold"/>
                  <a:cs typeface="Roboto Bold"/>
                  <a:sym typeface="Roboto Bold"/>
                </a:rPr>
                <a:t>45.9%</a:t>
              </a:r>
            </a:p>
          </p:txBody>
        </p:sp>
      </p:grpSp>
      <p:grpSp>
        <p:nvGrpSpPr>
          <p:cNvPr name="Group 54" id="54"/>
          <p:cNvGrpSpPr/>
          <p:nvPr/>
        </p:nvGrpSpPr>
        <p:grpSpPr>
          <a:xfrm rot="0">
            <a:off x="13962888" y="6995160"/>
            <a:ext cx="3291840" cy="548640"/>
            <a:chOff x="0" y="0"/>
            <a:chExt cx="4389120" cy="731520"/>
          </a:xfrm>
        </p:grpSpPr>
        <p:sp>
          <p:nvSpPr>
            <p:cNvPr name="Freeform 55" id="55"/>
            <p:cNvSpPr/>
            <p:nvPr/>
          </p:nvSpPr>
          <p:spPr>
            <a:xfrm flipH="false" flipV="false" rot="0">
              <a:off x="0" y="0"/>
              <a:ext cx="4389120" cy="731520"/>
            </a:xfrm>
            <a:custGeom>
              <a:avLst/>
              <a:gdLst/>
              <a:ahLst/>
              <a:cxnLst/>
              <a:rect r="r" b="b" t="t" l="l"/>
              <a:pathLst>
                <a:path h="731520" w="4389120">
                  <a:moveTo>
                    <a:pt x="0" y="0"/>
                  </a:moveTo>
                  <a:lnTo>
                    <a:pt x="4389120" y="0"/>
                  </a:lnTo>
                  <a:lnTo>
                    <a:pt x="4389120" y="731520"/>
                  </a:lnTo>
                  <a:lnTo>
                    <a:pt x="0" y="731520"/>
                  </a:lnTo>
                  <a:close/>
                </a:path>
              </a:pathLst>
            </a:custGeom>
            <a:blipFill>
              <a:blip r:embed="rId3">
                <a:alphaModFix amt="0"/>
              </a:blip>
              <a:stretch>
                <a:fillRect l="0" t="-66910" r="0" b="-66910"/>
              </a:stretch>
            </a:blipFill>
          </p:spPr>
        </p:sp>
        <p:sp>
          <p:nvSpPr>
            <p:cNvPr name="TextBox 56" id="56"/>
            <p:cNvSpPr txBox="true"/>
            <p:nvPr/>
          </p:nvSpPr>
          <p:spPr>
            <a:xfrm>
              <a:off x="0" y="-9525"/>
              <a:ext cx="4389120" cy="741045"/>
            </a:xfrm>
            <a:prstGeom prst="rect">
              <a:avLst/>
            </a:prstGeom>
          </p:spPr>
          <p:txBody>
            <a:bodyPr anchor="ctr" rtlCol="false" tIns="0" lIns="0" bIns="0" rIns="0"/>
            <a:lstStyle/>
            <a:p>
              <a:pPr algn="l">
                <a:lnSpc>
                  <a:spcPts val="2340"/>
                </a:lnSpc>
              </a:pPr>
              <a:r>
                <a:rPr lang="en-US" sz="1950">
                  <a:solidFill>
                    <a:srgbClr val="7A6E6E"/>
                  </a:solidFill>
                  <a:latin typeface="Open Sans"/>
                  <a:ea typeface="Open Sans"/>
                  <a:cs typeface="Open Sans"/>
                  <a:sym typeface="Open Sans"/>
                </a:rPr>
                <a:t>Tỷ lệ mắc bệnh</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CF6F5"/>
        </a:solidFill>
      </p:bgPr>
    </p:bg>
    <p:spTree>
      <p:nvGrpSpPr>
        <p:cNvPr id="1" name=""/>
        <p:cNvGrpSpPr/>
        <p:nvPr/>
      </p:nvGrpSpPr>
      <p:grpSpPr>
        <a:xfrm>
          <a:off x="0" y="0"/>
          <a:ext cx="0" cy="0"/>
          <a:chOff x="0" y="0"/>
          <a:chExt cx="0" cy="0"/>
        </a:xfrm>
      </p:grpSpPr>
      <p:grpSp>
        <p:nvGrpSpPr>
          <p:cNvPr name="Group 2" id="2"/>
          <p:cNvGrpSpPr/>
          <p:nvPr/>
        </p:nvGrpSpPr>
        <p:grpSpPr>
          <a:xfrm rot="0">
            <a:off x="822960" y="754380"/>
            <a:ext cx="754380" cy="754380"/>
            <a:chOff x="0" y="0"/>
            <a:chExt cx="1005840" cy="1005840"/>
          </a:xfrm>
        </p:grpSpPr>
        <p:sp>
          <p:nvSpPr>
            <p:cNvPr name="Freeform 3" id="3"/>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990011"/>
            </a:solidFill>
          </p:spPr>
        </p:sp>
      </p:grpSp>
      <p:grpSp>
        <p:nvGrpSpPr>
          <p:cNvPr name="Group 4" id="4"/>
          <p:cNvGrpSpPr/>
          <p:nvPr/>
        </p:nvGrpSpPr>
        <p:grpSpPr>
          <a:xfrm rot="0">
            <a:off x="822960" y="754380"/>
            <a:ext cx="754380" cy="754380"/>
            <a:chOff x="0" y="0"/>
            <a:chExt cx="1005840" cy="1005840"/>
          </a:xfrm>
        </p:grpSpPr>
        <p:sp>
          <p:nvSpPr>
            <p:cNvPr name="Freeform 5" id="5"/>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6" id="6"/>
            <p:cNvSpPr txBox="true"/>
            <p:nvPr/>
          </p:nvSpPr>
          <p:spPr>
            <a:xfrm>
              <a:off x="0" y="-9525"/>
              <a:ext cx="1005840" cy="1015365"/>
            </a:xfrm>
            <a:prstGeom prst="rect">
              <a:avLst/>
            </a:prstGeom>
          </p:spPr>
          <p:txBody>
            <a:bodyPr anchor="ctr" rtlCol="false" tIns="0" lIns="0" bIns="0" rIns="0"/>
            <a:lstStyle/>
            <a:p>
              <a:pPr algn="ctr">
                <a:lnSpc>
                  <a:spcPts val="3960"/>
                </a:lnSpc>
              </a:pPr>
              <a:r>
                <a:rPr lang="en-US" sz="3300" b="true">
                  <a:solidFill>
                    <a:srgbClr val="FFFFFF"/>
                  </a:solidFill>
                  <a:latin typeface="Roboto Bold"/>
                  <a:ea typeface="Roboto Bold"/>
                  <a:cs typeface="Roboto Bold"/>
                  <a:sym typeface="Roboto Bold"/>
                </a:rPr>
                <a:t>3</a:t>
              </a:r>
            </a:p>
          </p:txBody>
        </p:sp>
      </p:grpSp>
      <p:grpSp>
        <p:nvGrpSpPr>
          <p:cNvPr name="Group 7" id="7"/>
          <p:cNvGrpSpPr/>
          <p:nvPr/>
        </p:nvGrpSpPr>
        <p:grpSpPr>
          <a:xfrm rot="0">
            <a:off x="1851660" y="685800"/>
            <a:ext cx="15499080" cy="960120"/>
            <a:chOff x="0" y="0"/>
            <a:chExt cx="20665440" cy="1280160"/>
          </a:xfrm>
        </p:grpSpPr>
        <p:sp>
          <p:nvSpPr>
            <p:cNvPr name="Freeform 8" id="8"/>
            <p:cNvSpPr/>
            <p:nvPr/>
          </p:nvSpPr>
          <p:spPr>
            <a:xfrm flipH="false" flipV="false" rot="0">
              <a:off x="0" y="0"/>
              <a:ext cx="20665439" cy="1280160"/>
            </a:xfrm>
            <a:custGeom>
              <a:avLst/>
              <a:gdLst/>
              <a:ahLst/>
              <a:cxnLst/>
              <a:rect r="r" b="b" t="t" l="l"/>
              <a:pathLst>
                <a:path h="1280160" w="20665439">
                  <a:moveTo>
                    <a:pt x="0" y="0"/>
                  </a:moveTo>
                  <a:lnTo>
                    <a:pt x="20665439" y="0"/>
                  </a:lnTo>
                  <a:lnTo>
                    <a:pt x="20665439" y="1280160"/>
                  </a:lnTo>
                  <a:lnTo>
                    <a:pt x="0" y="1280160"/>
                  </a:lnTo>
                  <a:close/>
                </a:path>
              </a:pathLst>
            </a:custGeom>
            <a:blipFill>
              <a:blip r:embed="rId3">
                <a:alphaModFix amt="0"/>
              </a:blip>
              <a:stretch>
                <a:fillRect l="0" t="-264544" r="0" b="-264544"/>
              </a:stretch>
            </a:blipFill>
          </p:spPr>
        </p:sp>
        <p:sp>
          <p:nvSpPr>
            <p:cNvPr name="TextBox 9" id="9"/>
            <p:cNvSpPr txBox="true"/>
            <p:nvPr/>
          </p:nvSpPr>
          <p:spPr>
            <a:xfrm>
              <a:off x="0" y="-19050"/>
              <a:ext cx="20665440" cy="1299210"/>
            </a:xfrm>
            <a:prstGeom prst="rect">
              <a:avLst/>
            </a:prstGeom>
          </p:spPr>
          <p:txBody>
            <a:bodyPr anchor="ctr" rtlCol="false" tIns="0" lIns="0" bIns="0" rIns="0"/>
            <a:lstStyle/>
            <a:p>
              <a:pPr algn="l">
                <a:lnSpc>
                  <a:spcPts val="5400"/>
                </a:lnSpc>
              </a:pPr>
              <a:r>
                <a:rPr lang="en-US" sz="4500" b="true">
                  <a:solidFill>
                    <a:srgbClr val="990011"/>
                  </a:solidFill>
                  <a:latin typeface="Roboto Bold"/>
                  <a:ea typeface="Roboto Bold"/>
                  <a:cs typeface="Roboto Bold"/>
                  <a:sym typeface="Roboto Bold"/>
                </a:rPr>
                <a:t>Câu hỏi nghiên cứu</a:t>
              </a:r>
            </a:p>
          </p:txBody>
        </p:sp>
      </p:grpSp>
      <p:grpSp>
        <p:nvGrpSpPr>
          <p:cNvPr name="Group 10" id="10"/>
          <p:cNvGrpSpPr/>
          <p:nvPr/>
        </p:nvGrpSpPr>
        <p:grpSpPr>
          <a:xfrm rot="0">
            <a:off x="822960" y="2400300"/>
            <a:ext cx="16596360" cy="2057400"/>
            <a:chOff x="0" y="0"/>
            <a:chExt cx="22128480" cy="2743200"/>
          </a:xfrm>
        </p:grpSpPr>
        <p:sp>
          <p:nvSpPr>
            <p:cNvPr name="Freeform 11" id="11"/>
            <p:cNvSpPr/>
            <p:nvPr/>
          </p:nvSpPr>
          <p:spPr>
            <a:xfrm flipH="false" flipV="false" rot="0">
              <a:off x="0" y="0"/>
              <a:ext cx="22128480" cy="2743200"/>
            </a:xfrm>
            <a:custGeom>
              <a:avLst/>
              <a:gdLst/>
              <a:ahLst/>
              <a:cxnLst/>
              <a:rect r="r" b="b" t="t" l="l"/>
              <a:pathLst>
                <a:path h="2743200" w="22128480">
                  <a:moveTo>
                    <a:pt x="0" y="0"/>
                  </a:moveTo>
                  <a:lnTo>
                    <a:pt x="22128480" y="0"/>
                  </a:lnTo>
                  <a:lnTo>
                    <a:pt x="22128480" y="2743200"/>
                  </a:lnTo>
                  <a:lnTo>
                    <a:pt x="0" y="2743200"/>
                  </a:lnTo>
                  <a:close/>
                </a:path>
              </a:pathLst>
            </a:custGeom>
            <a:solidFill>
              <a:srgbClr val="4A0008"/>
            </a:solidFill>
          </p:spPr>
        </p:sp>
      </p:grpSp>
      <p:grpSp>
        <p:nvGrpSpPr>
          <p:cNvPr name="Group 12" id="12"/>
          <p:cNvGrpSpPr/>
          <p:nvPr/>
        </p:nvGrpSpPr>
        <p:grpSpPr>
          <a:xfrm rot="0">
            <a:off x="1165860" y="2674620"/>
            <a:ext cx="1645920" cy="1508760"/>
            <a:chOff x="0" y="0"/>
            <a:chExt cx="2194560" cy="2011680"/>
          </a:xfrm>
        </p:grpSpPr>
        <p:sp>
          <p:nvSpPr>
            <p:cNvPr name="Freeform 13" id="13"/>
            <p:cNvSpPr/>
            <p:nvPr/>
          </p:nvSpPr>
          <p:spPr>
            <a:xfrm flipH="false" flipV="false" rot="0">
              <a:off x="0" y="0"/>
              <a:ext cx="2194560" cy="2011680"/>
            </a:xfrm>
            <a:custGeom>
              <a:avLst/>
              <a:gdLst/>
              <a:ahLst/>
              <a:cxnLst/>
              <a:rect r="r" b="b" t="t" l="l"/>
              <a:pathLst>
                <a:path h="2011680" w="2194560">
                  <a:moveTo>
                    <a:pt x="0" y="0"/>
                  </a:moveTo>
                  <a:lnTo>
                    <a:pt x="2194560" y="0"/>
                  </a:lnTo>
                  <a:lnTo>
                    <a:pt x="2194560" y="2011680"/>
                  </a:lnTo>
                  <a:lnTo>
                    <a:pt x="0" y="2011680"/>
                  </a:lnTo>
                  <a:close/>
                </a:path>
              </a:pathLst>
            </a:custGeom>
            <a:blipFill>
              <a:blip r:embed="rId3">
                <a:alphaModFix amt="0"/>
              </a:blip>
              <a:stretch>
                <a:fillRect l="-67611" t="0" r="-67611" b="0"/>
              </a:stretch>
            </a:blipFill>
          </p:spPr>
        </p:sp>
        <p:sp>
          <p:nvSpPr>
            <p:cNvPr name="TextBox 14" id="14"/>
            <p:cNvSpPr txBox="true"/>
            <p:nvPr/>
          </p:nvSpPr>
          <p:spPr>
            <a:xfrm>
              <a:off x="0" y="-9525"/>
              <a:ext cx="2194560" cy="2021205"/>
            </a:xfrm>
            <a:prstGeom prst="rect">
              <a:avLst/>
            </a:prstGeom>
          </p:spPr>
          <p:txBody>
            <a:bodyPr anchor="ctr" rtlCol="false" tIns="0" lIns="0" bIns="0" rIns="0"/>
            <a:lstStyle/>
            <a:p>
              <a:pPr algn="l">
                <a:lnSpc>
                  <a:spcPts val="6120"/>
                </a:lnSpc>
              </a:pPr>
              <a:r>
                <a:rPr lang="en-US" sz="5100" b="true">
                  <a:solidFill>
                    <a:srgbClr val="E8B4B8"/>
                  </a:solidFill>
                  <a:latin typeface="Roboto Bold"/>
                  <a:ea typeface="Roboto Bold"/>
                  <a:cs typeface="Roboto Bold"/>
                  <a:sym typeface="Roboto Bold"/>
                </a:rPr>
                <a:t>RQ</a:t>
              </a:r>
            </a:p>
          </p:txBody>
        </p:sp>
      </p:grpSp>
      <p:grpSp>
        <p:nvGrpSpPr>
          <p:cNvPr name="Group 15" id="15"/>
          <p:cNvGrpSpPr/>
          <p:nvPr/>
        </p:nvGrpSpPr>
        <p:grpSpPr>
          <a:xfrm rot="0">
            <a:off x="3017520" y="2537460"/>
            <a:ext cx="13990320" cy="1783080"/>
            <a:chOff x="0" y="0"/>
            <a:chExt cx="18653760" cy="2377440"/>
          </a:xfrm>
        </p:grpSpPr>
        <p:sp>
          <p:nvSpPr>
            <p:cNvPr name="Freeform 16" id="16"/>
            <p:cNvSpPr/>
            <p:nvPr/>
          </p:nvSpPr>
          <p:spPr>
            <a:xfrm flipH="false" flipV="false" rot="0">
              <a:off x="0" y="0"/>
              <a:ext cx="18653761" cy="2377440"/>
            </a:xfrm>
            <a:custGeom>
              <a:avLst/>
              <a:gdLst/>
              <a:ahLst/>
              <a:cxnLst/>
              <a:rect r="r" b="b" t="t" l="l"/>
              <a:pathLst>
                <a:path h="2377440" w="18653761">
                  <a:moveTo>
                    <a:pt x="0" y="0"/>
                  </a:moveTo>
                  <a:lnTo>
                    <a:pt x="18653761" y="0"/>
                  </a:lnTo>
                  <a:lnTo>
                    <a:pt x="18653761" y="2377440"/>
                  </a:lnTo>
                  <a:lnTo>
                    <a:pt x="0" y="2377440"/>
                  </a:lnTo>
                  <a:close/>
                </a:path>
              </a:pathLst>
            </a:custGeom>
            <a:blipFill>
              <a:blip r:embed="rId3">
                <a:alphaModFix amt="0"/>
              </a:blip>
              <a:stretch>
                <a:fillRect l="0" t="-102882" r="0" b="-102882"/>
              </a:stretch>
            </a:blipFill>
          </p:spPr>
        </p:sp>
        <p:sp>
          <p:nvSpPr>
            <p:cNvPr name="TextBox 17" id="17"/>
            <p:cNvSpPr txBox="true"/>
            <p:nvPr/>
          </p:nvSpPr>
          <p:spPr>
            <a:xfrm>
              <a:off x="0" y="-9525"/>
              <a:ext cx="18653760" cy="2386965"/>
            </a:xfrm>
            <a:prstGeom prst="rect">
              <a:avLst/>
            </a:prstGeom>
          </p:spPr>
          <p:txBody>
            <a:bodyPr anchor="ctr" rtlCol="false" tIns="0" lIns="0" bIns="0" rIns="0"/>
            <a:lstStyle/>
            <a:p>
              <a:pPr algn="l">
                <a:lnSpc>
                  <a:spcPts val="3240"/>
                </a:lnSpc>
              </a:pPr>
              <a:r>
                <a:rPr lang="en-US" sz="2700" i="true">
                  <a:solidFill>
                    <a:srgbClr val="FFFFFF"/>
                  </a:solidFill>
                  <a:latin typeface="Open Sans Italics"/>
                  <a:ea typeface="Open Sans Italics"/>
                  <a:cs typeface="Open Sans Italics"/>
                  <a:sym typeface="Open Sans Italics"/>
                </a:rPr>
                <a:t>Các yếu tố sức khỏe (tuổi, huyết áp, cholesterol, nhịp tim, đau ngực…) ảnh hưởng như thế nào đến khả năng mắc bệnh tim?</a:t>
              </a:r>
            </a:p>
          </p:txBody>
        </p:sp>
      </p:grpSp>
      <p:grpSp>
        <p:nvGrpSpPr>
          <p:cNvPr name="Group 18" id="18"/>
          <p:cNvGrpSpPr/>
          <p:nvPr/>
        </p:nvGrpSpPr>
        <p:grpSpPr>
          <a:xfrm rot="0">
            <a:off x="822960" y="5006340"/>
            <a:ext cx="10972800" cy="548640"/>
            <a:chOff x="0" y="0"/>
            <a:chExt cx="14630400" cy="731520"/>
          </a:xfrm>
        </p:grpSpPr>
        <p:sp>
          <p:nvSpPr>
            <p:cNvPr name="Freeform 19" id="19"/>
            <p:cNvSpPr/>
            <p:nvPr/>
          </p:nvSpPr>
          <p:spPr>
            <a:xfrm flipH="false" flipV="false" rot="0">
              <a:off x="0" y="0"/>
              <a:ext cx="14630400" cy="731520"/>
            </a:xfrm>
            <a:custGeom>
              <a:avLst/>
              <a:gdLst/>
              <a:ahLst/>
              <a:cxnLst/>
              <a:rect r="r" b="b" t="t" l="l"/>
              <a:pathLst>
                <a:path h="731520" w="14630400">
                  <a:moveTo>
                    <a:pt x="0" y="0"/>
                  </a:moveTo>
                  <a:lnTo>
                    <a:pt x="14630400" y="0"/>
                  </a:lnTo>
                  <a:lnTo>
                    <a:pt x="14630400" y="731520"/>
                  </a:lnTo>
                  <a:lnTo>
                    <a:pt x="0" y="731520"/>
                  </a:lnTo>
                  <a:close/>
                </a:path>
              </a:pathLst>
            </a:custGeom>
            <a:blipFill>
              <a:blip r:embed="rId3">
                <a:alphaModFix amt="0"/>
              </a:blip>
              <a:stretch>
                <a:fillRect l="0" t="-339700" r="0" b="-339700"/>
              </a:stretch>
            </a:blipFill>
          </p:spPr>
        </p:sp>
        <p:sp>
          <p:nvSpPr>
            <p:cNvPr name="TextBox 20" id="20"/>
            <p:cNvSpPr txBox="true"/>
            <p:nvPr/>
          </p:nvSpPr>
          <p:spPr>
            <a:xfrm>
              <a:off x="0" y="0"/>
              <a:ext cx="14630400" cy="731520"/>
            </a:xfrm>
            <a:prstGeom prst="rect">
              <a:avLst/>
            </a:prstGeom>
          </p:spPr>
          <p:txBody>
            <a:bodyPr anchor="ctr" rtlCol="false" tIns="0" lIns="0" bIns="0" rIns="0"/>
            <a:lstStyle/>
            <a:p>
              <a:pPr algn="l">
                <a:lnSpc>
                  <a:spcPts val="2520"/>
                </a:lnSpc>
              </a:pPr>
              <a:r>
                <a:rPr lang="en-US" b="true" sz="2100" spc="300">
                  <a:solidFill>
                    <a:srgbClr val="990011"/>
                  </a:solidFill>
                  <a:latin typeface="Open Sans Bold"/>
                  <a:ea typeface="Open Sans Bold"/>
                  <a:cs typeface="Open Sans Bold"/>
                  <a:sym typeface="Open Sans Bold"/>
                </a:rPr>
                <a:t>CÁC CÂU HỎI CỤ THỂ</a:t>
              </a:r>
            </a:p>
          </p:txBody>
        </p:sp>
      </p:grpSp>
      <p:grpSp>
        <p:nvGrpSpPr>
          <p:cNvPr name="Group 21" id="21"/>
          <p:cNvGrpSpPr/>
          <p:nvPr/>
        </p:nvGrpSpPr>
        <p:grpSpPr>
          <a:xfrm rot="0">
            <a:off x="803910" y="5741670"/>
            <a:ext cx="723900" cy="723900"/>
            <a:chOff x="0" y="0"/>
            <a:chExt cx="965200" cy="965200"/>
          </a:xfrm>
        </p:grpSpPr>
        <p:sp>
          <p:nvSpPr>
            <p:cNvPr name="Freeform 22" id="22"/>
            <p:cNvSpPr/>
            <p:nvPr/>
          </p:nvSpPr>
          <p:spPr>
            <a:xfrm flipH="false" flipV="false" rot="0">
              <a:off x="0" y="0"/>
              <a:ext cx="965200" cy="965200"/>
            </a:xfrm>
            <a:custGeom>
              <a:avLst/>
              <a:gdLst/>
              <a:ahLst/>
              <a:cxnLst/>
              <a:rect r="r" b="b" t="t" l="l"/>
              <a:pathLst>
                <a:path h="965200" w="965200">
                  <a:moveTo>
                    <a:pt x="0" y="482600"/>
                  </a:moveTo>
                  <a:cubicBezTo>
                    <a:pt x="0" y="216027"/>
                    <a:pt x="216027" y="0"/>
                    <a:pt x="482600" y="0"/>
                  </a:cubicBezTo>
                  <a:cubicBezTo>
                    <a:pt x="749173" y="0"/>
                    <a:pt x="965200" y="216027"/>
                    <a:pt x="965200" y="482600"/>
                  </a:cubicBezTo>
                  <a:cubicBezTo>
                    <a:pt x="965200" y="749173"/>
                    <a:pt x="749173" y="965200"/>
                    <a:pt x="482600" y="965200"/>
                  </a:cubicBezTo>
                  <a:cubicBezTo>
                    <a:pt x="216027" y="965200"/>
                    <a:pt x="0" y="749173"/>
                    <a:pt x="0" y="482600"/>
                  </a:cubicBezTo>
                  <a:close/>
                </a:path>
              </a:pathLst>
            </a:custGeom>
            <a:solidFill>
              <a:srgbClr val="FCF6F5"/>
            </a:solidFill>
            <a:ln w="38100" cap="sq">
              <a:solidFill>
                <a:srgbClr val="990011"/>
              </a:solidFill>
              <a:prstDash val="solid"/>
              <a:miter/>
            </a:ln>
          </p:spPr>
        </p:sp>
      </p:grpSp>
      <p:grpSp>
        <p:nvGrpSpPr>
          <p:cNvPr name="Group 23" id="23"/>
          <p:cNvGrpSpPr/>
          <p:nvPr/>
        </p:nvGrpSpPr>
        <p:grpSpPr>
          <a:xfrm rot="0">
            <a:off x="822960" y="5760720"/>
            <a:ext cx="685800" cy="685800"/>
            <a:chOff x="0" y="0"/>
            <a:chExt cx="914400" cy="914400"/>
          </a:xfrm>
        </p:grpSpPr>
        <p:sp>
          <p:nvSpPr>
            <p:cNvPr name="Freeform 24" id="2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25" id="25"/>
            <p:cNvSpPr txBox="true"/>
            <p:nvPr/>
          </p:nvSpPr>
          <p:spPr>
            <a:xfrm>
              <a:off x="0" y="-9525"/>
              <a:ext cx="914400" cy="923925"/>
            </a:xfrm>
            <a:prstGeom prst="rect">
              <a:avLst/>
            </a:prstGeom>
          </p:spPr>
          <p:txBody>
            <a:bodyPr anchor="ctr" rtlCol="false" tIns="0" lIns="0" bIns="0" rIns="0"/>
            <a:lstStyle/>
            <a:p>
              <a:pPr algn="ctr">
                <a:lnSpc>
                  <a:spcPts val="3240"/>
                </a:lnSpc>
              </a:pPr>
              <a:r>
                <a:rPr lang="en-US" sz="2700" b="true">
                  <a:solidFill>
                    <a:srgbClr val="990011"/>
                  </a:solidFill>
                  <a:latin typeface="Roboto Bold"/>
                  <a:ea typeface="Roboto Bold"/>
                  <a:cs typeface="Roboto Bold"/>
                  <a:sym typeface="Roboto Bold"/>
                </a:rPr>
                <a:t>1</a:t>
              </a:r>
            </a:p>
          </p:txBody>
        </p:sp>
      </p:grpSp>
      <p:grpSp>
        <p:nvGrpSpPr>
          <p:cNvPr name="Group 26" id="26"/>
          <p:cNvGrpSpPr/>
          <p:nvPr/>
        </p:nvGrpSpPr>
        <p:grpSpPr>
          <a:xfrm rot="0">
            <a:off x="1851660" y="5760720"/>
            <a:ext cx="15087600" cy="685800"/>
            <a:chOff x="0" y="0"/>
            <a:chExt cx="20116800" cy="914400"/>
          </a:xfrm>
        </p:grpSpPr>
        <p:sp>
          <p:nvSpPr>
            <p:cNvPr name="Freeform 27" id="27"/>
            <p:cNvSpPr/>
            <p:nvPr/>
          </p:nvSpPr>
          <p:spPr>
            <a:xfrm flipH="false" flipV="false" rot="0">
              <a:off x="0" y="0"/>
              <a:ext cx="20116800" cy="914400"/>
            </a:xfrm>
            <a:custGeom>
              <a:avLst/>
              <a:gdLst/>
              <a:ahLst/>
              <a:cxnLst/>
              <a:rect r="r" b="b" t="t" l="l"/>
              <a:pathLst>
                <a:path h="914400" w="20116800">
                  <a:moveTo>
                    <a:pt x="0" y="0"/>
                  </a:moveTo>
                  <a:lnTo>
                    <a:pt x="20116800" y="0"/>
                  </a:lnTo>
                  <a:lnTo>
                    <a:pt x="20116800" y="914400"/>
                  </a:lnTo>
                  <a:lnTo>
                    <a:pt x="0" y="914400"/>
                  </a:lnTo>
                  <a:close/>
                </a:path>
              </a:pathLst>
            </a:custGeom>
            <a:blipFill>
              <a:blip r:embed="rId3">
                <a:alphaModFix amt="0"/>
              </a:blip>
              <a:stretch>
                <a:fillRect l="0" t="-378670" r="0" b="-378670"/>
              </a:stretch>
            </a:blipFill>
          </p:spPr>
        </p:sp>
        <p:sp>
          <p:nvSpPr>
            <p:cNvPr name="TextBox 28" id="28"/>
            <p:cNvSpPr txBox="true"/>
            <p:nvPr/>
          </p:nvSpPr>
          <p:spPr>
            <a:xfrm>
              <a:off x="0" y="0"/>
              <a:ext cx="20116800" cy="914400"/>
            </a:xfrm>
            <a:prstGeom prst="rect">
              <a:avLst/>
            </a:prstGeom>
          </p:spPr>
          <p:txBody>
            <a:bodyPr anchor="ctr" rtlCol="false" tIns="0" lIns="0" bIns="0" rIns="0"/>
            <a:lstStyle/>
            <a:p>
              <a:pPr algn="l">
                <a:lnSpc>
                  <a:spcPts val="3060"/>
                </a:lnSpc>
              </a:pPr>
              <a:r>
                <a:rPr lang="en-US" sz="2550">
                  <a:solidFill>
                    <a:srgbClr val="2B2B2B"/>
                  </a:solidFill>
                  <a:latin typeface="Open Sans"/>
                  <a:ea typeface="Open Sans"/>
                  <a:cs typeface="Open Sans"/>
                  <a:sym typeface="Open Sans"/>
                </a:rPr>
                <a:t>Tuổi có liên quan đến bệnh tim không?</a:t>
              </a:r>
            </a:p>
          </p:txBody>
        </p:sp>
      </p:grpSp>
      <p:grpSp>
        <p:nvGrpSpPr>
          <p:cNvPr name="Group 29" id="29"/>
          <p:cNvGrpSpPr/>
          <p:nvPr/>
        </p:nvGrpSpPr>
        <p:grpSpPr>
          <a:xfrm rot="0">
            <a:off x="803910" y="7003542"/>
            <a:ext cx="723900" cy="723900"/>
            <a:chOff x="0" y="0"/>
            <a:chExt cx="965200" cy="965200"/>
          </a:xfrm>
        </p:grpSpPr>
        <p:sp>
          <p:nvSpPr>
            <p:cNvPr name="Freeform 30" id="30"/>
            <p:cNvSpPr/>
            <p:nvPr/>
          </p:nvSpPr>
          <p:spPr>
            <a:xfrm flipH="false" flipV="false" rot="0">
              <a:off x="0" y="0"/>
              <a:ext cx="965200" cy="965200"/>
            </a:xfrm>
            <a:custGeom>
              <a:avLst/>
              <a:gdLst/>
              <a:ahLst/>
              <a:cxnLst/>
              <a:rect r="r" b="b" t="t" l="l"/>
              <a:pathLst>
                <a:path h="965200" w="965200">
                  <a:moveTo>
                    <a:pt x="0" y="482600"/>
                  </a:moveTo>
                  <a:cubicBezTo>
                    <a:pt x="0" y="216027"/>
                    <a:pt x="216027" y="0"/>
                    <a:pt x="482600" y="0"/>
                  </a:cubicBezTo>
                  <a:cubicBezTo>
                    <a:pt x="749173" y="0"/>
                    <a:pt x="965200" y="216027"/>
                    <a:pt x="965200" y="482600"/>
                  </a:cubicBezTo>
                  <a:cubicBezTo>
                    <a:pt x="965200" y="749173"/>
                    <a:pt x="749173" y="965200"/>
                    <a:pt x="482600" y="965200"/>
                  </a:cubicBezTo>
                  <a:cubicBezTo>
                    <a:pt x="216027" y="965200"/>
                    <a:pt x="0" y="749173"/>
                    <a:pt x="0" y="482600"/>
                  </a:cubicBezTo>
                  <a:close/>
                </a:path>
              </a:pathLst>
            </a:custGeom>
            <a:solidFill>
              <a:srgbClr val="FCF6F5"/>
            </a:solidFill>
            <a:ln w="38100" cap="sq">
              <a:solidFill>
                <a:srgbClr val="990011"/>
              </a:solidFill>
              <a:prstDash val="solid"/>
              <a:miter/>
            </a:ln>
          </p:spPr>
        </p:sp>
      </p:grpSp>
      <p:grpSp>
        <p:nvGrpSpPr>
          <p:cNvPr name="Group 31" id="31"/>
          <p:cNvGrpSpPr/>
          <p:nvPr/>
        </p:nvGrpSpPr>
        <p:grpSpPr>
          <a:xfrm rot="0">
            <a:off x="822960" y="7022592"/>
            <a:ext cx="685800" cy="685800"/>
            <a:chOff x="0" y="0"/>
            <a:chExt cx="914400" cy="914400"/>
          </a:xfrm>
        </p:grpSpPr>
        <p:sp>
          <p:nvSpPr>
            <p:cNvPr name="Freeform 32" id="3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33" id="33"/>
            <p:cNvSpPr txBox="true"/>
            <p:nvPr/>
          </p:nvSpPr>
          <p:spPr>
            <a:xfrm>
              <a:off x="0" y="-9525"/>
              <a:ext cx="914400" cy="923925"/>
            </a:xfrm>
            <a:prstGeom prst="rect">
              <a:avLst/>
            </a:prstGeom>
          </p:spPr>
          <p:txBody>
            <a:bodyPr anchor="ctr" rtlCol="false" tIns="0" lIns="0" bIns="0" rIns="0"/>
            <a:lstStyle/>
            <a:p>
              <a:pPr algn="ctr">
                <a:lnSpc>
                  <a:spcPts val="3240"/>
                </a:lnSpc>
              </a:pPr>
              <a:r>
                <a:rPr lang="en-US" sz="2700" b="true">
                  <a:solidFill>
                    <a:srgbClr val="990011"/>
                  </a:solidFill>
                  <a:latin typeface="Roboto Bold"/>
                  <a:ea typeface="Roboto Bold"/>
                  <a:cs typeface="Roboto Bold"/>
                  <a:sym typeface="Roboto Bold"/>
                </a:rPr>
                <a:t>2</a:t>
              </a:r>
            </a:p>
          </p:txBody>
        </p:sp>
      </p:grpSp>
      <p:grpSp>
        <p:nvGrpSpPr>
          <p:cNvPr name="Group 34" id="34"/>
          <p:cNvGrpSpPr/>
          <p:nvPr/>
        </p:nvGrpSpPr>
        <p:grpSpPr>
          <a:xfrm rot="0">
            <a:off x="1851660" y="7022592"/>
            <a:ext cx="15087600" cy="685800"/>
            <a:chOff x="0" y="0"/>
            <a:chExt cx="20116800" cy="914400"/>
          </a:xfrm>
        </p:grpSpPr>
        <p:sp>
          <p:nvSpPr>
            <p:cNvPr name="Freeform 35" id="35"/>
            <p:cNvSpPr/>
            <p:nvPr/>
          </p:nvSpPr>
          <p:spPr>
            <a:xfrm flipH="false" flipV="false" rot="0">
              <a:off x="0" y="0"/>
              <a:ext cx="20116800" cy="914400"/>
            </a:xfrm>
            <a:custGeom>
              <a:avLst/>
              <a:gdLst/>
              <a:ahLst/>
              <a:cxnLst/>
              <a:rect r="r" b="b" t="t" l="l"/>
              <a:pathLst>
                <a:path h="914400" w="20116800">
                  <a:moveTo>
                    <a:pt x="0" y="0"/>
                  </a:moveTo>
                  <a:lnTo>
                    <a:pt x="20116800" y="0"/>
                  </a:lnTo>
                  <a:lnTo>
                    <a:pt x="20116800" y="914400"/>
                  </a:lnTo>
                  <a:lnTo>
                    <a:pt x="0" y="914400"/>
                  </a:lnTo>
                  <a:close/>
                </a:path>
              </a:pathLst>
            </a:custGeom>
            <a:blipFill>
              <a:blip r:embed="rId3">
                <a:alphaModFix amt="0"/>
              </a:blip>
              <a:stretch>
                <a:fillRect l="0" t="-378670" r="0" b="-378670"/>
              </a:stretch>
            </a:blipFill>
          </p:spPr>
        </p:sp>
        <p:sp>
          <p:nvSpPr>
            <p:cNvPr name="TextBox 36" id="36"/>
            <p:cNvSpPr txBox="true"/>
            <p:nvPr/>
          </p:nvSpPr>
          <p:spPr>
            <a:xfrm>
              <a:off x="0" y="0"/>
              <a:ext cx="20116800" cy="914400"/>
            </a:xfrm>
            <a:prstGeom prst="rect">
              <a:avLst/>
            </a:prstGeom>
          </p:spPr>
          <p:txBody>
            <a:bodyPr anchor="ctr" rtlCol="false" tIns="0" lIns="0" bIns="0" rIns="0"/>
            <a:lstStyle/>
            <a:p>
              <a:pPr algn="l">
                <a:lnSpc>
                  <a:spcPts val="3060"/>
                </a:lnSpc>
              </a:pPr>
              <a:r>
                <a:rPr lang="en-US" sz="2550">
                  <a:solidFill>
                    <a:srgbClr val="2B2B2B"/>
                  </a:solidFill>
                  <a:latin typeface="Open Sans"/>
                  <a:ea typeface="Open Sans"/>
                  <a:cs typeface="Open Sans"/>
                  <a:sym typeface="Open Sans"/>
                </a:rPr>
                <a:t>Huyết áp và cholesterol có phải là yếu tố nguy cơ?</a:t>
              </a:r>
            </a:p>
          </p:txBody>
        </p:sp>
      </p:grpSp>
      <p:grpSp>
        <p:nvGrpSpPr>
          <p:cNvPr name="Group 37" id="37"/>
          <p:cNvGrpSpPr/>
          <p:nvPr/>
        </p:nvGrpSpPr>
        <p:grpSpPr>
          <a:xfrm rot="0">
            <a:off x="803910" y="8265414"/>
            <a:ext cx="723900" cy="723900"/>
            <a:chOff x="0" y="0"/>
            <a:chExt cx="965200" cy="965200"/>
          </a:xfrm>
        </p:grpSpPr>
        <p:sp>
          <p:nvSpPr>
            <p:cNvPr name="Freeform 38" id="38"/>
            <p:cNvSpPr/>
            <p:nvPr/>
          </p:nvSpPr>
          <p:spPr>
            <a:xfrm flipH="false" flipV="false" rot="0">
              <a:off x="0" y="0"/>
              <a:ext cx="965200" cy="965200"/>
            </a:xfrm>
            <a:custGeom>
              <a:avLst/>
              <a:gdLst/>
              <a:ahLst/>
              <a:cxnLst/>
              <a:rect r="r" b="b" t="t" l="l"/>
              <a:pathLst>
                <a:path h="965200" w="965200">
                  <a:moveTo>
                    <a:pt x="0" y="482600"/>
                  </a:moveTo>
                  <a:cubicBezTo>
                    <a:pt x="0" y="216027"/>
                    <a:pt x="216027" y="0"/>
                    <a:pt x="482600" y="0"/>
                  </a:cubicBezTo>
                  <a:cubicBezTo>
                    <a:pt x="749173" y="0"/>
                    <a:pt x="965200" y="216027"/>
                    <a:pt x="965200" y="482600"/>
                  </a:cubicBezTo>
                  <a:cubicBezTo>
                    <a:pt x="965200" y="749173"/>
                    <a:pt x="749173" y="965200"/>
                    <a:pt x="482600" y="965200"/>
                  </a:cubicBezTo>
                  <a:cubicBezTo>
                    <a:pt x="216027" y="965200"/>
                    <a:pt x="0" y="749173"/>
                    <a:pt x="0" y="482600"/>
                  </a:cubicBezTo>
                  <a:close/>
                </a:path>
              </a:pathLst>
            </a:custGeom>
            <a:solidFill>
              <a:srgbClr val="FCF6F5"/>
            </a:solidFill>
            <a:ln w="38100" cap="sq">
              <a:solidFill>
                <a:srgbClr val="990011"/>
              </a:solidFill>
              <a:prstDash val="solid"/>
              <a:miter/>
            </a:ln>
          </p:spPr>
        </p:sp>
      </p:grpSp>
      <p:grpSp>
        <p:nvGrpSpPr>
          <p:cNvPr name="Group 39" id="39"/>
          <p:cNvGrpSpPr/>
          <p:nvPr/>
        </p:nvGrpSpPr>
        <p:grpSpPr>
          <a:xfrm rot="0">
            <a:off x="822960" y="8284464"/>
            <a:ext cx="685800" cy="685800"/>
            <a:chOff x="0" y="0"/>
            <a:chExt cx="914400" cy="914400"/>
          </a:xfrm>
        </p:grpSpPr>
        <p:sp>
          <p:nvSpPr>
            <p:cNvPr name="Freeform 40" id="4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41" id="41"/>
            <p:cNvSpPr txBox="true"/>
            <p:nvPr/>
          </p:nvSpPr>
          <p:spPr>
            <a:xfrm>
              <a:off x="0" y="-9525"/>
              <a:ext cx="914400" cy="923925"/>
            </a:xfrm>
            <a:prstGeom prst="rect">
              <a:avLst/>
            </a:prstGeom>
          </p:spPr>
          <p:txBody>
            <a:bodyPr anchor="ctr" rtlCol="false" tIns="0" lIns="0" bIns="0" rIns="0"/>
            <a:lstStyle/>
            <a:p>
              <a:pPr algn="ctr">
                <a:lnSpc>
                  <a:spcPts val="3240"/>
                </a:lnSpc>
              </a:pPr>
              <a:r>
                <a:rPr lang="en-US" sz="2700" b="true">
                  <a:solidFill>
                    <a:srgbClr val="990011"/>
                  </a:solidFill>
                  <a:latin typeface="Roboto Bold"/>
                  <a:ea typeface="Roboto Bold"/>
                  <a:cs typeface="Roboto Bold"/>
                  <a:sym typeface="Roboto Bold"/>
                </a:rPr>
                <a:t>3</a:t>
              </a:r>
            </a:p>
          </p:txBody>
        </p:sp>
      </p:grpSp>
      <p:grpSp>
        <p:nvGrpSpPr>
          <p:cNvPr name="Group 42" id="42"/>
          <p:cNvGrpSpPr/>
          <p:nvPr/>
        </p:nvGrpSpPr>
        <p:grpSpPr>
          <a:xfrm rot="0">
            <a:off x="1851660" y="8284464"/>
            <a:ext cx="15087600" cy="685800"/>
            <a:chOff x="0" y="0"/>
            <a:chExt cx="20116800" cy="914400"/>
          </a:xfrm>
        </p:grpSpPr>
        <p:sp>
          <p:nvSpPr>
            <p:cNvPr name="Freeform 43" id="43"/>
            <p:cNvSpPr/>
            <p:nvPr/>
          </p:nvSpPr>
          <p:spPr>
            <a:xfrm flipH="false" flipV="false" rot="0">
              <a:off x="0" y="0"/>
              <a:ext cx="20116800" cy="914400"/>
            </a:xfrm>
            <a:custGeom>
              <a:avLst/>
              <a:gdLst/>
              <a:ahLst/>
              <a:cxnLst/>
              <a:rect r="r" b="b" t="t" l="l"/>
              <a:pathLst>
                <a:path h="914400" w="20116800">
                  <a:moveTo>
                    <a:pt x="0" y="0"/>
                  </a:moveTo>
                  <a:lnTo>
                    <a:pt x="20116800" y="0"/>
                  </a:lnTo>
                  <a:lnTo>
                    <a:pt x="20116800" y="914400"/>
                  </a:lnTo>
                  <a:lnTo>
                    <a:pt x="0" y="914400"/>
                  </a:lnTo>
                  <a:close/>
                </a:path>
              </a:pathLst>
            </a:custGeom>
            <a:blipFill>
              <a:blip r:embed="rId3">
                <a:alphaModFix amt="0"/>
              </a:blip>
              <a:stretch>
                <a:fillRect l="0" t="-378670" r="0" b="-378670"/>
              </a:stretch>
            </a:blipFill>
          </p:spPr>
        </p:sp>
        <p:sp>
          <p:nvSpPr>
            <p:cNvPr name="TextBox 44" id="44"/>
            <p:cNvSpPr txBox="true"/>
            <p:nvPr/>
          </p:nvSpPr>
          <p:spPr>
            <a:xfrm>
              <a:off x="0" y="0"/>
              <a:ext cx="20116800" cy="914400"/>
            </a:xfrm>
            <a:prstGeom prst="rect">
              <a:avLst/>
            </a:prstGeom>
          </p:spPr>
          <p:txBody>
            <a:bodyPr anchor="ctr" rtlCol="false" tIns="0" lIns="0" bIns="0" rIns="0"/>
            <a:lstStyle/>
            <a:p>
              <a:pPr algn="l">
                <a:lnSpc>
                  <a:spcPts val="3060"/>
                </a:lnSpc>
              </a:pPr>
              <a:r>
                <a:rPr lang="en-US" sz="2550">
                  <a:solidFill>
                    <a:srgbClr val="2B2B2B"/>
                  </a:solidFill>
                  <a:latin typeface="Open Sans"/>
                  <a:ea typeface="Open Sans"/>
                  <a:cs typeface="Open Sans"/>
                  <a:sym typeface="Open Sans"/>
                </a:rPr>
                <a:t>Các chỉ số lâm sàng nào có mối liên hệ mạnh nhất với bệnh tim?</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CF6F5"/>
        </a:solidFill>
      </p:bgPr>
    </p:bg>
    <p:spTree>
      <p:nvGrpSpPr>
        <p:cNvPr id="1" name=""/>
        <p:cNvGrpSpPr/>
        <p:nvPr/>
      </p:nvGrpSpPr>
      <p:grpSpPr>
        <a:xfrm>
          <a:off x="0" y="0"/>
          <a:ext cx="0" cy="0"/>
          <a:chOff x="0" y="0"/>
          <a:chExt cx="0" cy="0"/>
        </a:xfrm>
      </p:grpSpPr>
      <p:grpSp>
        <p:nvGrpSpPr>
          <p:cNvPr name="Group 2" id="2"/>
          <p:cNvGrpSpPr/>
          <p:nvPr/>
        </p:nvGrpSpPr>
        <p:grpSpPr>
          <a:xfrm rot="0">
            <a:off x="822960" y="754380"/>
            <a:ext cx="754380" cy="754380"/>
            <a:chOff x="0" y="0"/>
            <a:chExt cx="1005840" cy="1005840"/>
          </a:xfrm>
        </p:grpSpPr>
        <p:sp>
          <p:nvSpPr>
            <p:cNvPr name="Freeform 3" id="3"/>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990011"/>
            </a:solidFill>
          </p:spPr>
        </p:sp>
      </p:grpSp>
      <p:grpSp>
        <p:nvGrpSpPr>
          <p:cNvPr name="Group 4" id="4"/>
          <p:cNvGrpSpPr/>
          <p:nvPr/>
        </p:nvGrpSpPr>
        <p:grpSpPr>
          <a:xfrm rot="0">
            <a:off x="822960" y="754380"/>
            <a:ext cx="754380" cy="754380"/>
            <a:chOff x="0" y="0"/>
            <a:chExt cx="1005840" cy="1005840"/>
          </a:xfrm>
        </p:grpSpPr>
        <p:sp>
          <p:nvSpPr>
            <p:cNvPr name="Freeform 5" id="5"/>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6" id="6"/>
            <p:cNvSpPr txBox="true"/>
            <p:nvPr/>
          </p:nvSpPr>
          <p:spPr>
            <a:xfrm>
              <a:off x="0" y="-9525"/>
              <a:ext cx="1005840" cy="1015365"/>
            </a:xfrm>
            <a:prstGeom prst="rect">
              <a:avLst/>
            </a:prstGeom>
          </p:spPr>
          <p:txBody>
            <a:bodyPr anchor="ctr" rtlCol="false" tIns="0" lIns="0" bIns="0" rIns="0"/>
            <a:lstStyle/>
            <a:p>
              <a:pPr algn="ctr">
                <a:lnSpc>
                  <a:spcPts val="3960"/>
                </a:lnSpc>
              </a:pPr>
              <a:r>
                <a:rPr lang="en-US" sz="3300" b="true">
                  <a:solidFill>
                    <a:srgbClr val="FFFFFF"/>
                  </a:solidFill>
                  <a:latin typeface="Roboto Bold"/>
                  <a:ea typeface="Roboto Bold"/>
                  <a:cs typeface="Roboto Bold"/>
                  <a:sym typeface="Roboto Bold"/>
                </a:rPr>
                <a:t>4</a:t>
              </a:r>
            </a:p>
          </p:txBody>
        </p:sp>
      </p:grpSp>
      <p:grpSp>
        <p:nvGrpSpPr>
          <p:cNvPr name="Group 7" id="7"/>
          <p:cNvGrpSpPr/>
          <p:nvPr/>
        </p:nvGrpSpPr>
        <p:grpSpPr>
          <a:xfrm rot="0">
            <a:off x="1851660" y="685800"/>
            <a:ext cx="15499080" cy="960120"/>
            <a:chOff x="0" y="0"/>
            <a:chExt cx="20665440" cy="1280160"/>
          </a:xfrm>
        </p:grpSpPr>
        <p:sp>
          <p:nvSpPr>
            <p:cNvPr name="Freeform 8" id="8"/>
            <p:cNvSpPr/>
            <p:nvPr/>
          </p:nvSpPr>
          <p:spPr>
            <a:xfrm flipH="false" flipV="false" rot="0">
              <a:off x="0" y="0"/>
              <a:ext cx="20665439" cy="1280160"/>
            </a:xfrm>
            <a:custGeom>
              <a:avLst/>
              <a:gdLst/>
              <a:ahLst/>
              <a:cxnLst/>
              <a:rect r="r" b="b" t="t" l="l"/>
              <a:pathLst>
                <a:path h="1280160" w="20665439">
                  <a:moveTo>
                    <a:pt x="0" y="0"/>
                  </a:moveTo>
                  <a:lnTo>
                    <a:pt x="20665439" y="0"/>
                  </a:lnTo>
                  <a:lnTo>
                    <a:pt x="20665439" y="1280160"/>
                  </a:lnTo>
                  <a:lnTo>
                    <a:pt x="0" y="1280160"/>
                  </a:lnTo>
                  <a:close/>
                </a:path>
              </a:pathLst>
            </a:custGeom>
            <a:blipFill>
              <a:blip r:embed="rId3">
                <a:alphaModFix amt="0"/>
              </a:blip>
              <a:stretch>
                <a:fillRect l="0" t="-264544" r="0" b="-264544"/>
              </a:stretch>
            </a:blipFill>
          </p:spPr>
        </p:sp>
        <p:sp>
          <p:nvSpPr>
            <p:cNvPr name="TextBox 9" id="9"/>
            <p:cNvSpPr txBox="true"/>
            <p:nvPr/>
          </p:nvSpPr>
          <p:spPr>
            <a:xfrm>
              <a:off x="0" y="-19050"/>
              <a:ext cx="20665440" cy="1299210"/>
            </a:xfrm>
            <a:prstGeom prst="rect">
              <a:avLst/>
            </a:prstGeom>
          </p:spPr>
          <p:txBody>
            <a:bodyPr anchor="ctr" rtlCol="false" tIns="0" lIns="0" bIns="0" rIns="0"/>
            <a:lstStyle/>
            <a:p>
              <a:pPr algn="l">
                <a:lnSpc>
                  <a:spcPts val="5400"/>
                </a:lnSpc>
              </a:pPr>
              <a:r>
                <a:rPr lang="en-US" sz="4500" b="true">
                  <a:solidFill>
                    <a:srgbClr val="990011"/>
                  </a:solidFill>
                  <a:latin typeface="Roboto Bold"/>
                  <a:ea typeface="Roboto Bold"/>
                  <a:cs typeface="Roboto Bold"/>
                  <a:sym typeface="Roboto Bold"/>
                </a:rPr>
                <a:t>Phương pháp nghiên cứu</a:t>
              </a:r>
            </a:p>
          </p:txBody>
        </p:sp>
      </p:grpSp>
      <p:grpSp>
        <p:nvGrpSpPr>
          <p:cNvPr name="Group 10" id="10"/>
          <p:cNvGrpSpPr/>
          <p:nvPr/>
        </p:nvGrpSpPr>
        <p:grpSpPr>
          <a:xfrm rot="0">
            <a:off x="822960" y="2163359"/>
            <a:ext cx="5486400" cy="616036"/>
            <a:chOff x="0" y="0"/>
            <a:chExt cx="7315200" cy="821381"/>
          </a:xfrm>
        </p:grpSpPr>
        <p:sp>
          <p:nvSpPr>
            <p:cNvPr name="Freeform 11" id="11"/>
            <p:cNvSpPr/>
            <p:nvPr/>
          </p:nvSpPr>
          <p:spPr>
            <a:xfrm flipH="false" flipV="false" rot="0">
              <a:off x="0" y="0"/>
              <a:ext cx="7315200" cy="821381"/>
            </a:xfrm>
            <a:custGeom>
              <a:avLst/>
              <a:gdLst/>
              <a:ahLst/>
              <a:cxnLst/>
              <a:rect r="r" b="b" t="t" l="l"/>
              <a:pathLst>
                <a:path h="821381" w="7315200">
                  <a:moveTo>
                    <a:pt x="0" y="0"/>
                  </a:moveTo>
                  <a:lnTo>
                    <a:pt x="7315200" y="0"/>
                  </a:lnTo>
                  <a:lnTo>
                    <a:pt x="7315200" y="821381"/>
                  </a:lnTo>
                  <a:lnTo>
                    <a:pt x="0" y="821381"/>
                  </a:lnTo>
                  <a:close/>
                </a:path>
              </a:pathLst>
            </a:custGeom>
            <a:blipFill>
              <a:blip r:embed="rId3">
                <a:alphaModFix amt="0"/>
              </a:blip>
              <a:stretch>
                <a:fillRect l="0" t="-129003" r="0" b="-118063"/>
              </a:stretch>
            </a:blipFill>
          </p:spPr>
        </p:sp>
        <p:sp>
          <p:nvSpPr>
            <p:cNvPr name="TextBox 12" id="12"/>
            <p:cNvSpPr txBox="true"/>
            <p:nvPr/>
          </p:nvSpPr>
          <p:spPr>
            <a:xfrm>
              <a:off x="0" y="9525"/>
              <a:ext cx="7315200" cy="811856"/>
            </a:xfrm>
            <a:prstGeom prst="rect">
              <a:avLst/>
            </a:prstGeom>
          </p:spPr>
          <p:txBody>
            <a:bodyPr anchor="ctr" rtlCol="false" tIns="0" lIns="0" bIns="0" rIns="0"/>
            <a:lstStyle/>
            <a:p>
              <a:pPr algn="l">
                <a:lnSpc>
                  <a:spcPts val="3599"/>
                </a:lnSpc>
              </a:pPr>
              <a:r>
                <a:rPr lang="en-US" b="true" sz="2999" spc="428">
                  <a:solidFill>
                    <a:srgbClr val="990011"/>
                  </a:solidFill>
                  <a:latin typeface="Open Sans Bold"/>
                  <a:ea typeface="Open Sans Bold"/>
                  <a:cs typeface="Open Sans Bold"/>
                  <a:sym typeface="Open Sans Bold"/>
                </a:rPr>
                <a:t>QUY TRÌNH</a:t>
              </a:r>
            </a:p>
          </p:txBody>
        </p:sp>
      </p:grpSp>
      <p:grpSp>
        <p:nvGrpSpPr>
          <p:cNvPr name="Group 13" id="13"/>
          <p:cNvGrpSpPr/>
          <p:nvPr/>
        </p:nvGrpSpPr>
        <p:grpSpPr>
          <a:xfrm rot="0">
            <a:off x="813435" y="3007995"/>
            <a:ext cx="7425690" cy="842010"/>
            <a:chOff x="0" y="0"/>
            <a:chExt cx="9900920" cy="1122680"/>
          </a:xfrm>
        </p:grpSpPr>
        <p:sp>
          <p:nvSpPr>
            <p:cNvPr name="Freeform 14" id="14"/>
            <p:cNvSpPr/>
            <p:nvPr/>
          </p:nvSpPr>
          <p:spPr>
            <a:xfrm flipH="false" flipV="false" rot="0">
              <a:off x="0" y="0"/>
              <a:ext cx="9900920" cy="1122680"/>
            </a:xfrm>
            <a:custGeom>
              <a:avLst/>
              <a:gdLst/>
              <a:ahLst/>
              <a:cxnLst/>
              <a:rect r="r" b="b" t="t" l="l"/>
              <a:pathLst>
                <a:path h="1122680" w="9900920">
                  <a:moveTo>
                    <a:pt x="0" y="0"/>
                  </a:moveTo>
                  <a:lnTo>
                    <a:pt x="9900920" y="0"/>
                  </a:lnTo>
                  <a:lnTo>
                    <a:pt x="9900920" y="1122680"/>
                  </a:lnTo>
                  <a:lnTo>
                    <a:pt x="0" y="1122680"/>
                  </a:lnTo>
                  <a:close/>
                </a:path>
              </a:pathLst>
            </a:custGeom>
            <a:solidFill>
              <a:srgbClr val="FFFFFF"/>
            </a:solidFill>
            <a:ln w="19050" cap="sq">
              <a:solidFill>
                <a:srgbClr val="EAD9D9"/>
              </a:solidFill>
              <a:prstDash val="solid"/>
              <a:miter/>
            </a:ln>
          </p:spPr>
        </p:sp>
      </p:grpSp>
      <p:grpSp>
        <p:nvGrpSpPr>
          <p:cNvPr name="Group 15" id="15"/>
          <p:cNvGrpSpPr/>
          <p:nvPr/>
        </p:nvGrpSpPr>
        <p:grpSpPr>
          <a:xfrm rot="0">
            <a:off x="1165860" y="3017520"/>
            <a:ext cx="6858000" cy="822960"/>
            <a:chOff x="0" y="0"/>
            <a:chExt cx="9144000" cy="1097280"/>
          </a:xfrm>
        </p:grpSpPr>
        <p:sp>
          <p:nvSpPr>
            <p:cNvPr name="Freeform 16" id="16"/>
            <p:cNvSpPr/>
            <p:nvPr/>
          </p:nvSpPr>
          <p:spPr>
            <a:xfrm flipH="false" flipV="false" rot="0">
              <a:off x="0" y="0"/>
              <a:ext cx="9144000" cy="1097280"/>
            </a:xfrm>
            <a:custGeom>
              <a:avLst/>
              <a:gdLst/>
              <a:ahLst/>
              <a:cxnLst/>
              <a:rect r="r" b="b" t="t" l="l"/>
              <a:pathLst>
                <a:path h="1097280" w="9144000">
                  <a:moveTo>
                    <a:pt x="0" y="0"/>
                  </a:moveTo>
                  <a:lnTo>
                    <a:pt x="9144000" y="0"/>
                  </a:lnTo>
                  <a:lnTo>
                    <a:pt x="9144000" y="1097280"/>
                  </a:lnTo>
                  <a:lnTo>
                    <a:pt x="0" y="1097280"/>
                  </a:lnTo>
                  <a:close/>
                </a:path>
              </a:pathLst>
            </a:custGeom>
            <a:blipFill>
              <a:blip r:embed="rId3">
                <a:alphaModFix amt="0"/>
              </a:blip>
              <a:stretch>
                <a:fillRect l="0" t="-112375" r="0" b="-112375"/>
              </a:stretch>
            </a:blipFill>
          </p:spPr>
        </p:sp>
        <p:sp>
          <p:nvSpPr>
            <p:cNvPr name="TextBox 17" id="17"/>
            <p:cNvSpPr txBox="true"/>
            <p:nvPr/>
          </p:nvSpPr>
          <p:spPr>
            <a:xfrm>
              <a:off x="0" y="0"/>
              <a:ext cx="9144000" cy="1097280"/>
            </a:xfrm>
            <a:prstGeom prst="rect">
              <a:avLst/>
            </a:prstGeom>
          </p:spPr>
          <p:txBody>
            <a:bodyPr anchor="ctr" rtlCol="false" tIns="0" lIns="0" bIns="0" rIns="0"/>
            <a:lstStyle/>
            <a:p>
              <a:pPr algn="l">
                <a:lnSpc>
                  <a:spcPts val="2610"/>
                </a:lnSpc>
              </a:pPr>
              <a:r>
                <a:rPr lang="en-US" sz="2175">
                  <a:solidFill>
                    <a:srgbClr val="2B2B2B"/>
                  </a:solidFill>
                  <a:latin typeface="Open Sans"/>
                  <a:ea typeface="Open Sans"/>
                  <a:cs typeface="Open Sans"/>
                  <a:sym typeface="Open Sans"/>
                </a:rPr>
                <a:t>1.  Thu thập dữ liệu</a:t>
              </a:r>
            </a:p>
          </p:txBody>
        </p:sp>
      </p:grpSp>
      <p:grpSp>
        <p:nvGrpSpPr>
          <p:cNvPr name="Group 18" id="18"/>
          <p:cNvGrpSpPr/>
          <p:nvPr/>
        </p:nvGrpSpPr>
        <p:grpSpPr>
          <a:xfrm rot="0">
            <a:off x="4507230" y="3821430"/>
            <a:ext cx="38100" cy="284988"/>
            <a:chOff x="0" y="0"/>
            <a:chExt cx="50800" cy="379984"/>
          </a:xfrm>
        </p:grpSpPr>
        <p:sp>
          <p:nvSpPr>
            <p:cNvPr name="Freeform 19" id="19"/>
            <p:cNvSpPr/>
            <p:nvPr/>
          </p:nvSpPr>
          <p:spPr>
            <a:xfrm flipH="false" flipV="false" rot="0">
              <a:off x="0" y="0"/>
              <a:ext cx="50800" cy="379984"/>
            </a:xfrm>
            <a:custGeom>
              <a:avLst/>
              <a:gdLst/>
              <a:ahLst/>
              <a:cxnLst/>
              <a:rect r="r" b="b" t="t" l="l"/>
              <a:pathLst>
                <a:path h="379984" w="50800">
                  <a:moveTo>
                    <a:pt x="0" y="0"/>
                  </a:moveTo>
                  <a:lnTo>
                    <a:pt x="50800" y="379984"/>
                  </a:lnTo>
                </a:path>
              </a:pathLst>
            </a:custGeom>
            <a:blipFill>
              <a:blip r:embed="rId3">
                <a:alphaModFix amt="0"/>
              </a:blip>
              <a:stretch>
                <a:fillRect l="-909710" t="0" r="-909710" b="0"/>
              </a:stretch>
            </a:blipFill>
            <a:ln w="38100" cap="sq">
              <a:solidFill>
                <a:srgbClr val="990011"/>
              </a:solidFill>
              <a:prstDash val="solid"/>
              <a:miter/>
            </a:ln>
          </p:spPr>
        </p:sp>
      </p:grpSp>
      <p:grpSp>
        <p:nvGrpSpPr>
          <p:cNvPr name="Group 20" id="20"/>
          <p:cNvGrpSpPr/>
          <p:nvPr/>
        </p:nvGrpSpPr>
        <p:grpSpPr>
          <a:xfrm rot="0">
            <a:off x="813435" y="4077843"/>
            <a:ext cx="7425690" cy="842010"/>
            <a:chOff x="0" y="0"/>
            <a:chExt cx="9900920" cy="1122680"/>
          </a:xfrm>
        </p:grpSpPr>
        <p:sp>
          <p:nvSpPr>
            <p:cNvPr name="Freeform 21" id="21"/>
            <p:cNvSpPr/>
            <p:nvPr/>
          </p:nvSpPr>
          <p:spPr>
            <a:xfrm flipH="false" flipV="false" rot="0">
              <a:off x="0" y="0"/>
              <a:ext cx="9900920" cy="1122680"/>
            </a:xfrm>
            <a:custGeom>
              <a:avLst/>
              <a:gdLst/>
              <a:ahLst/>
              <a:cxnLst/>
              <a:rect r="r" b="b" t="t" l="l"/>
              <a:pathLst>
                <a:path h="1122680" w="9900920">
                  <a:moveTo>
                    <a:pt x="0" y="0"/>
                  </a:moveTo>
                  <a:lnTo>
                    <a:pt x="9900920" y="0"/>
                  </a:lnTo>
                  <a:lnTo>
                    <a:pt x="9900920" y="1122680"/>
                  </a:lnTo>
                  <a:lnTo>
                    <a:pt x="0" y="1122680"/>
                  </a:lnTo>
                  <a:close/>
                </a:path>
              </a:pathLst>
            </a:custGeom>
            <a:solidFill>
              <a:srgbClr val="FFFFFF"/>
            </a:solidFill>
            <a:ln w="19050" cap="sq">
              <a:solidFill>
                <a:srgbClr val="EAD9D9"/>
              </a:solidFill>
              <a:prstDash val="solid"/>
              <a:miter/>
            </a:ln>
          </p:spPr>
        </p:sp>
      </p:grpSp>
      <p:grpSp>
        <p:nvGrpSpPr>
          <p:cNvPr name="Group 22" id="22"/>
          <p:cNvGrpSpPr/>
          <p:nvPr/>
        </p:nvGrpSpPr>
        <p:grpSpPr>
          <a:xfrm rot="0">
            <a:off x="1165860" y="4087368"/>
            <a:ext cx="6858000" cy="822960"/>
            <a:chOff x="0" y="0"/>
            <a:chExt cx="9144000" cy="1097280"/>
          </a:xfrm>
        </p:grpSpPr>
        <p:sp>
          <p:nvSpPr>
            <p:cNvPr name="Freeform 23" id="23"/>
            <p:cNvSpPr/>
            <p:nvPr/>
          </p:nvSpPr>
          <p:spPr>
            <a:xfrm flipH="false" flipV="false" rot="0">
              <a:off x="0" y="0"/>
              <a:ext cx="9144000" cy="1097280"/>
            </a:xfrm>
            <a:custGeom>
              <a:avLst/>
              <a:gdLst/>
              <a:ahLst/>
              <a:cxnLst/>
              <a:rect r="r" b="b" t="t" l="l"/>
              <a:pathLst>
                <a:path h="1097280" w="9144000">
                  <a:moveTo>
                    <a:pt x="0" y="0"/>
                  </a:moveTo>
                  <a:lnTo>
                    <a:pt x="9144000" y="0"/>
                  </a:lnTo>
                  <a:lnTo>
                    <a:pt x="9144000" y="1097280"/>
                  </a:lnTo>
                  <a:lnTo>
                    <a:pt x="0" y="1097280"/>
                  </a:lnTo>
                  <a:close/>
                </a:path>
              </a:pathLst>
            </a:custGeom>
            <a:blipFill>
              <a:blip r:embed="rId3">
                <a:alphaModFix amt="0"/>
              </a:blip>
              <a:stretch>
                <a:fillRect l="0" t="-112375" r="0" b="-112375"/>
              </a:stretch>
            </a:blipFill>
          </p:spPr>
        </p:sp>
        <p:sp>
          <p:nvSpPr>
            <p:cNvPr name="TextBox 24" id="24"/>
            <p:cNvSpPr txBox="true"/>
            <p:nvPr/>
          </p:nvSpPr>
          <p:spPr>
            <a:xfrm>
              <a:off x="0" y="0"/>
              <a:ext cx="9144000" cy="1097280"/>
            </a:xfrm>
            <a:prstGeom prst="rect">
              <a:avLst/>
            </a:prstGeom>
          </p:spPr>
          <p:txBody>
            <a:bodyPr anchor="ctr" rtlCol="false" tIns="0" lIns="0" bIns="0" rIns="0"/>
            <a:lstStyle/>
            <a:p>
              <a:pPr algn="l">
                <a:lnSpc>
                  <a:spcPts val="2610"/>
                </a:lnSpc>
              </a:pPr>
              <a:r>
                <a:rPr lang="en-US" sz="2175">
                  <a:solidFill>
                    <a:srgbClr val="2B2B2B"/>
                  </a:solidFill>
                  <a:latin typeface="Open Sans"/>
                  <a:ea typeface="Open Sans"/>
                  <a:cs typeface="Open Sans"/>
                  <a:sym typeface="Open Sans"/>
                </a:rPr>
                <a:t>2.  Tiền xử lý dữ liệu</a:t>
              </a:r>
            </a:p>
          </p:txBody>
        </p:sp>
      </p:grpSp>
      <p:grpSp>
        <p:nvGrpSpPr>
          <p:cNvPr name="Group 25" id="25"/>
          <p:cNvGrpSpPr/>
          <p:nvPr/>
        </p:nvGrpSpPr>
        <p:grpSpPr>
          <a:xfrm rot="0">
            <a:off x="4507230" y="4891278"/>
            <a:ext cx="38100" cy="284988"/>
            <a:chOff x="0" y="0"/>
            <a:chExt cx="50800" cy="379984"/>
          </a:xfrm>
        </p:grpSpPr>
        <p:sp>
          <p:nvSpPr>
            <p:cNvPr name="Freeform 26" id="26"/>
            <p:cNvSpPr/>
            <p:nvPr/>
          </p:nvSpPr>
          <p:spPr>
            <a:xfrm flipH="false" flipV="false" rot="0">
              <a:off x="0" y="0"/>
              <a:ext cx="50800" cy="379984"/>
            </a:xfrm>
            <a:custGeom>
              <a:avLst/>
              <a:gdLst/>
              <a:ahLst/>
              <a:cxnLst/>
              <a:rect r="r" b="b" t="t" l="l"/>
              <a:pathLst>
                <a:path h="379984" w="50800">
                  <a:moveTo>
                    <a:pt x="0" y="0"/>
                  </a:moveTo>
                  <a:lnTo>
                    <a:pt x="50800" y="379984"/>
                  </a:lnTo>
                </a:path>
              </a:pathLst>
            </a:custGeom>
            <a:blipFill>
              <a:blip r:embed="rId3">
                <a:alphaModFix amt="0"/>
              </a:blip>
              <a:stretch>
                <a:fillRect l="-909710" t="0" r="-909710" b="0"/>
              </a:stretch>
            </a:blipFill>
            <a:ln w="38100" cap="sq">
              <a:solidFill>
                <a:srgbClr val="990011"/>
              </a:solidFill>
              <a:prstDash val="solid"/>
              <a:miter/>
            </a:ln>
          </p:spPr>
        </p:sp>
      </p:grpSp>
      <p:grpSp>
        <p:nvGrpSpPr>
          <p:cNvPr name="Group 27" id="27"/>
          <p:cNvGrpSpPr/>
          <p:nvPr/>
        </p:nvGrpSpPr>
        <p:grpSpPr>
          <a:xfrm rot="0">
            <a:off x="813435" y="5147691"/>
            <a:ext cx="7425690" cy="842010"/>
            <a:chOff x="0" y="0"/>
            <a:chExt cx="9900920" cy="1122680"/>
          </a:xfrm>
        </p:grpSpPr>
        <p:sp>
          <p:nvSpPr>
            <p:cNvPr name="Freeform 28" id="28"/>
            <p:cNvSpPr/>
            <p:nvPr/>
          </p:nvSpPr>
          <p:spPr>
            <a:xfrm flipH="false" flipV="false" rot="0">
              <a:off x="0" y="0"/>
              <a:ext cx="9900920" cy="1122680"/>
            </a:xfrm>
            <a:custGeom>
              <a:avLst/>
              <a:gdLst/>
              <a:ahLst/>
              <a:cxnLst/>
              <a:rect r="r" b="b" t="t" l="l"/>
              <a:pathLst>
                <a:path h="1122680" w="9900920">
                  <a:moveTo>
                    <a:pt x="0" y="0"/>
                  </a:moveTo>
                  <a:lnTo>
                    <a:pt x="9900920" y="0"/>
                  </a:lnTo>
                  <a:lnTo>
                    <a:pt x="9900920" y="1122680"/>
                  </a:lnTo>
                  <a:lnTo>
                    <a:pt x="0" y="1122680"/>
                  </a:lnTo>
                  <a:close/>
                </a:path>
              </a:pathLst>
            </a:custGeom>
            <a:solidFill>
              <a:srgbClr val="FFFFFF"/>
            </a:solidFill>
            <a:ln w="19050" cap="sq">
              <a:solidFill>
                <a:srgbClr val="EAD9D9"/>
              </a:solidFill>
              <a:prstDash val="solid"/>
              <a:miter/>
            </a:ln>
          </p:spPr>
        </p:sp>
      </p:grpSp>
      <p:grpSp>
        <p:nvGrpSpPr>
          <p:cNvPr name="Group 29" id="29"/>
          <p:cNvGrpSpPr/>
          <p:nvPr/>
        </p:nvGrpSpPr>
        <p:grpSpPr>
          <a:xfrm rot="0">
            <a:off x="1165860" y="5157216"/>
            <a:ext cx="6858000" cy="822960"/>
            <a:chOff x="0" y="0"/>
            <a:chExt cx="9144000" cy="1097280"/>
          </a:xfrm>
        </p:grpSpPr>
        <p:sp>
          <p:nvSpPr>
            <p:cNvPr name="Freeform 30" id="30"/>
            <p:cNvSpPr/>
            <p:nvPr/>
          </p:nvSpPr>
          <p:spPr>
            <a:xfrm flipH="false" flipV="false" rot="0">
              <a:off x="0" y="0"/>
              <a:ext cx="9144000" cy="1097280"/>
            </a:xfrm>
            <a:custGeom>
              <a:avLst/>
              <a:gdLst/>
              <a:ahLst/>
              <a:cxnLst/>
              <a:rect r="r" b="b" t="t" l="l"/>
              <a:pathLst>
                <a:path h="1097280" w="9144000">
                  <a:moveTo>
                    <a:pt x="0" y="0"/>
                  </a:moveTo>
                  <a:lnTo>
                    <a:pt x="9144000" y="0"/>
                  </a:lnTo>
                  <a:lnTo>
                    <a:pt x="9144000" y="1097280"/>
                  </a:lnTo>
                  <a:lnTo>
                    <a:pt x="0" y="1097280"/>
                  </a:lnTo>
                  <a:close/>
                </a:path>
              </a:pathLst>
            </a:custGeom>
            <a:blipFill>
              <a:blip r:embed="rId3">
                <a:alphaModFix amt="0"/>
              </a:blip>
              <a:stretch>
                <a:fillRect l="0" t="-112375" r="0" b="-112375"/>
              </a:stretch>
            </a:blipFill>
          </p:spPr>
        </p:sp>
        <p:sp>
          <p:nvSpPr>
            <p:cNvPr name="TextBox 31" id="31"/>
            <p:cNvSpPr txBox="true"/>
            <p:nvPr/>
          </p:nvSpPr>
          <p:spPr>
            <a:xfrm>
              <a:off x="0" y="0"/>
              <a:ext cx="9144000" cy="1097280"/>
            </a:xfrm>
            <a:prstGeom prst="rect">
              <a:avLst/>
            </a:prstGeom>
          </p:spPr>
          <p:txBody>
            <a:bodyPr anchor="ctr" rtlCol="false" tIns="0" lIns="0" bIns="0" rIns="0"/>
            <a:lstStyle/>
            <a:p>
              <a:pPr algn="l">
                <a:lnSpc>
                  <a:spcPts val="2610"/>
                </a:lnSpc>
              </a:pPr>
              <a:r>
                <a:rPr lang="en-US" sz="2175">
                  <a:solidFill>
                    <a:srgbClr val="2B2B2B"/>
                  </a:solidFill>
                  <a:latin typeface="Open Sans"/>
                  <a:ea typeface="Open Sans"/>
                  <a:cs typeface="Open Sans"/>
                  <a:sym typeface="Open Sans"/>
                </a:rPr>
                <a:t>3.  EDA</a:t>
              </a:r>
            </a:p>
          </p:txBody>
        </p:sp>
      </p:grpSp>
      <p:grpSp>
        <p:nvGrpSpPr>
          <p:cNvPr name="Group 32" id="32"/>
          <p:cNvGrpSpPr/>
          <p:nvPr/>
        </p:nvGrpSpPr>
        <p:grpSpPr>
          <a:xfrm rot="0">
            <a:off x="4507230" y="5961126"/>
            <a:ext cx="38100" cy="284988"/>
            <a:chOff x="0" y="0"/>
            <a:chExt cx="50800" cy="379984"/>
          </a:xfrm>
        </p:grpSpPr>
        <p:sp>
          <p:nvSpPr>
            <p:cNvPr name="Freeform 33" id="33"/>
            <p:cNvSpPr/>
            <p:nvPr/>
          </p:nvSpPr>
          <p:spPr>
            <a:xfrm flipH="false" flipV="false" rot="0">
              <a:off x="0" y="0"/>
              <a:ext cx="50800" cy="379984"/>
            </a:xfrm>
            <a:custGeom>
              <a:avLst/>
              <a:gdLst/>
              <a:ahLst/>
              <a:cxnLst/>
              <a:rect r="r" b="b" t="t" l="l"/>
              <a:pathLst>
                <a:path h="379984" w="50800">
                  <a:moveTo>
                    <a:pt x="0" y="0"/>
                  </a:moveTo>
                  <a:lnTo>
                    <a:pt x="50800" y="379984"/>
                  </a:lnTo>
                </a:path>
              </a:pathLst>
            </a:custGeom>
            <a:blipFill>
              <a:blip r:embed="rId3">
                <a:alphaModFix amt="0"/>
              </a:blip>
              <a:stretch>
                <a:fillRect l="-909710" t="0" r="-909710" b="0"/>
              </a:stretch>
            </a:blipFill>
            <a:ln w="38100" cap="sq">
              <a:solidFill>
                <a:srgbClr val="990011"/>
              </a:solidFill>
              <a:prstDash val="solid"/>
              <a:miter/>
            </a:ln>
          </p:spPr>
        </p:sp>
      </p:grpSp>
      <p:grpSp>
        <p:nvGrpSpPr>
          <p:cNvPr name="Group 34" id="34"/>
          <p:cNvGrpSpPr/>
          <p:nvPr/>
        </p:nvGrpSpPr>
        <p:grpSpPr>
          <a:xfrm rot="0">
            <a:off x="813435" y="6217539"/>
            <a:ext cx="7425690" cy="842010"/>
            <a:chOff x="0" y="0"/>
            <a:chExt cx="9900920" cy="1122680"/>
          </a:xfrm>
        </p:grpSpPr>
        <p:sp>
          <p:nvSpPr>
            <p:cNvPr name="Freeform 35" id="35"/>
            <p:cNvSpPr/>
            <p:nvPr/>
          </p:nvSpPr>
          <p:spPr>
            <a:xfrm flipH="false" flipV="false" rot="0">
              <a:off x="0" y="0"/>
              <a:ext cx="9900920" cy="1122680"/>
            </a:xfrm>
            <a:custGeom>
              <a:avLst/>
              <a:gdLst/>
              <a:ahLst/>
              <a:cxnLst/>
              <a:rect r="r" b="b" t="t" l="l"/>
              <a:pathLst>
                <a:path h="1122680" w="9900920">
                  <a:moveTo>
                    <a:pt x="0" y="0"/>
                  </a:moveTo>
                  <a:lnTo>
                    <a:pt x="9900920" y="0"/>
                  </a:lnTo>
                  <a:lnTo>
                    <a:pt x="9900920" y="1122680"/>
                  </a:lnTo>
                  <a:lnTo>
                    <a:pt x="0" y="1122680"/>
                  </a:lnTo>
                  <a:close/>
                </a:path>
              </a:pathLst>
            </a:custGeom>
            <a:solidFill>
              <a:srgbClr val="FFFFFF"/>
            </a:solidFill>
            <a:ln w="19050" cap="sq">
              <a:solidFill>
                <a:srgbClr val="EAD9D9"/>
              </a:solidFill>
              <a:prstDash val="solid"/>
              <a:miter/>
            </a:ln>
          </p:spPr>
        </p:sp>
      </p:grpSp>
      <p:grpSp>
        <p:nvGrpSpPr>
          <p:cNvPr name="Group 36" id="36"/>
          <p:cNvGrpSpPr/>
          <p:nvPr/>
        </p:nvGrpSpPr>
        <p:grpSpPr>
          <a:xfrm rot="0">
            <a:off x="1165860" y="6227064"/>
            <a:ext cx="6858000" cy="822960"/>
            <a:chOff x="0" y="0"/>
            <a:chExt cx="9144000" cy="1097280"/>
          </a:xfrm>
        </p:grpSpPr>
        <p:sp>
          <p:nvSpPr>
            <p:cNvPr name="Freeform 37" id="37"/>
            <p:cNvSpPr/>
            <p:nvPr/>
          </p:nvSpPr>
          <p:spPr>
            <a:xfrm flipH="false" flipV="false" rot="0">
              <a:off x="0" y="0"/>
              <a:ext cx="9144000" cy="1097280"/>
            </a:xfrm>
            <a:custGeom>
              <a:avLst/>
              <a:gdLst/>
              <a:ahLst/>
              <a:cxnLst/>
              <a:rect r="r" b="b" t="t" l="l"/>
              <a:pathLst>
                <a:path h="1097280" w="9144000">
                  <a:moveTo>
                    <a:pt x="0" y="0"/>
                  </a:moveTo>
                  <a:lnTo>
                    <a:pt x="9144000" y="0"/>
                  </a:lnTo>
                  <a:lnTo>
                    <a:pt x="9144000" y="1097280"/>
                  </a:lnTo>
                  <a:lnTo>
                    <a:pt x="0" y="1097280"/>
                  </a:lnTo>
                  <a:close/>
                </a:path>
              </a:pathLst>
            </a:custGeom>
            <a:blipFill>
              <a:blip r:embed="rId3">
                <a:alphaModFix amt="0"/>
              </a:blip>
              <a:stretch>
                <a:fillRect l="0" t="-112375" r="0" b="-112375"/>
              </a:stretch>
            </a:blipFill>
          </p:spPr>
        </p:sp>
        <p:sp>
          <p:nvSpPr>
            <p:cNvPr name="TextBox 38" id="38"/>
            <p:cNvSpPr txBox="true"/>
            <p:nvPr/>
          </p:nvSpPr>
          <p:spPr>
            <a:xfrm>
              <a:off x="0" y="0"/>
              <a:ext cx="9144000" cy="1097280"/>
            </a:xfrm>
            <a:prstGeom prst="rect">
              <a:avLst/>
            </a:prstGeom>
          </p:spPr>
          <p:txBody>
            <a:bodyPr anchor="ctr" rtlCol="false" tIns="0" lIns="0" bIns="0" rIns="0"/>
            <a:lstStyle/>
            <a:p>
              <a:pPr algn="l">
                <a:lnSpc>
                  <a:spcPts val="2610"/>
                </a:lnSpc>
              </a:pPr>
              <a:r>
                <a:rPr lang="en-US" sz="2175">
                  <a:solidFill>
                    <a:srgbClr val="2B2B2B"/>
                  </a:solidFill>
                  <a:latin typeface="Open Sans"/>
                  <a:ea typeface="Open Sans"/>
                  <a:cs typeface="Open Sans"/>
                  <a:sym typeface="Open Sans"/>
                </a:rPr>
                <a:t>4.  Phân tích tương quan</a:t>
              </a:r>
            </a:p>
          </p:txBody>
        </p:sp>
      </p:grpSp>
      <p:grpSp>
        <p:nvGrpSpPr>
          <p:cNvPr name="Group 39" id="39"/>
          <p:cNvGrpSpPr/>
          <p:nvPr/>
        </p:nvGrpSpPr>
        <p:grpSpPr>
          <a:xfrm rot="0">
            <a:off x="4507230" y="7030974"/>
            <a:ext cx="38100" cy="284988"/>
            <a:chOff x="0" y="0"/>
            <a:chExt cx="50800" cy="379984"/>
          </a:xfrm>
        </p:grpSpPr>
        <p:sp>
          <p:nvSpPr>
            <p:cNvPr name="Freeform 40" id="40"/>
            <p:cNvSpPr/>
            <p:nvPr/>
          </p:nvSpPr>
          <p:spPr>
            <a:xfrm flipH="false" flipV="false" rot="0">
              <a:off x="0" y="0"/>
              <a:ext cx="50800" cy="379984"/>
            </a:xfrm>
            <a:custGeom>
              <a:avLst/>
              <a:gdLst/>
              <a:ahLst/>
              <a:cxnLst/>
              <a:rect r="r" b="b" t="t" l="l"/>
              <a:pathLst>
                <a:path h="379984" w="50800">
                  <a:moveTo>
                    <a:pt x="0" y="0"/>
                  </a:moveTo>
                  <a:lnTo>
                    <a:pt x="50800" y="379984"/>
                  </a:lnTo>
                </a:path>
              </a:pathLst>
            </a:custGeom>
            <a:blipFill>
              <a:blip r:embed="rId3">
                <a:alphaModFix amt="0"/>
              </a:blip>
              <a:stretch>
                <a:fillRect l="-909710" t="0" r="-909710" b="0"/>
              </a:stretch>
            </a:blipFill>
            <a:ln w="38100" cap="sq">
              <a:solidFill>
                <a:srgbClr val="990011"/>
              </a:solidFill>
              <a:prstDash val="solid"/>
              <a:miter/>
            </a:ln>
          </p:spPr>
        </p:sp>
      </p:grpSp>
      <p:grpSp>
        <p:nvGrpSpPr>
          <p:cNvPr name="Group 41" id="41"/>
          <p:cNvGrpSpPr/>
          <p:nvPr/>
        </p:nvGrpSpPr>
        <p:grpSpPr>
          <a:xfrm rot="0">
            <a:off x="813435" y="7287387"/>
            <a:ext cx="7425690" cy="842010"/>
            <a:chOff x="0" y="0"/>
            <a:chExt cx="9900920" cy="1122680"/>
          </a:xfrm>
        </p:grpSpPr>
        <p:sp>
          <p:nvSpPr>
            <p:cNvPr name="Freeform 42" id="42"/>
            <p:cNvSpPr/>
            <p:nvPr/>
          </p:nvSpPr>
          <p:spPr>
            <a:xfrm flipH="false" flipV="false" rot="0">
              <a:off x="0" y="0"/>
              <a:ext cx="9900920" cy="1122680"/>
            </a:xfrm>
            <a:custGeom>
              <a:avLst/>
              <a:gdLst/>
              <a:ahLst/>
              <a:cxnLst/>
              <a:rect r="r" b="b" t="t" l="l"/>
              <a:pathLst>
                <a:path h="1122680" w="9900920">
                  <a:moveTo>
                    <a:pt x="0" y="0"/>
                  </a:moveTo>
                  <a:lnTo>
                    <a:pt x="9900920" y="0"/>
                  </a:lnTo>
                  <a:lnTo>
                    <a:pt x="9900920" y="1122680"/>
                  </a:lnTo>
                  <a:lnTo>
                    <a:pt x="0" y="1122680"/>
                  </a:lnTo>
                  <a:close/>
                </a:path>
              </a:pathLst>
            </a:custGeom>
            <a:solidFill>
              <a:srgbClr val="FFFFFF"/>
            </a:solidFill>
            <a:ln w="19050" cap="sq">
              <a:solidFill>
                <a:srgbClr val="EAD9D9"/>
              </a:solidFill>
              <a:prstDash val="solid"/>
              <a:miter/>
            </a:ln>
          </p:spPr>
        </p:sp>
      </p:grpSp>
      <p:grpSp>
        <p:nvGrpSpPr>
          <p:cNvPr name="Group 43" id="43"/>
          <p:cNvGrpSpPr/>
          <p:nvPr/>
        </p:nvGrpSpPr>
        <p:grpSpPr>
          <a:xfrm rot="0">
            <a:off x="1165860" y="7296912"/>
            <a:ext cx="6858000" cy="822960"/>
            <a:chOff x="0" y="0"/>
            <a:chExt cx="9144000" cy="1097280"/>
          </a:xfrm>
        </p:grpSpPr>
        <p:sp>
          <p:nvSpPr>
            <p:cNvPr name="Freeform 44" id="44"/>
            <p:cNvSpPr/>
            <p:nvPr/>
          </p:nvSpPr>
          <p:spPr>
            <a:xfrm flipH="false" flipV="false" rot="0">
              <a:off x="0" y="0"/>
              <a:ext cx="9144000" cy="1097280"/>
            </a:xfrm>
            <a:custGeom>
              <a:avLst/>
              <a:gdLst/>
              <a:ahLst/>
              <a:cxnLst/>
              <a:rect r="r" b="b" t="t" l="l"/>
              <a:pathLst>
                <a:path h="1097280" w="9144000">
                  <a:moveTo>
                    <a:pt x="0" y="0"/>
                  </a:moveTo>
                  <a:lnTo>
                    <a:pt x="9144000" y="0"/>
                  </a:lnTo>
                  <a:lnTo>
                    <a:pt x="9144000" y="1097280"/>
                  </a:lnTo>
                  <a:lnTo>
                    <a:pt x="0" y="1097280"/>
                  </a:lnTo>
                  <a:close/>
                </a:path>
              </a:pathLst>
            </a:custGeom>
            <a:blipFill>
              <a:blip r:embed="rId3">
                <a:alphaModFix amt="0"/>
              </a:blip>
              <a:stretch>
                <a:fillRect l="0" t="-112375" r="0" b="-112375"/>
              </a:stretch>
            </a:blipFill>
          </p:spPr>
        </p:sp>
        <p:sp>
          <p:nvSpPr>
            <p:cNvPr name="TextBox 45" id="45"/>
            <p:cNvSpPr txBox="true"/>
            <p:nvPr/>
          </p:nvSpPr>
          <p:spPr>
            <a:xfrm>
              <a:off x="0" y="0"/>
              <a:ext cx="9144000" cy="1097280"/>
            </a:xfrm>
            <a:prstGeom prst="rect">
              <a:avLst/>
            </a:prstGeom>
          </p:spPr>
          <p:txBody>
            <a:bodyPr anchor="ctr" rtlCol="false" tIns="0" lIns="0" bIns="0" rIns="0"/>
            <a:lstStyle/>
            <a:p>
              <a:pPr algn="l">
                <a:lnSpc>
                  <a:spcPts val="2610"/>
                </a:lnSpc>
              </a:pPr>
              <a:r>
                <a:rPr lang="en-US" sz="2175">
                  <a:solidFill>
                    <a:srgbClr val="2B2B2B"/>
                  </a:solidFill>
                  <a:latin typeface="Open Sans"/>
                  <a:ea typeface="Open Sans"/>
                  <a:cs typeface="Open Sans"/>
                  <a:sym typeface="Open Sans"/>
                </a:rPr>
                <a:t>5.  Kiểm định thống kê</a:t>
              </a:r>
            </a:p>
          </p:txBody>
        </p:sp>
      </p:grpSp>
      <p:grpSp>
        <p:nvGrpSpPr>
          <p:cNvPr name="Group 46" id="46"/>
          <p:cNvGrpSpPr/>
          <p:nvPr/>
        </p:nvGrpSpPr>
        <p:grpSpPr>
          <a:xfrm rot="0">
            <a:off x="4507230" y="8100822"/>
            <a:ext cx="38100" cy="284988"/>
            <a:chOff x="0" y="0"/>
            <a:chExt cx="50800" cy="379984"/>
          </a:xfrm>
        </p:grpSpPr>
        <p:sp>
          <p:nvSpPr>
            <p:cNvPr name="Freeform 47" id="47"/>
            <p:cNvSpPr/>
            <p:nvPr/>
          </p:nvSpPr>
          <p:spPr>
            <a:xfrm flipH="false" flipV="false" rot="0">
              <a:off x="0" y="0"/>
              <a:ext cx="50800" cy="379984"/>
            </a:xfrm>
            <a:custGeom>
              <a:avLst/>
              <a:gdLst/>
              <a:ahLst/>
              <a:cxnLst/>
              <a:rect r="r" b="b" t="t" l="l"/>
              <a:pathLst>
                <a:path h="379984" w="50800">
                  <a:moveTo>
                    <a:pt x="0" y="0"/>
                  </a:moveTo>
                  <a:lnTo>
                    <a:pt x="50800" y="379984"/>
                  </a:lnTo>
                </a:path>
              </a:pathLst>
            </a:custGeom>
            <a:blipFill>
              <a:blip r:embed="rId3">
                <a:alphaModFix amt="0"/>
              </a:blip>
              <a:stretch>
                <a:fillRect l="-909710" t="0" r="-909710" b="0"/>
              </a:stretch>
            </a:blipFill>
            <a:ln w="38100" cap="sq">
              <a:solidFill>
                <a:srgbClr val="990011"/>
              </a:solidFill>
              <a:prstDash val="solid"/>
              <a:miter/>
            </a:ln>
          </p:spPr>
        </p:sp>
      </p:grpSp>
      <p:grpSp>
        <p:nvGrpSpPr>
          <p:cNvPr name="Group 48" id="48"/>
          <p:cNvGrpSpPr/>
          <p:nvPr/>
        </p:nvGrpSpPr>
        <p:grpSpPr>
          <a:xfrm rot="0">
            <a:off x="813435" y="8357235"/>
            <a:ext cx="7425690" cy="842010"/>
            <a:chOff x="0" y="0"/>
            <a:chExt cx="9900920" cy="1122680"/>
          </a:xfrm>
        </p:grpSpPr>
        <p:sp>
          <p:nvSpPr>
            <p:cNvPr name="Freeform 49" id="49"/>
            <p:cNvSpPr/>
            <p:nvPr/>
          </p:nvSpPr>
          <p:spPr>
            <a:xfrm flipH="false" flipV="false" rot="0">
              <a:off x="0" y="0"/>
              <a:ext cx="9900920" cy="1122680"/>
            </a:xfrm>
            <a:custGeom>
              <a:avLst/>
              <a:gdLst/>
              <a:ahLst/>
              <a:cxnLst/>
              <a:rect r="r" b="b" t="t" l="l"/>
              <a:pathLst>
                <a:path h="1122680" w="9900920">
                  <a:moveTo>
                    <a:pt x="0" y="0"/>
                  </a:moveTo>
                  <a:lnTo>
                    <a:pt x="9900920" y="0"/>
                  </a:lnTo>
                  <a:lnTo>
                    <a:pt x="9900920" y="1122680"/>
                  </a:lnTo>
                  <a:lnTo>
                    <a:pt x="0" y="1122680"/>
                  </a:lnTo>
                  <a:close/>
                </a:path>
              </a:pathLst>
            </a:custGeom>
            <a:solidFill>
              <a:srgbClr val="990011"/>
            </a:solidFill>
            <a:ln w="19050" cap="sq">
              <a:solidFill>
                <a:srgbClr val="EAD9D9"/>
              </a:solidFill>
              <a:prstDash val="solid"/>
              <a:miter/>
            </a:ln>
          </p:spPr>
        </p:sp>
      </p:grpSp>
      <p:grpSp>
        <p:nvGrpSpPr>
          <p:cNvPr name="Group 50" id="50"/>
          <p:cNvGrpSpPr/>
          <p:nvPr/>
        </p:nvGrpSpPr>
        <p:grpSpPr>
          <a:xfrm rot="0">
            <a:off x="1165860" y="8366760"/>
            <a:ext cx="6858000" cy="822960"/>
            <a:chOff x="0" y="0"/>
            <a:chExt cx="9144000" cy="1097280"/>
          </a:xfrm>
        </p:grpSpPr>
        <p:sp>
          <p:nvSpPr>
            <p:cNvPr name="Freeform 51" id="51"/>
            <p:cNvSpPr/>
            <p:nvPr/>
          </p:nvSpPr>
          <p:spPr>
            <a:xfrm flipH="false" flipV="false" rot="0">
              <a:off x="0" y="0"/>
              <a:ext cx="9144000" cy="1097280"/>
            </a:xfrm>
            <a:custGeom>
              <a:avLst/>
              <a:gdLst/>
              <a:ahLst/>
              <a:cxnLst/>
              <a:rect r="r" b="b" t="t" l="l"/>
              <a:pathLst>
                <a:path h="1097280" w="9144000">
                  <a:moveTo>
                    <a:pt x="0" y="0"/>
                  </a:moveTo>
                  <a:lnTo>
                    <a:pt x="9144000" y="0"/>
                  </a:lnTo>
                  <a:lnTo>
                    <a:pt x="9144000" y="1097280"/>
                  </a:lnTo>
                  <a:lnTo>
                    <a:pt x="0" y="1097280"/>
                  </a:lnTo>
                  <a:close/>
                </a:path>
              </a:pathLst>
            </a:custGeom>
            <a:blipFill>
              <a:blip r:embed="rId3">
                <a:alphaModFix amt="0"/>
              </a:blip>
              <a:stretch>
                <a:fillRect l="0" t="-112375" r="0" b="-112375"/>
              </a:stretch>
            </a:blipFill>
          </p:spPr>
        </p:sp>
        <p:sp>
          <p:nvSpPr>
            <p:cNvPr name="TextBox 52" id="52"/>
            <p:cNvSpPr txBox="true"/>
            <p:nvPr/>
          </p:nvSpPr>
          <p:spPr>
            <a:xfrm>
              <a:off x="0" y="0"/>
              <a:ext cx="9144000" cy="1097280"/>
            </a:xfrm>
            <a:prstGeom prst="rect">
              <a:avLst/>
            </a:prstGeom>
          </p:spPr>
          <p:txBody>
            <a:bodyPr anchor="ctr" rtlCol="false" tIns="0" lIns="0" bIns="0" rIns="0"/>
            <a:lstStyle/>
            <a:p>
              <a:pPr algn="l">
                <a:lnSpc>
                  <a:spcPts val="2610"/>
                </a:lnSpc>
              </a:pPr>
              <a:r>
                <a:rPr lang="en-US" sz="2175" b="true">
                  <a:solidFill>
                    <a:srgbClr val="FFFFFF"/>
                  </a:solidFill>
                  <a:latin typeface="Open Sans Bold"/>
                  <a:ea typeface="Open Sans Bold"/>
                  <a:cs typeface="Open Sans Bold"/>
                  <a:sym typeface="Open Sans Bold"/>
                </a:rPr>
                <a:t>6.  Rút ra kết luận</a:t>
              </a:r>
            </a:p>
          </p:txBody>
        </p:sp>
      </p:grpSp>
      <p:grpSp>
        <p:nvGrpSpPr>
          <p:cNvPr name="Group 53" id="53"/>
          <p:cNvGrpSpPr/>
          <p:nvPr/>
        </p:nvGrpSpPr>
        <p:grpSpPr>
          <a:xfrm rot="0">
            <a:off x="9043035" y="3007995"/>
            <a:ext cx="4133850" cy="3722370"/>
            <a:chOff x="0" y="0"/>
            <a:chExt cx="5511800" cy="4963160"/>
          </a:xfrm>
        </p:grpSpPr>
        <p:sp>
          <p:nvSpPr>
            <p:cNvPr name="Freeform 54" id="54"/>
            <p:cNvSpPr/>
            <p:nvPr/>
          </p:nvSpPr>
          <p:spPr>
            <a:xfrm flipH="false" flipV="false" rot="0">
              <a:off x="0" y="0"/>
              <a:ext cx="5511800" cy="4963160"/>
            </a:xfrm>
            <a:custGeom>
              <a:avLst/>
              <a:gdLst/>
              <a:ahLst/>
              <a:cxnLst/>
              <a:rect r="r" b="b" t="t" l="l"/>
              <a:pathLst>
                <a:path h="4963160" w="5511800">
                  <a:moveTo>
                    <a:pt x="0" y="0"/>
                  </a:moveTo>
                  <a:lnTo>
                    <a:pt x="5511800" y="0"/>
                  </a:lnTo>
                  <a:lnTo>
                    <a:pt x="5511800" y="4963160"/>
                  </a:lnTo>
                  <a:lnTo>
                    <a:pt x="0" y="4963160"/>
                  </a:lnTo>
                  <a:close/>
                </a:path>
              </a:pathLst>
            </a:custGeom>
            <a:solidFill>
              <a:srgbClr val="FFFFFF"/>
            </a:solidFill>
            <a:ln w="19050" cap="sq">
              <a:solidFill>
                <a:srgbClr val="EAD9D9"/>
              </a:solidFill>
              <a:prstDash val="solid"/>
              <a:miter/>
            </a:ln>
          </p:spPr>
        </p:sp>
      </p:grpSp>
      <p:grpSp>
        <p:nvGrpSpPr>
          <p:cNvPr name="Group 55" id="55"/>
          <p:cNvGrpSpPr/>
          <p:nvPr/>
        </p:nvGrpSpPr>
        <p:grpSpPr>
          <a:xfrm rot="0">
            <a:off x="9052560" y="3017520"/>
            <a:ext cx="4114800" cy="754380"/>
            <a:chOff x="0" y="0"/>
            <a:chExt cx="5486400" cy="1005840"/>
          </a:xfrm>
        </p:grpSpPr>
        <p:sp>
          <p:nvSpPr>
            <p:cNvPr name="Freeform 56" id="56"/>
            <p:cNvSpPr/>
            <p:nvPr/>
          </p:nvSpPr>
          <p:spPr>
            <a:xfrm flipH="false" flipV="false" rot="0">
              <a:off x="0" y="0"/>
              <a:ext cx="5486400" cy="1005840"/>
            </a:xfrm>
            <a:custGeom>
              <a:avLst/>
              <a:gdLst/>
              <a:ahLst/>
              <a:cxnLst/>
              <a:rect r="r" b="b" t="t" l="l"/>
              <a:pathLst>
                <a:path h="1005840" w="5486400">
                  <a:moveTo>
                    <a:pt x="0" y="0"/>
                  </a:moveTo>
                  <a:lnTo>
                    <a:pt x="5486400" y="0"/>
                  </a:lnTo>
                  <a:lnTo>
                    <a:pt x="5486400" y="1005840"/>
                  </a:lnTo>
                  <a:lnTo>
                    <a:pt x="0" y="1005840"/>
                  </a:lnTo>
                  <a:close/>
                </a:path>
              </a:pathLst>
            </a:custGeom>
            <a:solidFill>
              <a:srgbClr val="2F3C7E"/>
            </a:solidFill>
          </p:spPr>
        </p:sp>
      </p:grpSp>
      <p:grpSp>
        <p:nvGrpSpPr>
          <p:cNvPr name="Group 57" id="57"/>
          <p:cNvGrpSpPr/>
          <p:nvPr/>
        </p:nvGrpSpPr>
        <p:grpSpPr>
          <a:xfrm rot="0">
            <a:off x="9326880" y="3017520"/>
            <a:ext cx="3566160" cy="754380"/>
            <a:chOff x="0" y="0"/>
            <a:chExt cx="4754880" cy="1005840"/>
          </a:xfrm>
        </p:grpSpPr>
        <p:sp>
          <p:nvSpPr>
            <p:cNvPr name="Freeform 58" id="58"/>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59" id="59"/>
            <p:cNvSpPr txBox="true"/>
            <p:nvPr/>
          </p:nvSpPr>
          <p:spPr>
            <a:xfrm>
              <a:off x="0" y="0"/>
              <a:ext cx="4754880" cy="1005840"/>
            </a:xfrm>
            <a:prstGeom prst="rect">
              <a:avLst/>
            </a:prstGeom>
          </p:spPr>
          <p:txBody>
            <a:bodyPr anchor="ctr" rtlCol="false" tIns="0" lIns="0" bIns="0" rIns="0"/>
            <a:lstStyle/>
            <a:p>
              <a:pPr algn="l">
                <a:lnSpc>
                  <a:spcPts val="2520"/>
                </a:lnSpc>
              </a:pPr>
              <a:r>
                <a:rPr lang="en-US" b="true" sz="2100" spc="150">
                  <a:solidFill>
                    <a:srgbClr val="FFFFFF"/>
                  </a:solidFill>
                  <a:latin typeface="Open Sans Bold"/>
                  <a:ea typeface="Open Sans Bold"/>
                  <a:cs typeface="Open Sans Bold"/>
                  <a:sym typeface="Open Sans Bold"/>
                </a:rPr>
                <a:t>CÔNG CỤ</a:t>
              </a:r>
            </a:p>
          </p:txBody>
        </p:sp>
      </p:grpSp>
      <p:sp>
        <p:nvSpPr>
          <p:cNvPr name="TextBox 60" id="60"/>
          <p:cNvSpPr txBox="true"/>
          <p:nvPr/>
        </p:nvSpPr>
        <p:spPr>
          <a:xfrm rot="0">
            <a:off x="9326880" y="3851910"/>
            <a:ext cx="3474720" cy="2341830"/>
          </a:xfrm>
          <a:prstGeom prst="rect">
            <a:avLst/>
          </a:prstGeom>
        </p:spPr>
        <p:txBody>
          <a:bodyPr anchor="t" rtlCol="false" tIns="0" lIns="0" bIns="0" rIns="0">
            <a:spAutoFit/>
          </a:bodyPr>
          <a:lstStyle/>
          <a:p>
            <a:pPr algn="l" marL="535431" indent="-267715" lvl="1">
              <a:lnSpc>
                <a:spcPts val="4786"/>
              </a:lnSpc>
              <a:buFont typeface="Arial"/>
              <a:buChar char="•"/>
            </a:pPr>
            <a:r>
              <a:rPr lang="en-US" sz="2479">
                <a:solidFill>
                  <a:srgbClr val="2B2B2B"/>
                </a:solidFill>
                <a:latin typeface="Open Sans"/>
                <a:ea typeface="Open Sans"/>
                <a:cs typeface="Open Sans"/>
                <a:sym typeface="Open Sans"/>
              </a:rPr>
              <a:t>Python</a:t>
            </a:r>
          </a:p>
          <a:p>
            <a:pPr algn="l" marL="535431" indent="-267715" lvl="1">
              <a:lnSpc>
                <a:spcPts val="4786"/>
              </a:lnSpc>
              <a:buFont typeface="Arial"/>
              <a:buChar char="•"/>
            </a:pPr>
            <a:r>
              <a:rPr lang="en-US" sz="2479">
                <a:solidFill>
                  <a:srgbClr val="2B2B2B"/>
                </a:solidFill>
                <a:latin typeface="Open Sans"/>
                <a:ea typeface="Open Sans"/>
                <a:cs typeface="Open Sans"/>
                <a:sym typeface="Open Sans"/>
              </a:rPr>
              <a:t>Pandas</a:t>
            </a:r>
          </a:p>
          <a:p>
            <a:pPr algn="l" marL="535431" indent="-267715" lvl="1">
              <a:lnSpc>
                <a:spcPts val="4786"/>
              </a:lnSpc>
              <a:buFont typeface="Arial"/>
              <a:buChar char="•"/>
            </a:pPr>
            <a:r>
              <a:rPr lang="en-US" sz="2479">
                <a:solidFill>
                  <a:srgbClr val="2B2B2B"/>
                </a:solidFill>
                <a:latin typeface="Open Sans"/>
                <a:ea typeface="Open Sans"/>
                <a:cs typeface="Open Sans"/>
                <a:sym typeface="Open Sans"/>
              </a:rPr>
              <a:t>Seaborn</a:t>
            </a:r>
          </a:p>
          <a:p>
            <a:pPr algn="l" marL="535431" indent="-267715" lvl="1">
              <a:lnSpc>
                <a:spcPts val="4786"/>
              </a:lnSpc>
              <a:buFont typeface="Arial"/>
              <a:buChar char="•"/>
            </a:pPr>
            <a:r>
              <a:rPr lang="en-US" sz="2479">
                <a:solidFill>
                  <a:srgbClr val="2B2B2B"/>
                </a:solidFill>
                <a:latin typeface="Open Sans"/>
                <a:ea typeface="Open Sans"/>
                <a:cs typeface="Open Sans"/>
                <a:sym typeface="Open Sans"/>
              </a:rPr>
              <a:t>SciPy</a:t>
            </a:r>
          </a:p>
        </p:txBody>
      </p:sp>
      <p:grpSp>
        <p:nvGrpSpPr>
          <p:cNvPr name="Group 61" id="61"/>
          <p:cNvGrpSpPr/>
          <p:nvPr/>
        </p:nvGrpSpPr>
        <p:grpSpPr>
          <a:xfrm rot="0">
            <a:off x="13363575" y="3007995"/>
            <a:ext cx="4065270" cy="3722370"/>
            <a:chOff x="0" y="0"/>
            <a:chExt cx="5420360" cy="4963160"/>
          </a:xfrm>
        </p:grpSpPr>
        <p:sp>
          <p:nvSpPr>
            <p:cNvPr name="Freeform 62" id="62"/>
            <p:cNvSpPr/>
            <p:nvPr/>
          </p:nvSpPr>
          <p:spPr>
            <a:xfrm flipH="false" flipV="false" rot="0">
              <a:off x="0" y="0"/>
              <a:ext cx="5420360" cy="4963160"/>
            </a:xfrm>
            <a:custGeom>
              <a:avLst/>
              <a:gdLst/>
              <a:ahLst/>
              <a:cxnLst/>
              <a:rect r="r" b="b" t="t" l="l"/>
              <a:pathLst>
                <a:path h="4963160" w="5420360">
                  <a:moveTo>
                    <a:pt x="0" y="0"/>
                  </a:moveTo>
                  <a:lnTo>
                    <a:pt x="5420360" y="0"/>
                  </a:lnTo>
                  <a:lnTo>
                    <a:pt x="5420360" y="4963160"/>
                  </a:lnTo>
                  <a:lnTo>
                    <a:pt x="0" y="4963160"/>
                  </a:lnTo>
                  <a:close/>
                </a:path>
              </a:pathLst>
            </a:custGeom>
            <a:solidFill>
              <a:srgbClr val="FFFFFF"/>
            </a:solidFill>
            <a:ln w="19050" cap="sq">
              <a:solidFill>
                <a:srgbClr val="EAD9D9"/>
              </a:solidFill>
              <a:prstDash val="solid"/>
              <a:miter/>
            </a:ln>
          </p:spPr>
        </p:sp>
      </p:grpSp>
      <p:grpSp>
        <p:nvGrpSpPr>
          <p:cNvPr name="Group 63" id="63"/>
          <p:cNvGrpSpPr/>
          <p:nvPr/>
        </p:nvGrpSpPr>
        <p:grpSpPr>
          <a:xfrm rot="0">
            <a:off x="13373100" y="3017520"/>
            <a:ext cx="4046220" cy="754380"/>
            <a:chOff x="0" y="0"/>
            <a:chExt cx="5394960" cy="1005840"/>
          </a:xfrm>
        </p:grpSpPr>
        <p:sp>
          <p:nvSpPr>
            <p:cNvPr name="Freeform 64" id="64"/>
            <p:cNvSpPr/>
            <p:nvPr/>
          </p:nvSpPr>
          <p:spPr>
            <a:xfrm flipH="false" flipV="false" rot="0">
              <a:off x="0" y="0"/>
              <a:ext cx="5394960" cy="1005840"/>
            </a:xfrm>
            <a:custGeom>
              <a:avLst/>
              <a:gdLst/>
              <a:ahLst/>
              <a:cxnLst/>
              <a:rect r="r" b="b" t="t" l="l"/>
              <a:pathLst>
                <a:path h="1005840" w="5394960">
                  <a:moveTo>
                    <a:pt x="0" y="0"/>
                  </a:moveTo>
                  <a:lnTo>
                    <a:pt x="5394960" y="0"/>
                  </a:lnTo>
                  <a:lnTo>
                    <a:pt x="5394960" y="1005840"/>
                  </a:lnTo>
                  <a:lnTo>
                    <a:pt x="0" y="1005840"/>
                  </a:lnTo>
                  <a:close/>
                </a:path>
              </a:pathLst>
            </a:custGeom>
            <a:solidFill>
              <a:srgbClr val="990011"/>
            </a:solidFill>
          </p:spPr>
        </p:sp>
      </p:grpSp>
      <p:grpSp>
        <p:nvGrpSpPr>
          <p:cNvPr name="Group 65" id="65"/>
          <p:cNvGrpSpPr/>
          <p:nvPr/>
        </p:nvGrpSpPr>
        <p:grpSpPr>
          <a:xfrm rot="0">
            <a:off x="13647420" y="3017520"/>
            <a:ext cx="3497580" cy="754380"/>
            <a:chOff x="0" y="0"/>
            <a:chExt cx="4663440" cy="1005840"/>
          </a:xfrm>
        </p:grpSpPr>
        <p:sp>
          <p:nvSpPr>
            <p:cNvPr name="Freeform 66" id="66"/>
            <p:cNvSpPr/>
            <p:nvPr/>
          </p:nvSpPr>
          <p:spPr>
            <a:xfrm flipH="false" flipV="false" rot="0">
              <a:off x="0" y="0"/>
              <a:ext cx="4663440" cy="1005840"/>
            </a:xfrm>
            <a:custGeom>
              <a:avLst/>
              <a:gdLst/>
              <a:ahLst/>
              <a:cxnLst/>
              <a:rect r="r" b="b" t="t" l="l"/>
              <a:pathLst>
                <a:path h="1005840" w="4663440">
                  <a:moveTo>
                    <a:pt x="0" y="0"/>
                  </a:moveTo>
                  <a:lnTo>
                    <a:pt x="4663440" y="0"/>
                  </a:lnTo>
                  <a:lnTo>
                    <a:pt x="4663440" y="1005840"/>
                  </a:lnTo>
                  <a:lnTo>
                    <a:pt x="0" y="1005840"/>
                  </a:lnTo>
                  <a:close/>
                </a:path>
              </a:pathLst>
            </a:custGeom>
            <a:blipFill>
              <a:blip r:embed="rId3">
                <a:alphaModFix amt="0"/>
              </a:blip>
              <a:stretch>
                <a:fillRect l="0" t="-40339" r="0" b="-40339"/>
              </a:stretch>
            </a:blipFill>
          </p:spPr>
        </p:sp>
        <p:sp>
          <p:nvSpPr>
            <p:cNvPr name="TextBox 67" id="67"/>
            <p:cNvSpPr txBox="true"/>
            <p:nvPr/>
          </p:nvSpPr>
          <p:spPr>
            <a:xfrm>
              <a:off x="0" y="0"/>
              <a:ext cx="4663440" cy="1005840"/>
            </a:xfrm>
            <a:prstGeom prst="rect">
              <a:avLst/>
            </a:prstGeom>
          </p:spPr>
          <p:txBody>
            <a:bodyPr anchor="ctr" rtlCol="false" tIns="0" lIns="0" bIns="0" rIns="0"/>
            <a:lstStyle/>
            <a:p>
              <a:pPr algn="l">
                <a:lnSpc>
                  <a:spcPts val="2520"/>
                </a:lnSpc>
              </a:pPr>
              <a:r>
                <a:rPr lang="en-US" b="true" sz="2100" spc="150">
                  <a:solidFill>
                    <a:srgbClr val="FFFFFF"/>
                  </a:solidFill>
                  <a:latin typeface="Open Sans Bold"/>
                  <a:ea typeface="Open Sans Bold"/>
                  <a:cs typeface="Open Sans Bold"/>
                  <a:sym typeface="Open Sans Bold"/>
                </a:rPr>
                <a:t>PHƯƠNG PHÁP</a:t>
              </a:r>
            </a:p>
          </p:txBody>
        </p:sp>
      </p:grpSp>
      <p:sp>
        <p:nvSpPr>
          <p:cNvPr name="TextBox 68" id="68"/>
          <p:cNvSpPr txBox="true"/>
          <p:nvPr/>
        </p:nvSpPr>
        <p:spPr>
          <a:xfrm rot="0">
            <a:off x="13807440" y="3909060"/>
            <a:ext cx="3246120" cy="2617851"/>
          </a:xfrm>
          <a:prstGeom prst="rect">
            <a:avLst/>
          </a:prstGeom>
        </p:spPr>
        <p:txBody>
          <a:bodyPr anchor="t" rtlCol="false" tIns="0" lIns="0" bIns="0" rIns="0">
            <a:spAutoFit/>
          </a:bodyPr>
          <a:lstStyle/>
          <a:p>
            <a:pPr algn="l" marL="447912" indent="-223956" lvl="1">
              <a:lnSpc>
                <a:spcPts val="4256"/>
              </a:lnSpc>
              <a:buFont typeface="Arial"/>
              <a:buChar char="•"/>
            </a:pPr>
            <a:r>
              <a:rPr lang="en-US" sz="2474">
                <a:solidFill>
                  <a:srgbClr val="2B2B2B"/>
                </a:solidFill>
                <a:latin typeface="Open Sans"/>
                <a:ea typeface="Open Sans"/>
                <a:cs typeface="Open Sans"/>
                <a:sym typeface="Open Sans"/>
              </a:rPr>
              <a:t>Thống kê mô tả</a:t>
            </a:r>
          </a:p>
          <a:p>
            <a:pPr algn="l" marL="447912" indent="-223956" lvl="1">
              <a:lnSpc>
                <a:spcPts val="4256"/>
              </a:lnSpc>
              <a:buFont typeface="Arial"/>
              <a:buChar char="•"/>
            </a:pPr>
            <a:r>
              <a:rPr lang="en-US" sz="2474">
                <a:solidFill>
                  <a:srgbClr val="2B2B2B"/>
                </a:solidFill>
                <a:latin typeface="Open Sans"/>
                <a:ea typeface="Open Sans"/>
                <a:cs typeface="Open Sans"/>
                <a:sym typeface="Open Sans"/>
              </a:rPr>
              <a:t>Correlation Analysis</a:t>
            </a:r>
          </a:p>
          <a:p>
            <a:pPr algn="l" marL="447912" indent="-223956" lvl="1">
              <a:lnSpc>
                <a:spcPts val="4256"/>
              </a:lnSpc>
              <a:buFont typeface="Arial"/>
              <a:buChar char="•"/>
            </a:pPr>
            <a:r>
              <a:rPr lang="en-US" sz="2474">
                <a:solidFill>
                  <a:srgbClr val="2B2B2B"/>
                </a:solidFill>
                <a:latin typeface="Open Sans"/>
                <a:ea typeface="Open Sans"/>
                <a:cs typeface="Open Sans"/>
                <a:sym typeface="Open Sans"/>
              </a:rPr>
              <a:t>Welch's t-test</a:t>
            </a:r>
          </a:p>
          <a:p>
            <a:pPr algn="l" marL="447912" indent="-223956" lvl="1">
              <a:lnSpc>
                <a:spcPts val="4256"/>
              </a:lnSpc>
              <a:buFont typeface="Arial"/>
              <a:buChar char="•"/>
            </a:pPr>
            <a:r>
              <a:rPr lang="en-US" sz="2474">
                <a:solidFill>
                  <a:srgbClr val="2B2B2B"/>
                </a:solidFill>
                <a:latin typeface="Open Sans"/>
                <a:ea typeface="Open Sans"/>
                <a:cs typeface="Open Sans"/>
                <a:sym typeface="Open Sans"/>
              </a:rPr>
              <a:t>Chi-square test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CF6F5"/>
        </a:solidFill>
      </p:bgPr>
    </p:bg>
    <p:spTree>
      <p:nvGrpSpPr>
        <p:cNvPr id="1" name=""/>
        <p:cNvGrpSpPr/>
        <p:nvPr/>
      </p:nvGrpSpPr>
      <p:grpSpPr>
        <a:xfrm>
          <a:off x="0" y="0"/>
          <a:ext cx="0" cy="0"/>
          <a:chOff x="0" y="0"/>
          <a:chExt cx="0" cy="0"/>
        </a:xfrm>
      </p:grpSpPr>
      <p:grpSp>
        <p:nvGrpSpPr>
          <p:cNvPr name="Group 2" id="2"/>
          <p:cNvGrpSpPr/>
          <p:nvPr/>
        </p:nvGrpSpPr>
        <p:grpSpPr>
          <a:xfrm rot="0">
            <a:off x="822960" y="754380"/>
            <a:ext cx="754380" cy="754380"/>
            <a:chOff x="0" y="0"/>
            <a:chExt cx="1005840" cy="1005840"/>
          </a:xfrm>
        </p:grpSpPr>
        <p:sp>
          <p:nvSpPr>
            <p:cNvPr name="Freeform 3" id="3"/>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990011"/>
            </a:solidFill>
          </p:spPr>
        </p:sp>
      </p:grpSp>
      <p:grpSp>
        <p:nvGrpSpPr>
          <p:cNvPr name="Group 4" id="4"/>
          <p:cNvGrpSpPr/>
          <p:nvPr/>
        </p:nvGrpSpPr>
        <p:grpSpPr>
          <a:xfrm rot="0">
            <a:off x="822960" y="754380"/>
            <a:ext cx="754380" cy="754380"/>
            <a:chOff x="0" y="0"/>
            <a:chExt cx="1005840" cy="1005840"/>
          </a:xfrm>
        </p:grpSpPr>
        <p:sp>
          <p:nvSpPr>
            <p:cNvPr name="Freeform 5" id="5"/>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6" id="6"/>
            <p:cNvSpPr txBox="true"/>
            <p:nvPr/>
          </p:nvSpPr>
          <p:spPr>
            <a:xfrm>
              <a:off x="0" y="-9525"/>
              <a:ext cx="1005840" cy="1015365"/>
            </a:xfrm>
            <a:prstGeom prst="rect">
              <a:avLst/>
            </a:prstGeom>
          </p:spPr>
          <p:txBody>
            <a:bodyPr anchor="ctr" rtlCol="false" tIns="0" lIns="0" bIns="0" rIns="0"/>
            <a:lstStyle/>
            <a:p>
              <a:pPr algn="ctr">
                <a:lnSpc>
                  <a:spcPts val="3960"/>
                </a:lnSpc>
              </a:pPr>
              <a:r>
                <a:rPr lang="en-US" sz="3300" b="true">
                  <a:solidFill>
                    <a:srgbClr val="FFFFFF"/>
                  </a:solidFill>
                  <a:latin typeface="Roboto Bold"/>
                  <a:ea typeface="Roboto Bold"/>
                  <a:cs typeface="Roboto Bold"/>
                  <a:sym typeface="Roboto Bold"/>
                </a:rPr>
                <a:t>5</a:t>
              </a:r>
            </a:p>
          </p:txBody>
        </p:sp>
      </p:grpSp>
      <p:grpSp>
        <p:nvGrpSpPr>
          <p:cNvPr name="Group 7" id="7"/>
          <p:cNvGrpSpPr/>
          <p:nvPr/>
        </p:nvGrpSpPr>
        <p:grpSpPr>
          <a:xfrm rot="0">
            <a:off x="1851660" y="685800"/>
            <a:ext cx="15499080" cy="960120"/>
            <a:chOff x="0" y="0"/>
            <a:chExt cx="20665440" cy="1280160"/>
          </a:xfrm>
        </p:grpSpPr>
        <p:sp>
          <p:nvSpPr>
            <p:cNvPr name="Freeform 8" id="8"/>
            <p:cNvSpPr/>
            <p:nvPr/>
          </p:nvSpPr>
          <p:spPr>
            <a:xfrm flipH="false" flipV="false" rot="0">
              <a:off x="0" y="0"/>
              <a:ext cx="20665439" cy="1280160"/>
            </a:xfrm>
            <a:custGeom>
              <a:avLst/>
              <a:gdLst/>
              <a:ahLst/>
              <a:cxnLst/>
              <a:rect r="r" b="b" t="t" l="l"/>
              <a:pathLst>
                <a:path h="1280160" w="20665439">
                  <a:moveTo>
                    <a:pt x="0" y="0"/>
                  </a:moveTo>
                  <a:lnTo>
                    <a:pt x="20665439" y="0"/>
                  </a:lnTo>
                  <a:lnTo>
                    <a:pt x="20665439" y="1280160"/>
                  </a:lnTo>
                  <a:lnTo>
                    <a:pt x="0" y="1280160"/>
                  </a:lnTo>
                  <a:close/>
                </a:path>
              </a:pathLst>
            </a:custGeom>
            <a:blipFill>
              <a:blip r:embed="rId3">
                <a:alphaModFix amt="0"/>
              </a:blip>
              <a:stretch>
                <a:fillRect l="0" t="-264544" r="0" b="-264544"/>
              </a:stretch>
            </a:blipFill>
          </p:spPr>
        </p:sp>
        <p:sp>
          <p:nvSpPr>
            <p:cNvPr name="TextBox 9" id="9"/>
            <p:cNvSpPr txBox="true"/>
            <p:nvPr/>
          </p:nvSpPr>
          <p:spPr>
            <a:xfrm>
              <a:off x="0" y="-19050"/>
              <a:ext cx="20665440" cy="1299210"/>
            </a:xfrm>
            <a:prstGeom prst="rect">
              <a:avLst/>
            </a:prstGeom>
          </p:spPr>
          <p:txBody>
            <a:bodyPr anchor="ctr" rtlCol="false" tIns="0" lIns="0" bIns="0" rIns="0"/>
            <a:lstStyle/>
            <a:p>
              <a:pPr algn="l">
                <a:lnSpc>
                  <a:spcPts val="5400"/>
                </a:lnSpc>
              </a:pPr>
              <a:r>
                <a:rPr lang="en-US" sz="4500" b="true">
                  <a:solidFill>
                    <a:srgbClr val="990011"/>
                  </a:solidFill>
                  <a:latin typeface="Roboto Bold"/>
                  <a:ea typeface="Roboto Bold"/>
                  <a:cs typeface="Roboto Bold"/>
                  <a:sym typeface="Roboto Bold"/>
                </a:rPr>
                <a:t>Kết quả EDA</a:t>
              </a:r>
            </a:p>
          </p:txBody>
        </p:sp>
      </p:grpSp>
      <p:grpSp>
        <p:nvGrpSpPr>
          <p:cNvPr name="Group 10" id="10"/>
          <p:cNvGrpSpPr/>
          <p:nvPr/>
        </p:nvGrpSpPr>
        <p:grpSpPr>
          <a:xfrm rot="0">
            <a:off x="1851660" y="1618488"/>
            <a:ext cx="15499080" cy="548640"/>
            <a:chOff x="0" y="0"/>
            <a:chExt cx="20665440" cy="731520"/>
          </a:xfrm>
        </p:grpSpPr>
        <p:sp>
          <p:nvSpPr>
            <p:cNvPr name="Freeform 11" id="11"/>
            <p:cNvSpPr/>
            <p:nvPr/>
          </p:nvSpPr>
          <p:spPr>
            <a:xfrm flipH="false" flipV="false" rot="0">
              <a:off x="0" y="0"/>
              <a:ext cx="20665439" cy="731520"/>
            </a:xfrm>
            <a:custGeom>
              <a:avLst/>
              <a:gdLst/>
              <a:ahLst/>
              <a:cxnLst/>
              <a:rect r="r" b="b" t="t" l="l"/>
              <a:pathLst>
                <a:path h="731520" w="20665439">
                  <a:moveTo>
                    <a:pt x="0" y="0"/>
                  </a:moveTo>
                  <a:lnTo>
                    <a:pt x="20665439" y="0"/>
                  </a:lnTo>
                  <a:lnTo>
                    <a:pt x="20665439" y="731520"/>
                  </a:lnTo>
                  <a:lnTo>
                    <a:pt x="0" y="731520"/>
                  </a:lnTo>
                  <a:close/>
                </a:path>
              </a:pathLst>
            </a:custGeom>
            <a:blipFill>
              <a:blip r:embed="rId3">
                <a:alphaModFix amt="0"/>
              </a:blip>
              <a:stretch>
                <a:fillRect l="0" t="-500452" r="0" b="-500452"/>
              </a:stretch>
            </a:blipFill>
          </p:spPr>
        </p:sp>
        <p:sp>
          <p:nvSpPr>
            <p:cNvPr name="TextBox 12" id="12"/>
            <p:cNvSpPr txBox="true"/>
            <p:nvPr/>
          </p:nvSpPr>
          <p:spPr>
            <a:xfrm>
              <a:off x="0" y="0"/>
              <a:ext cx="20665440" cy="731520"/>
            </a:xfrm>
            <a:prstGeom prst="rect">
              <a:avLst/>
            </a:prstGeom>
          </p:spPr>
          <p:txBody>
            <a:bodyPr anchor="ctr" rtlCol="false" tIns="0" lIns="0" bIns="0" rIns="0"/>
            <a:lstStyle/>
            <a:p>
              <a:pPr algn="l">
                <a:lnSpc>
                  <a:spcPts val="2520"/>
                </a:lnSpc>
              </a:pPr>
              <a:r>
                <a:rPr lang="en-US" sz="2100" i="true">
                  <a:solidFill>
                    <a:srgbClr val="7A6E6E"/>
                  </a:solidFill>
                  <a:latin typeface="Open Sans Italics"/>
                  <a:ea typeface="Open Sans Italics"/>
                  <a:cs typeface="Open Sans Italics"/>
                  <a:sym typeface="Open Sans Italics"/>
                </a:rPr>
                <a:t>Bốn góc nhìn nổi bật nhất từ phân tích khám phá dữ liệu</a:t>
              </a:r>
            </a:p>
          </p:txBody>
        </p:sp>
      </p:grpSp>
      <p:grpSp>
        <p:nvGrpSpPr>
          <p:cNvPr name="Group 13" id="13"/>
          <p:cNvGrpSpPr/>
          <p:nvPr/>
        </p:nvGrpSpPr>
        <p:grpSpPr>
          <a:xfrm rot="0">
            <a:off x="813435" y="2349627"/>
            <a:ext cx="8111490" cy="2693670"/>
            <a:chOff x="0" y="0"/>
            <a:chExt cx="10815320" cy="3591560"/>
          </a:xfrm>
        </p:grpSpPr>
        <p:sp>
          <p:nvSpPr>
            <p:cNvPr name="Freeform 14" id="14"/>
            <p:cNvSpPr/>
            <p:nvPr/>
          </p:nvSpPr>
          <p:spPr>
            <a:xfrm flipH="false" flipV="false" rot="0">
              <a:off x="0" y="0"/>
              <a:ext cx="10815320" cy="3591560"/>
            </a:xfrm>
            <a:custGeom>
              <a:avLst/>
              <a:gdLst/>
              <a:ahLst/>
              <a:cxnLst/>
              <a:rect r="r" b="b" t="t" l="l"/>
              <a:pathLst>
                <a:path h="3591560" w="10815320">
                  <a:moveTo>
                    <a:pt x="0" y="0"/>
                  </a:moveTo>
                  <a:lnTo>
                    <a:pt x="10815320" y="0"/>
                  </a:lnTo>
                  <a:lnTo>
                    <a:pt x="10815320" y="3591560"/>
                  </a:lnTo>
                  <a:lnTo>
                    <a:pt x="0" y="3591560"/>
                  </a:lnTo>
                  <a:close/>
                </a:path>
              </a:pathLst>
            </a:custGeom>
            <a:solidFill>
              <a:srgbClr val="FFFFFF"/>
            </a:solidFill>
            <a:ln w="19050" cap="sq">
              <a:solidFill>
                <a:srgbClr val="EAD9D9"/>
              </a:solidFill>
              <a:prstDash val="solid"/>
              <a:miter/>
            </a:ln>
          </p:spPr>
        </p:sp>
      </p:grpSp>
      <p:grpSp>
        <p:nvGrpSpPr>
          <p:cNvPr name="Group 15" id="15"/>
          <p:cNvGrpSpPr/>
          <p:nvPr/>
        </p:nvGrpSpPr>
        <p:grpSpPr>
          <a:xfrm rot="0">
            <a:off x="1441104" y="2468880"/>
            <a:ext cx="6856143" cy="2455164"/>
            <a:chOff x="0" y="0"/>
            <a:chExt cx="9141524" cy="3273552"/>
          </a:xfrm>
        </p:grpSpPr>
        <p:sp>
          <p:nvSpPr>
            <p:cNvPr name="Freeform 16" id="16" descr="/home/claude/eda_imgs/target_dist.png"/>
            <p:cNvSpPr/>
            <p:nvPr/>
          </p:nvSpPr>
          <p:spPr>
            <a:xfrm flipH="false" flipV="false" rot="0">
              <a:off x="0" y="0"/>
              <a:ext cx="9141587" cy="3273552"/>
            </a:xfrm>
            <a:custGeom>
              <a:avLst/>
              <a:gdLst/>
              <a:ahLst/>
              <a:cxnLst/>
              <a:rect r="r" b="b" t="t" l="l"/>
              <a:pathLst>
                <a:path h="3273552" w="9141587">
                  <a:moveTo>
                    <a:pt x="0" y="0"/>
                  </a:moveTo>
                  <a:lnTo>
                    <a:pt x="9141587" y="0"/>
                  </a:lnTo>
                  <a:lnTo>
                    <a:pt x="9141587" y="3273552"/>
                  </a:lnTo>
                  <a:lnTo>
                    <a:pt x="0" y="3273552"/>
                  </a:lnTo>
                  <a:lnTo>
                    <a:pt x="0" y="0"/>
                  </a:lnTo>
                  <a:close/>
                </a:path>
              </a:pathLst>
            </a:custGeom>
            <a:blipFill>
              <a:blip r:embed="rId4"/>
              <a:stretch>
                <a:fillRect l="0" t="0" r="0" b="0"/>
              </a:stretch>
            </a:blipFill>
          </p:spPr>
        </p:sp>
      </p:grpSp>
      <p:sp>
        <p:nvSpPr>
          <p:cNvPr name="TextBox 17" id="17"/>
          <p:cNvSpPr txBox="true"/>
          <p:nvPr/>
        </p:nvSpPr>
        <p:spPr>
          <a:xfrm rot="0">
            <a:off x="960120" y="5088636"/>
            <a:ext cx="7818120" cy="304800"/>
          </a:xfrm>
          <a:prstGeom prst="rect">
            <a:avLst/>
          </a:prstGeom>
        </p:spPr>
        <p:txBody>
          <a:bodyPr anchor="t" rtlCol="false" tIns="0" lIns="0" bIns="0" rIns="0">
            <a:spAutoFit/>
          </a:bodyPr>
          <a:lstStyle/>
          <a:p>
            <a:pPr algn="ctr">
              <a:lnSpc>
                <a:spcPts val="2459"/>
              </a:lnSpc>
            </a:pPr>
            <a:r>
              <a:rPr lang="en-US" sz="2049" i="true">
                <a:solidFill>
                  <a:srgbClr val="7A6E6E"/>
                </a:solidFill>
                <a:latin typeface="Open Sans Italics"/>
                <a:ea typeface="Open Sans Italics"/>
                <a:cs typeface="Open Sans Italics"/>
                <a:sym typeface="Open Sans Italics"/>
              </a:rPr>
              <a:t>Phân bố biến mục tiêu (164 / 139)</a:t>
            </a:r>
          </a:p>
        </p:txBody>
      </p:sp>
      <p:grpSp>
        <p:nvGrpSpPr>
          <p:cNvPr name="Group 18" id="18"/>
          <p:cNvGrpSpPr/>
          <p:nvPr/>
        </p:nvGrpSpPr>
        <p:grpSpPr>
          <a:xfrm rot="0">
            <a:off x="9385935" y="2349627"/>
            <a:ext cx="8111490" cy="2693670"/>
            <a:chOff x="0" y="0"/>
            <a:chExt cx="10815320" cy="3591560"/>
          </a:xfrm>
        </p:grpSpPr>
        <p:sp>
          <p:nvSpPr>
            <p:cNvPr name="Freeform 19" id="19"/>
            <p:cNvSpPr/>
            <p:nvPr/>
          </p:nvSpPr>
          <p:spPr>
            <a:xfrm flipH="false" flipV="false" rot="0">
              <a:off x="0" y="0"/>
              <a:ext cx="10815320" cy="3591560"/>
            </a:xfrm>
            <a:custGeom>
              <a:avLst/>
              <a:gdLst/>
              <a:ahLst/>
              <a:cxnLst/>
              <a:rect r="r" b="b" t="t" l="l"/>
              <a:pathLst>
                <a:path h="3591560" w="10815320">
                  <a:moveTo>
                    <a:pt x="0" y="0"/>
                  </a:moveTo>
                  <a:lnTo>
                    <a:pt x="10815320" y="0"/>
                  </a:lnTo>
                  <a:lnTo>
                    <a:pt x="10815320" y="3591560"/>
                  </a:lnTo>
                  <a:lnTo>
                    <a:pt x="0" y="3591560"/>
                  </a:lnTo>
                  <a:close/>
                </a:path>
              </a:pathLst>
            </a:custGeom>
            <a:solidFill>
              <a:srgbClr val="FFFFFF"/>
            </a:solidFill>
            <a:ln w="19050" cap="sq">
              <a:solidFill>
                <a:srgbClr val="EAD9D9"/>
              </a:solidFill>
              <a:prstDash val="solid"/>
              <a:miter/>
            </a:ln>
          </p:spPr>
        </p:sp>
      </p:grpSp>
      <p:grpSp>
        <p:nvGrpSpPr>
          <p:cNvPr name="Group 20" id="20"/>
          <p:cNvGrpSpPr/>
          <p:nvPr/>
        </p:nvGrpSpPr>
        <p:grpSpPr>
          <a:xfrm rot="0">
            <a:off x="10013604" y="2468880"/>
            <a:ext cx="6856143" cy="2455164"/>
            <a:chOff x="0" y="0"/>
            <a:chExt cx="9141524" cy="3273552"/>
          </a:xfrm>
        </p:grpSpPr>
        <p:sp>
          <p:nvSpPr>
            <p:cNvPr name="Freeform 21" id="21" descr="/home/claude/eda_imgs/age.png"/>
            <p:cNvSpPr/>
            <p:nvPr/>
          </p:nvSpPr>
          <p:spPr>
            <a:xfrm flipH="false" flipV="false" rot="0">
              <a:off x="0" y="0"/>
              <a:ext cx="9141587" cy="3273552"/>
            </a:xfrm>
            <a:custGeom>
              <a:avLst/>
              <a:gdLst/>
              <a:ahLst/>
              <a:cxnLst/>
              <a:rect r="r" b="b" t="t" l="l"/>
              <a:pathLst>
                <a:path h="3273552" w="9141587">
                  <a:moveTo>
                    <a:pt x="0" y="0"/>
                  </a:moveTo>
                  <a:lnTo>
                    <a:pt x="9141587" y="0"/>
                  </a:lnTo>
                  <a:lnTo>
                    <a:pt x="9141587" y="3273552"/>
                  </a:lnTo>
                  <a:lnTo>
                    <a:pt x="0" y="3273552"/>
                  </a:lnTo>
                  <a:lnTo>
                    <a:pt x="0" y="0"/>
                  </a:lnTo>
                  <a:close/>
                </a:path>
              </a:pathLst>
            </a:custGeom>
            <a:blipFill>
              <a:blip r:embed="rId5"/>
              <a:stretch>
                <a:fillRect l="0" t="0" r="0" b="0"/>
              </a:stretch>
            </a:blipFill>
          </p:spPr>
        </p:sp>
      </p:grpSp>
      <p:sp>
        <p:nvSpPr>
          <p:cNvPr name="TextBox 22" id="22"/>
          <p:cNvSpPr txBox="true"/>
          <p:nvPr/>
        </p:nvSpPr>
        <p:spPr>
          <a:xfrm rot="0">
            <a:off x="9532620" y="5088636"/>
            <a:ext cx="7818120" cy="304800"/>
          </a:xfrm>
          <a:prstGeom prst="rect">
            <a:avLst/>
          </a:prstGeom>
        </p:spPr>
        <p:txBody>
          <a:bodyPr anchor="t" rtlCol="false" tIns="0" lIns="0" bIns="0" rIns="0">
            <a:spAutoFit/>
          </a:bodyPr>
          <a:lstStyle/>
          <a:p>
            <a:pPr algn="ctr">
              <a:lnSpc>
                <a:spcPts val="2459"/>
              </a:lnSpc>
            </a:pPr>
            <a:r>
              <a:rPr lang="en-US" sz="2049" i="true">
                <a:solidFill>
                  <a:srgbClr val="7A6E6E"/>
                </a:solidFill>
                <a:latin typeface="Open Sans Italics"/>
                <a:ea typeface="Open Sans Italics"/>
                <a:cs typeface="Open Sans Italics"/>
                <a:sym typeface="Open Sans Italics"/>
              </a:rPr>
              <a:t>Tuổi theo tình trạng bệnh</a:t>
            </a:r>
          </a:p>
        </p:txBody>
      </p:sp>
      <p:grpSp>
        <p:nvGrpSpPr>
          <p:cNvPr name="Group 23" id="23"/>
          <p:cNvGrpSpPr/>
          <p:nvPr/>
        </p:nvGrpSpPr>
        <p:grpSpPr>
          <a:xfrm rot="0">
            <a:off x="813435" y="5860923"/>
            <a:ext cx="8111490" cy="2693670"/>
            <a:chOff x="0" y="0"/>
            <a:chExt cx="10815320" cy="3591560"/>
          </a:xfrm>
        </p:grpSpPr>
        <p:sp>
          <p:nvSpPr>
            <p:cNvPr name="Freeform 24" id="24"/>
            <p:cNvSpPr/>
            <p:nvPr/>
          </p:nvSpPr>
          <p:spPr>
            <a:xfrm flipH="false" flipV="false" rot="0">
              <a:off x="0" y="0"/>
              <a:ext cx="10815320" cy="3591560"/>
            </a:xfrm>
            <a:custGeom>
              <a:avLst/>
              <a:gdLst/>
              <a:ahLst/>
              <a:cxnLst/>
              <a:rect r="r" b="b" t="t" l="l"/>
              <a:pathLst>
                <a:path h="3591560" w="10815320">
                  <a:moveTo>
                    <a:pt x="0" y="0"/>
                  </a:moveTo>
                  <a:lnTo>
                    <a:pt x="10815320" y="0"/>
                  </a:lnTo>
                  <a:lnTo>
                    <a:pt x="10815320" y="3591560"/>
                  </a:lnTo>
                  <a:lnTo>
                    <a:pt x="0" y="3591560"/>
                  </a:lnTo>
                  <a:close/>
                </a:path>
              </a:pathLst>
            </a:custGeom>
            <a:solidFill>
              <a:srgbClr val="FFFFFF"/>
            </a:solidFill>
            <a:ln w="19050" cap="sq">
              <a:solidFill>
                <a:srgbClr val="EAD9D9"/>
              </a:solidFill>
              <a:prstDash val="solid"/>
              <a:miter/>
            </a:ln>
          </p:spPr>
        </p:sp>
      </p:grpSp>
      <p:grpSp>
        <p:nvGrpSpPr>
          <p:cNvPr name="Group 25" id="25"/>
          <p:cNvGrpSpPr/>
          <p:nvPr/>
        </p:nvGrpSpPr>
        <p:grpSpPr>
          <a:xfrm rot="0">
            <a:off x="1441104" y="5980176"/>
            <a:ext cx="6856143" cy="2455164"/>
            <a:chOff x="0" y="0"/>
            <a:chExt cx="9141524" cy="3273552"/>
          </a:xfrm>
        </p:grpSpPr>
        <p:sp>
          <p:nvSpPr>
            <p:cNvPr name="Freeform 26" id="26" descr="/home/claude/eda_imgs/thalach.png"/>
            <p:cNvSpPr/>
            <p:nvPr/>
          </p:nvSpPr>
          <p:spPr>
            <a:xfrm flipH="false" flipV="false" rot="0">
              <a:off x="0" y="0"/>
              <a:ext cx="9141587" cy="3273552"/>
            </a:xfrm>
            <a:custGeom>
              <a:avLst/>
              <a:gdLst/>
              <a:ahLst/>
              <a:cxnLst/>
              <a:rect r="r" b="b" t="t" l="l"/>
              <a:pathLst>
                <a:path h="3273552" w="9141587">
                  <a:moveTo>
                    <a:pt x="0" y="0"/>
                  </a:moveTo>
                  <a:lnTo>
                    <a:pt x="9141587" y="0"/>
                  </a:lnTo>
                  <a:lnTo>
                    <a:pt x="9141587" y="3273552"/>
                  </a:lnTo>
                  <a:lnTo>
                    <a:pt x="0" y="3273552"/>
                  </a:lnTo>
                  <a:lnTo>
                    <a:pt x="0" y="0"/>
                  </a:lnTo>
                  <a:close/>
                </a:path>
              </a:pathLst>
            </a:custGeom>
            <a:blipFill>
              <a:blip r:embed="rId6"/>
              <a:stretch>
                <a:fillRect l="0" t="0" r="0" b="0"/>
              </a:stretch>
            </a:blipFill>
          </p:spPr>
        </p:sp>
      </p:grpSp>
      <p:sp>
        <p:nvSpPr>
          <p:cNvPr name="TextBox 27" id="27"/>
          <p:cNvSpPr txBox="true"/>
          <p:nvPr/>
        </p:nvSpPr>
        <p:spPr>
          <a:xfrm rot="0">
            <a:off x="960120" y="8599932"/>
            <a:ext cx="7818120" cy="304800"/>
          </a:xfrm>
          <a:prstGeom prst="rect">
            <a:avLst/>
          </a:prstGeom>
        </p:spPr>
        <p:txBody>
          <a:bodyPr anchor="t" rtlCol="false" tIns="0" lIns="0" bIns="0" rIns="0">
            <a:spAutoFit/>
          </a:bodyPr>
          <a:lstStyle/>
          <a:p>
            <a:pPr algn="ctr">
              <a:lnSpc>
                <a:spcPts val="2459"/>
              </a:lnSpc>
            </a:pPr>
            <a:r>
              <a:rPr lang="en-US" sz="2049" i="true">
                <a:solidFill>
                  <a:srgbClr val="7A6E6E"/>
                </a:solidFill>
                <a:latin typeface="Open Sans Italics"/>
                <a:ea typeface="Open Sans Italics"/>
                <a:cs typeface="Open Sans Italics"/>
                <a:sym typeface="Open Sans Italics"/>
              </a:rPr>
              <a:t>Nhịp tim tối đa (thalach) theo tình trạng</a:t>
            </a:r>
          </a:p>
        </p:txBody>
      </p:sp>
      <p:grpSp>
        <p:nvGrpSpPr>
          <p:cNvPr name="Group 28" id="28"/>
          <p:cNvGrpSpPr/>
          <p:nvPr/>
        </p:nvGrpSpPr>
        <p:grpSpPr>
          <a:xfrm rot="0">
            <a:off x="9385935" y="5860923"/>
            <a:ext cx="8111490" cy="2693670"/>
            <a:chOff x="0" y="0"/>
            <a:chExt cx="10815320" cy="3591560"/>
          </a:xfrm>
        </p:grpSpPr>
        <p:sp>
          <p:nvSpPr>
            <p:cNvPr name="Freeform 29" id="29"/>
            <p:cNvSpPr/>
            <p:nvPr/>
          </p:nvSpPr>
          <p:spPr>
            <a:xfrm flipH="false" flipV="false" rot="0">
              <a:off x="0" y="0"/>
              <a:ext cx="10815320" cy="3591560"/>
            </a:xfrm>
            <a:custGeom>
              <a:avLst/>
              <a:gdLst/>
              <a:ahLst/>
              <a:cxnLst/>
              <a:rect r="r" b="b" t="t" l="l"/>
              <a:pathLst>
                <a:path h="3591560" w="10815320">
                  <a:moveTo>
                    <a:pt x="0" y="0"/>
                  </a:moveTo>
                  <a:lnTo>
                    <a:pt x="10815320" y="0"/>
                  </a:lnTo>
                  <a:lnTo>
                    <a:pt x="10815320" y="3591560"/>
                  </a:lnTo>
                  <a:lnTo>
                    <a:pt x="0" y="3591560"/>
                  </a:lnTo>
                  <a:close/>
                </a:path>
              </a:pathLst>
            </a:custGeom>
            <a:solidFill>
              <a:srgbClr val="FFFFFF"/>
            </a:solidFill>
            <a:ln w="19050" cap="sq">
              <a:solidFill>
                <a:srgbClr val="EAD9D9"/>
              </a:solidFill>
              <a:prstDash val="solid"/>
              <a:miter/>
            </a:ln>
          </p:spPr>
        </p:sp>
      </p:grpSp>
      <p:grpSp>
        <p:nvGrpSpPr>
          <p:cNvPr name="Group 30" id="30"/>
          <p:cNvGrpSpPr/>
          <p:nvPr/>
        </p:nvGrpSpPr>
        <p:grpSpPr>
          <a:xfrm rot="0">
            <a:off x="11169615" y="5980176"/>
            <a:ext cx="4544130" cy="2455164"/>
            <a:chOff x="0" y="0"/>
            <a:chExt cx="6058840" cy="3273552"/>
          </a:xfrm>
        </p:grpSpPr>
        <p:sp>
          <p:nvSpPr>
            <p:cNvPr name="Freeform 31" id="31" descr="/home/claude/eda_imgs/categorical.png"/>
            <p:cNvSpPr/>
            <p:nvPr/>
          </p:nvSpPr>
          <p:spPr>
            <a:xfrm flipH="false" flipV="false" rot="0">
              <a:off x="0" y="0"/>
              <a:ext cx="6058789" cy="3273552"/>
            </a:xfrm>
            <a:custGeom>
              <a:avLst/>
              <a:gdLst/>
              <a:ahLst/>
              <a:cxnLst/>
              <a:rect r="r" b="b" t="t" l="l"/>
              <a:pathLst>
                <a:path h="3273552" w="6058789">
                  <a:moveTo>
                    <a:pt x="0" y="0"/>
                  </a:moveTo>
                  <a:lnTo>
                    <a:pt x="6058789" y="0"/>
                  </a:lnTo>
                  <a:lnTo>
                    <a:pt x="6058789" y="3273552"/>
                  </a:lnTo>
                  <a:lnTo>
                    <a:pt x="0" y="3273552"/>
                  </a:lnTo>
                  <a:lnTo>
                    <a:pt x="0" y="0"/>
                  </a:lnTo>
                  <a:close/>
                </a:path>
              </a:pathLst>
            </a:custGeom>
            <a:blipFill>
              <a:blip r:embed="rId7"/>
              <a:stretch>
                <a:fillRect l="0" t="0" r="0" b="0"/>
              </a:stretch>
            </a:blipFill>
          </p:spPr>
        </p:sp>
      </p:grpSp>
      <p:sp>
        <p:nvSpPr>
          <p:cNvPr name="TextBox 32" id="32"/>
          <p:cNvSpPr txBox="true"/>
          <p:nvPr/>
        </p:nvSpPr>
        <p:spPr>
          <a:xfrm rot="0">
            <a:off x="9532620" y="8599932"/>
            <a:ext cx="7818120" cy="304800"/>
          </a:xfrm>
          <a:prstGeom prst="rect">
            <a:avLst/>
          </a:prstGeom>
        </p:spPr>
        <p:txBody>
          <a:bodyPr anchor="t" rtlCol="false" tIns="0" lIns="0" bIns="0" rIns="0">
            <a:spAutoFit/>
          </a:bodyPr>
          <a:lstStyle/>
          <a:p>
            <a:pPr algn="ctr">
              <a:lnSpc>
                <a:spcPts val="2459"/>
              </a:lnSpc>
            </a:pPr>
            <a:r>
              <a:rPr lang="en-US" sz="2049" i="true">
                <a:solidFill>
                  <a:srgbClr val="7A6E6E"/>
                </a:solidFill>
                <a:latin typeface="Open Sans Italics"/>
                <a:ea typeface="Open Sans Italics"/>
                <a:cs typeface="Open Sans Italics"/>
                <a:sym typeface="Open Sans Italics"/>
              </a:rPr>
              <a:t>Đau ngực &amp; biến phân loại theo tình trạng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CF6F5"/>
        </a:solidFill>
      </p:bgPr>
    </p:bg>
    <p:spTree>
      <p:nvGrpSpPr>
        <p:cNvPr id="1" name=""/>
        <p:cNvGrpSpPr/>
        <p:nvPr/>
      </p:nvGrpSpPr>
      <p:grpSpPr>
        <a:xfrm>
          <a:off x="0" y="0"/>
          <a:ext cx="0" cy="0"/>
          <a:chOff x="0" y="0"/>
          <a:chExt cx="0" cy="0"/>
        </a:xfrm>
      </p:grpSpPr>
      <p:grpSp>
        <p:nvGrpSpPr>
          <p:cNvPr name="Group 2" id="2"/>
          <p:cNvGrpSpPr/>
          <p:nvPr/>
        </p:nvGrpSpPr>
        <p:grpSpPr>
          <a:xfrm rot="0">
            <a:off x="822960" y="754380"/>
            <a:ext cx="754380" cy="754380"/>
            <a:chOff x="0" y="0"/>
            <a:chExt cx="1005840" cy="1005840"/>
          </a:xfrm>
        </p:grpSpPr>
        <p:sp>
          <p:nvSpPr>
            <p:cNvPr name="Freeform 3" id="3"/>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990011"/>
            </a:solidFill>
          </p:spPr>
        </p:sp>
      </p:grpSp>
      <p:grpSp>
        <p:nvGrpSpPr>
          <p:cNvPr name="Group 4" id="4"/>
          <p:cNvGrpSpPr/>
          <p:nvPr/>
        </p:nvGrpSpPr>
        <p:grpSpPr>
          <a:xfrm rot="0">
            <a:off x="822960" y="754380"/>
            <a:ext cx="754380" cy="754380"/>
            <a:chOff x="0" y="0"/>
            <a:chExt cx="1005840" cy="1005840"/>
          </a:xfrm>
        </p:grpSpPr>
        <p:sp>
          <p:nvSpPr>
            <p:cNvPr name="Freeform 5" id="5"/>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6" id="6"/>
            <p:cNvSpPr txBox="true"/>
            <p:nvPr/>
          </p:nvSpPr>
          <p:spPr>
            <a:xfrm>
              <a:off x="0" y="-9525"/>
              <a:ext cx="1005840" cy="1015365"/>
            </a:xfrm>
            <a:prstGeom prst="rect">
              <a:avLst/>
            </a:prstGeom>
          </p:spPr>
          <p:txBody>
            <a:bodyPr anchor="ctr" rtlCol="false" tIns="0" lIns="0" bIns="0" rIns="0"/>
            <a:lstStyle/>
            <a:p>
              <a:pPr algn="ctr">
                <a:lnSpc>
                  <a:spcPts val="3960"/>
                </a:lnSpc>
              </a:pPr>
              <a:r>
                <a:rPr lang="en-US" sz="3300" b="true">
                  <a:solidFill>
                    <a:srgbClr val="FFFFFF"/>
                  </a:solidFill>
                  <a:latin typeface="Roboto Bold"/>
                  <a:ea typeface="Roboto Bold"/>
                  <a:cs typeface="Roboto Bold"/>
                  <a:sym typeface="Roboto Bold"/>
                </a:rPr>
                <a:t>6</a:t>
              </a:r>
            </a:p>
          </p:txBody>
        </p:sp>
      </p:grpSp>
      <p:grpSp>
        <p:nvGrpSpPr>
          <p:cNvPr name="Group 7" id="7"/>
          <p:cNvGrpSpPr/>
          <p:nvPr/>
        </p:nvGrpSpPr>
        <p:grpSpPr>
          <a:xfrm rot="0">
            <a:off x="1851660" y="685800"/>
            <a:ext cx="15499080" cy="960120"/>
            <a:chOff x="0" y="0"/>
            <a:chExt cx="20665440" cy="1280160"/>
          </a:xfrm>
        </p:grpSpPr>
        <p:sp>
          <p:nvSpPr>
            <p:cNvPr name="Freeform 8" id="8"/>
            <p:cNvSpPr/>
            <p:nvPr/>
          </p:nvSpPr>
          <p:spPr>
            <a:xfrm flipH="false" flipV="false" rot="0">
              <a:off x="0" y="0"/>
              <a:ext cx="20665439" cy="1280160"/>
            </a:xfrm>
            <a:custGeom>
              <a:avLst/>
              <a:gdLst/>
              <a:ahLst/>
              <a:cxnLst/>
              <a:rect r="r" b="b" t="t" l="l"/>
              <a:pathLst>
                <a:path h="1280160" w="20665439">
                  <a:moveTo>
                    <a:pt x="0" y="0"/>
                  </a:moveTo>
                  <a:lnTo>
                    <a:pt x="20665439" y="0"/>
                  </a:lnTo>
                  <a:lnTo>
                    <a:pt x="20665439" y="1280160"/>
                  </a:lnTo>
                  <a:lnTo>
                    <a:pt x="0" y="1280160"/>
                  </a:lnTo>
                  <a:close/>
                </a:path>
              </a:pathLst>
            </a:custGeom>
            <a:blipFill>
              <a:blip r:embed="rId3">
                <a:alphaModFix amt="0"/>
              </a:blip>
              <a:stretch>
                <a:fillRect l="0" t="-264544" r="0" b="-264544"/>
              </a:stretch>
            </a:blipFill>
          </p:spPr>
        </p:sp>
        <p:sp>
          <p:nvSpPr>
            <p:cNvPr name="TextBox 9" id="9"/>
            <p:cNvSpPr txBox="true"/>
            <p:nvPr/>
          </p:nvSpPr>
          <p:spPr>
            <a:xfrm>
              <a:off x="0" y="-19050"/>
              <a:ext cx="20665440" cy="1299210"/>
            </a:xfrm>
            <a:prstGeom prst="rect">
              <a:avLst/>
            </a:prstGeom>
          </p:spPr>
          <p:txBody>
            <a:bodyPr anchor="ctr" rtlCol="false" tIns="0" lIns="0" bIns="0" rIns="0"/>
            <a:lstStyle/>
            <a:p>
              <a:pPr algn="l">
                <a:lnSpc>
                  <a:spcPts val="5400"/>
                </a:lnSpc>
              </a:pPr>
              <a:r>
                <a:rPr lang="en-US" sz="4500" b="true">
                  <a:solidFill>
                    <a:srgbClr val="990011"/>
                  </a:solidFill>
                  <a:latin typeface="Roboto Bold"/>
                  <a:ea typeface="Roboto Bold"/>
                  <a:cs typeface="Roboto Bold"/>
                  <a:sym typeface="Roboto Bold"/>
                </a:rPr>
                <a:t>Kết quả phân tích thống kê</a:t>
              </a:r>
            </a:p>
          </p:txBody>
        </p:sp>
      </p:grpSp>
      <p:grpSp>
        <p:nvGrpSpPr>
          <p:cNvPr name="Group 10" id="10"/>
          <p:cNvGrpSpPr/>
          <p:nvPr/>
        </p:nvGrpSpPr>
        <p:grpSpPr>
          <a:xfrm rot="0">
            <a:off x="1851660" y="1618488"/>
            <a:ext cx="15499080" cy="548640"/>
            <a:chOff x="0" y="0"/>
            <a:chExt cx="20665440" cy="731520"/>
          </a:xfrm>
        </p:grpSpPr>
        <p:sp>
          <p:nvSpPr>
            <p:cNvPr name="Freeform 11" id="11"/>
            <p:cNvSpPr/>
            <p:nvPr/>
          </p:nvSpPr>
          <p:spPr>
            <a:xfrm flipH="false" flipV="false" rot="0">
              <a:off x="0" y="0"/>
              <a:ext cx="20665439" cy="731520"/>
            </a:xfrm>
            <a:custGeom>
              <a:avLst/>
              <a:gdLst/>
              <a:ahLst/>
              <a:cxnLst/>
              <a:rect r="r" b="b" t="t" l="l"/>
              <a:pathLst>
                <a:path h="731520" w="20665439">
                  <a:moveTo>
                    <a:pt x="0" y="0"/>
                  </a:moveTo>
                  <a:lnTo>
                    <a:pt x="20665439" y="0"/>
                  </a:lnTo>
                  <a:lnTo>
                    <a:pt x="20665439" y="731520"/>
                  </a:lnTo>
                  <a:lnTo>
                    <a:pt x="0" y="731520"/>
                  </a:lnTo>
                  <a:close/>
                </a:path>
              </a:pathLst>
            </a:custGeom>
            <a:blipFill>
              <a:blip r:embed="rId3">
                <a:alphaModFix amt="0"/>
              </a:blip>
              <a:stretch>
                <a:fillRect l="0" t="-500452" r="0" b="-500452"/>
              </a:stretch>
            </a:blipFill>
          </p:spPr>
        </p:sp>
        <p:sp>
          <p:nvSpPr>
            <p:cNvPr name="TextBox 12" id="12"/>
            <p:cNvSpPr txBox="true"/>
            <p:nvPr/>
          </p:nvSpPr>
          <p:spPr>
            <a:xfrm>
              <a:off x="0" y="0"/>
              <a:ext cx="20665440" cy="731520"/>
            </a:xfrm>
            <a:prstGeom prst="rect">
              <a:avLst/>
            </a:prstGeom>
          </p:spPr>
          <p:txBody>
            <a:bodyPr anchor="ctr" rtlCol="false" tIns="0" lIns="0" bIns="0" rIns="0"/>
            <a:lstStyle/>
            <a:p>
              <a:pPr algn="l">
                <a:lnSpc>
                  <a:spcPts val="2520"/>
                </a:lnSpc>
              </a:pPr>
              <a:r>
                <a:rPr lang="en-US" sz="2100" i="true">
                  <a:solidFill>
                    <a:srgbClr val="7A6E6E"/>
                  </a:solidFill>
                  <a:latin typeface="Open Sans Italics"/>
                  <a:ea typeface="Open Sans Italics"/>
                  <a:cs typeface="Open Sans Italics"/>
                  <a:sym typeface="Open Sans Italics"/>
                </a:rPr>
                <a:t>11/13 biến có liên hệ có ý nghĩa với bệnh tim (α = 0.05)</a:t>
              </a:r>
            </a:p>
          </p:txBody>
        </p:sp>
      </p:grpSp>
      <p:grpSp>
        <p:nvGrpSpPr>
          <p:cNvPr name="Group 13" id="13"/>
          <p:cNvGrpSpPr/>
          <p:nvPr/>
        </p:nvGrpSpPr>
        <p:grpSpPr>
          <a:xfrm rot="0">
            <a:off x="822960" y="2400300"/>
            <a:ext cx="9601200" cy="480060"/>
            <a:chOff x="0" y="0"/>
            <a:chExt cx="12801600" cy="640080"/>
          </a:xfrm>
        </p:grpSpPr>
        <p:sp>
          <p:nvSpPr>
            <p:cNvPr name="Freeform 14" id="14"/>
            <p:cNvSpPr/>
            <p:nvPr/>
          </p:nvSpPr>
          <p:spPr>
            <a:xfrm flipH="false" flipV="false" rot="0">
              <a:off x="0" y="0"/>
              <a:ext cx="12801600" cy="640080"/>
            </a:xfrm>
            <a:custGeom>
              <a:avLst/>
              <a:gdLst/>
              <a:ahLst/>
              <a:cxnLst/>
              <a:rect r="r" b="b" t="t" l="l"/>
              <a:pathLst>
                <a:path h="640080" w="12801600">
                  <a:moveTo>
                    <a:pt x="0" y="0"/>
                  </a:moveTo>
                  <a:lnTo>
                    <a:pt x="12801600" y="0"/>
                  </a:lnTo>
                  <a:lnTo>
                    <a:pt x="12801600" y="640080"/>
                  </a:lnTo>
                  <a:lnTo>
                    <a:pt x="0" y="640080"/>
                  </a:lnTo>
                  <a:close/>
                </a:path>
              </a:pathLst>
            </a:custGeom>
            <a:blipFill>
              <a:blip r:embed="rId3">
                <a:alphaModFix amt="0"/>
              </a:blip>
              <a:stretch>
                <a:fillRect l="0" t="-339700" r="0" b="-339700"/>
              </a:stretch>
            </a:blipFill>
          </p:spPr>
        </p:sp>
        <p:sp>
          <p:nvSpPr>
            <p:cNvPr name="TextBox 15" id="15"/>
            <p:cNvSpPr txBox="true"/>
            <p:nvPr/>
          </p:nvSpPr>
          <p:spPr>
            <a:xfrm>
              <a:off x="0" y="0"/>
              <a:ext cx="12801600" cy="640080"/>
            </a:xfrm>
            <a:prstGeom prst="rect">
              <a:avLst/>
            </a:prstGeom>
          </p:spPr>
          <p:txBody>
            <a:bodyPr anchor="ctr" rtlCol="false" tIns="0" lIns="0" bIns="0" rIns="0"/>
            <a:lstStyle/>
            <a:p>
              <a:pPr algn="l">
                <a:lnSpc>
                  <a:spcPts val="2520"/>
                </a:lnSpc>
              </a:pPr>
              <a:r>
                <a:rPr lang="en-US" b="true" sz="2100" spc="150">
                  <a:solidFill>
                    <a:srgbClr val="990011"/>
                  </a:solidFill>
                  <a:latin typeface="Open Sans Bold"/>
                  <a:ea typeface="Open Sans Bold"/>
                  <a:cs typeface="Open Sans Bold"/>
                  <a:sym typeface="Open Sans Bold"/>
                </a:rPr>
                <a:t>YẾU TỐ CÓ Ý NGHĨA THỐNG KÊ</a:t>
              </a:r>
            </a:p>
          </p:txBody>
        </p:sp>
      </p:grpSp>
      <p:graphicFrame>
        <p:nvGraphicFramePr>
          <p:cNvPr name="Table 16" id="16"/>
          <p:cNvGraphicFramePr>
            <a:graphicFrameLocks noGrp="true"/>
          </p:cNvGraphicFramePr>
          <p:nvPr/>
        </p:nvGraphicFramePr>
        <p:xfrm>
          <a:off x="822960" y="2948940"/>
          <a:ext cx="10134600" cy="5254625"/>
        </p:xfrm>
        <a:graphic>
          <a:graphicData uri="http://schemas.openxmlformats.org/drawingml/2006/table">
            <a:tbl>
              <a:tblPr/>
              <a:tblGrid>
                <a:gridCol w="4785468"/>
                <a:gridCol w="2878847"/>
                <a:gridCol w="2470285"/>
              </a:tblGrid>
              <a:tr h="600801">
                <a:tc>
                  <a:txBody>
                    <a:bodyPr anchor="t" rtlCol="false"/>
                    <a:lstStyle/>
                    <a:p>
                      <a:pPr algn="l">
                        <a:lnSpc>
                          <a:spcPts val="2340"/>
                        </a:lnSpc>
                        <a:defRPr/>
                      </a:pPr>
                      <a:r>
                        <a:rPr lang="en-US" sz="1950" b="true">
                          <a:solidFill>
                            <a:srgbClr val="FFFFFF"/>
                          </a:solidFill>
                          <a:latin typeface="Open Sans Bold"/>
                          <a:ea typeface="Open Sans Bold"/>
                          <a:cs typeface="Open Sans Bold"/>
                          <a:sym typeface="Open Sans Bold"/>
                        </a:rPr>
                        <a:t>Yếu tố</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4A0008"/>
                    </a:solidFill>
                  </a:tcPr>
                </a:tc>
                <a:tc>
                  <a:txBody>
                    <a:bodyPr anchor="t" rtlCol="false"/>
                    <a:lstStyle/>
                    <a:p>
                      <a:pPr algn="l">
                        <a:lnSpc>
                          <a:spcPts val="2340"/>
                        </a:lnSpc>
                        <a:defRPr/>
                      </a:pPr>
                      <a:r>
                        <a:rPr lang="en-US" sz="1950" b="true">
                          <a:solidFill>
                            <a:srgbClr val="FFFFFF"/>
                          </a:solidFill>
                          <a:latin typeface="Open Sans Bold"/>
                          <a:ea typeface="Open Sans Bold"/>
                          <a:cs typeface="Open Sans Bold"/>
                          <a:sym typeface="Open Sans Bold"/>
                        </a:rPr>
                        <a:t>Kiểm định</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4A0008"/>
                    </a:solidFill>
                  </a:tcPr>
                </a:tc>
                <a:tc>
                  <a:txBody>
                    <a:bodyPr anchor="t" rtlCol="false"/>
                    <a:lstStyle/>
                    <a:p>
                      <a:pPr algn="l">
                        <a:lnSpc>
                          <a:spcPts val="2340"/>
                        </a:lnSpc>
                        <a:defRPr/>
                      </a:pPr>
                      <a:r>
                        <a:rPr lang="en-US" sz="1950" b="true">
                          <a:solidFill>
                            <a:srgbClr val="FFFFFF"/>
                          </a:solidFill>
                          <a:latin typeface="Open Sans Bold"/>
                          <a:ea typeface="Open Sans Bold"/>
                          <a:cs typeface="Open Sans Bold"/>
                          <a:sym typeface="Open Sans Bold"/>
                        </a:rPr>
                        <a:t>p-value</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4A0008"/>
                    </a:solidFill>
                  </a:tcPr>
                </a:tc>
              </a:tr>
              <a:tr h="581728">
                <a:tc>
                  <a:txBody>
                    <a:bodyPr anchor="t" rtlCol="false"/>
                    <a:lstStyle/>
                    <a:p>
                      <a:pPr algn="l">
                        <a:lnSpc>
                          <a:spcPts val="2250"/>
                        </a:lnSpc>
                        <a:defRPr/>
                      </a:pPr>
                      <a:r>
                        <a:rPr lang="en-US" sz="1875">
                          <a:solidFill>
                            <a:srgbClr val="2B2B2B"/>
                          </a:solidFill>
                          <a:latin typeface="Open Sans"/>
                          <a:ea typeface="Open Sans"/>
                          <a:cs typeface="Open Sans"/>
                          <a:sym typeface="Open Sans"/>
                        </a:rPr>
                        <a:t>Chest pain type (cp)</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7ECEC"/>
                    </a:solidFill>
                  </a:tcPr>
                </a:tc>
                <a:tc>
                  <a:txBody>
                    <a:bodyPr anchor="t" rtlCol="false"/>
                    <a:lstStyle/>
                    <a:p>
                      <a:pPr algn="l">
                        <a:lnSpc>
                          <a:spcPts val="2250"/>
                        </a:lnSpc>
                        <a:defRPr/>
                      </a:pPr>
                      <a:r>
                        <a:rPr lang="en-US" sz="1875">
                          <a:solidFill>
                            <a:srgbClr val="2B2B2B"/>
                          </a:solidFill>
                          <a:latin typeface="Open Sans"/>
                          <a:ea typeface="Open Sans"/>
                          <a:cs typeface="Open Sans"/>
                          <a:sym typeface="Open Sans"/>
                        </a:rPr>
                        <a:t>Chi-square</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7ECEC"/>
                    </a:solidFill>
                  </a:tcPr>
                </a:tc>
                <a:tc>
                  <a:txBody>
                    <a:bodyPr anchor="t" rtlCol="false"/>
                    <a:lstStyle/>
                    <a:p>
                      <a:pPr algn="l">
                        <a:lnSpc>
                          <a:spcPts val="2250"/>
                        </a:lnSpc>
                        <a:defRPr/>
                      </a:pPr>
                      <a:r>
                        <a:rPr lang="en-US" sz="1875">
                          <a:solidFill>
                            <a:srgbClr val="2B2B2B"/>
                          </a:solidFill>
                          <a:latin typeface="Open Sans"/>
                          <a:ea typeface="Open Sans"/>
                          <a:cs typeface="Open Sans"/>
                          <a:sym typeface="Open Sans"/>
                        </a:rPr>
                        <a:t>&lt; 0.001</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7ECEC"/>
                    </a:solidFill>
                  </a:tcPr>
                </a:tc>
              </a:tr>
              <a:tr h="581728">
                <a:tc>
                  <a:txBody>
                    <a:bodyPr anchor="t" rtlCol="false"/>
                    <a:lstStyle/>
                    <a:p>
                      <a:pPr algn="l">
                        <a:lnSpc>
                          <a:spcPts val="2250"/>
                        </a:lnSpc>
                        <a:defRPr/>
                      </a:pPr>
                      <a:r>
                        <a:rPr lang="en-US" sz="1875">
                          <a:solidFill>
                            <a:srgbClr val="2B2B2B"/>
                          </a:solidFill>
                          <a:latin typeface="Open Sans"/>
                          <a:ea typeface="Open Sans"/>
                          <a:cs typeface="Open Sans"/>
                          <a:sym typeface="Open Sans"/>
                        </a:rPr>
                        <a:t>Max heart rate (thalach)</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B2B2B"/>
                          </a:solidFill>
                          <a:latin typeface="Open Sans"/>
                          <a:ea typeface="Open Sans"/>
                          <a:cs typeface="Open Sans"/>
                          <a:sym typeface="Open Sans"/>
                        </a:rPr>
                        <a:t>Welch t-test</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B2B2B"/>
                          </a:solidFill>
                          <a:latin typeface="Open Sans"/>
                          <a:ea typeface="Open Sans"/>
                          <a:cs typeface="Open Sans"/>
                          <a:sym typeface="Open Sans"/>
                        </a:rPr>
                        <a:t>&lt; 0.001</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FFFFF"/>
                    </a:solidFill>
                  </a:tcPr>
                </a:tc>
              </a:tr>
              <a:tr h="581728">
                <a:tc>
                  <a:txBody>
                    <a:bodyPr anchor="t" rtlCol="false"/>
                    <a:lstStyle/>
                    <a:p>
                      <a:pPr algn="l">
                        <a:lnSpc>
                          <a:spcPts val="2250"/>
                        </a:lnSpc>
                        <a:defRPr/>
                      </a:pPr>
                      <a:r>
                        <a:rPr lang="en-US" sz="1875">
                          <a:solidFill>
                            <a:srgbClr val="2B2B2B"/>
                          </a:solidFill>
                          <a:latin typeface="Open Sans"/>
                          <a:ea typeface="Open Sans"/>
                          <a:cs typeface="Open Sans"/>
                          <a:sym typeface="Open Sans"/>
                        </a:rPr>
                        <a:t>Exercise angina (exang)</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7ECEC"/>
                    </a:solidFill>
                  </a:tcPr>
                </a:tc>
                <a:tc>
                  <a:txBody>
                    <a:bodyPr anchor="t" rtlCol="false"/>
                    <a:lstStyle/>
                    <a:p>
                      <a:pPr algn="l">
                        <a:lnSpc>
                          <a:spcPts val="2250"/>
                        </a:lnSpc>
                        <a:defRPr/>
                      </a:pPr>
                      <a:r>
                        <a:rPr lang="en-US" sz="1875">
                          <a:solidFill>
                            <a:srgbClr val="2B2B2B"/>
                          </a:solidFill>
                          <a:latin typeface="Open Sans"/>
                          <a:ea typeface="Open Sans"/>
                          <a:cs typeface="Open Sans"/>
                          <a:sym typeface="Open Sans"/>
                        </a:rPr>
                        <a:t>Chi-square</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7ECEC"/>
                    </a:solidFill>
                  </a:tcPr>
                </a:tc>
                <a:tc>
                  <a:txBody>
                    <a:bodyPr anchor="t" rtlCol="false"/>
                    <a:lstStyle/>
                    <a:p>
                      <a:pPr algn="l">
                        <a:lnSpc>
                          <a:spcPts val="2250"/>
                        </a:lnSpc>
                        <a:defRPr/>
                      </a:pPr>
                      <a:r>
                        <a:rPr lang="en-US" sz="1875">
                          <a:solidFill>
                            <a:srgbClr val="2B2B2B"/>
                          </a:solidFill>
                          <a:latin typeface="Open Sans"/>
                          <a:ea typeface="Open Sans"/>
                          <a:cs typeface="Open Sans"/>
                          <a:sym typeface="Open Sans"/>
                        </a:rPr>
                        <a:t>&lt; 0.001</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7ECEC"/>
                    </a:solidFill>
                  </a:tcPr>
                </a:tc>
              </a:tr>
              <a:tr h="581728">
                <a:tc>
                  <a:txBody>
                    <a:bodyPr anchor="t" rtlCol="false"/>
                    <a:lstStyle/>
                    <a:p>
                      <a:pPr algn="l">
                        <a:lnSpc>
                          <a:spcPts val="2250"/>
                        </a:lnSpc>
                        <a:defRPr/>
                      </a:pPr>
                      <a:r>
                        <a:rPr lang="en-US" sz="1875">
                          <a:solidFill>
                            <a:srgbClr val="2B2B2B"/>
                          </a:solidFill>
                          <a:latin typeface="Open Sans"/>
                          <a:ea typeface="Open Sans"/>
                          <a:cs typeface="Open Sans"/>
                          <a:sym typeface="Open Sans"/>
                        </a:rPr>
                        <a:t>ST depression (oldpeak)</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B2B2B"/>
                          </a:solidFill>
                          <a:latin typeface="Open Sans"/>
                          <a:ea typeface="Open Sans"/>
                          <a:cs typeface="Open Sans"/>
                          <a:sym typeface="Open Sans"/>
                        </a:rPr>
                        <a:t>Welch t-test</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B2B2B"/>
                          </a:solidFill>
                          <a:latin typeface="Open Sans"/>
                          <a:ea typeface="Open Sans"/>
                          <a:cs typeface="Open Sans"/>
                          <a:sym typeface="Open Sans"/>
                        </a:rPr>
                        <a:t>&lt; 0.001</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FFFFF"/>
                    </a:solidFill>
                  </a:tcPr>
                </a:tc>
              </a:tr>
              <a:tr h="581728">
                <a:tc>
                  <a:txBody>
                    <a:bodyPr anchor="t" rtlCol="false"/>
                    <a:lstStyle/>
                    <a:p>
                      <a:pPr algn="l">
                        <a:lnSpc>
                          <a:spcPts val="2250"/>
                        </a:lnSpc>
                        <a:defRPr/>
                      </a:pPr>
                      <a:r>
                        <a:rPr lang="en-US" sz="1875">
                          <a:solidFill>
                            <a:srgbClr val="2B2B2B"/>
                          </a:solidFill>
                          <a:latin typeface="Open Sans"/>
                          <a:ea typeface="Open Sans"/>
                          <a:cs typeface="Open Sans"/>
                          <a:sym typeface="Open Sans"/>
                        </a:rPr>
                        <a:t>Vessels (ca)</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7ECEC"/>
                    </a:solidFill>
                  </a:tcPr>
                </a:tc>
                <a:tc>
                  <a:txBody>
                    <a:bodyPr anchor="t" rtlCol="false"/>
                    <a:lstStyle/>
                    <a:p>
                      <a:pPr algn="l">
                        <a:lnSpc>
                          <a:spcPts val="2250"/>
                        </a:lnSpc>
                        <a:defRPr/>
                      </a:pPr>
                      <a:r>
                        <a:rPr lang="en-US" sz="1875">
                          <a:solidFill>
                            <a:srgbClr val="2B2B2B"/>
                          </a:solidFill>
                          <a:latin typeface="Open Sans"/>
                          <a:ea typeface="Open Sans"/>
                          <a:cs typeface="Open Sans"/>
                          <a:sym typeface="Open Sans"/>
                        </a:rPr>
                        <a:t>Chi-square</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7ECEC"/>
                    </a:solidFill>
                  </a:tcPr>
                </a:tc>
                <a:tc>
                  <a:txBody>
                    <a:bodyPr anchor="t" rtlCol="false"/>
                    <a:lstStyle/>
                    <a:p>
                      <a:pPr algn="l">
                        <a:lnSpc>
                          <a:spcPts val="2250"/>
                        </a:lnSpc>
                        <a:defRPr/>
                      </a:pPr>
                      <a:r>
                        <a:rPr lang="en-US" sz="1875">
                          <a:solidFill>
                            <a:srgbClr val="2B2B2B"/>
                          </a:solidFill>
                          <a:latin typeface="Open Sans"/>
                          <a:ea typeface="Open Sans"/>
                          <a:cs typeface="Open Sans"/>
                          <a:sym typeface="Open Sans"/>
                        </a:rPr>
                        <a:t>&lt; 0.001</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7ECEC"/>
                    </a:solidFill>
                  </a:tcPr>
                </a:tc>
              </a:tr>
              <a:tr h="581728">
                <a:tc>
                  <a:txBody>
                    <a:bodyPr anchor="t" rtlCol="false"/>
                    <a:lstStyle/>
                    <a:p>
                      <a:pPr algn="l">
                        <a:lnSpc>
                          <a:spcPts val="2250"/>
                        </a:lnSpc>
                        <a:defRPr/>
                      </a:pPr>
                      <a:r>
                        <a:rPr lang="en-US" sz="1875">
                          <a:solidFill>
                            <a:srgbClr val="2B2B2B"/>
                          </a:solidFill>
                          <a:latin typeface="Open Sans"/>
                          <a:ea typeface="Open Sans"/>
                          <a:cs typeface="Open Sans"/>
                          <a:sym typeface="Open Sans"/>
                        </a:rPr>
                        <a:t>Thalassemia (thal)</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B2B2B"/>
                          </a:solidFill>
                          <a:latin typeface="Open Sans"/>
                          <a:ea typeface="Open Sans"/>
                          <a:cs typeface="Open Sans"/>
                          <a:sym typeface="Open Sans"/>
                        </a:rPr>
                        <a:t>Chi-square</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B2B2B"/>
                          </a:solidFill>
                          <a:latin typeface="Open Sans"/>
                          <a:ea typeface="Open Sans"/>
                          <a:cs typeface="Open Sans"/>
                          <a:sym typeface="Open Sans"/>
                        </a:rPr>
                        <a:t>&lt; 0.001</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FFFFF"/>
                    </a:solidFill>
                  </a:tcPr>
                </a:tc>
              </a:tr>
              <a:tr h="581728">
                <a:tc>
                  <a:txBody>
                    <a:bodyPr anchor="t" rtlCol="false"/>
                    <a:lstStyle/>
                    <a:p>
                      <a:pPr algn="l">
                        <a:lnSpc>
                          <a:spcPts val="2250"/>
                        </a:lnSpc>
                        <a:defRPr/>
                      </a:pPr>
                      <a:r>
                        <a:rPr lang="en-US" sz="1875">
                          <a:solidFill>
                            <a:srgbClr val="2B2B2B"/>
                          </a:solidFill>
                          <a:latin typeface="Open Sans"/>
                          <a:ea typeface="Open Sans"/>
                          <a:cs typeface="Open Sans"/>
                          <a:sym typeface="Open Sans"/>
                        </a:rPr>
                        <a:t>Age</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7ECEC"/>
                    </a:solidFill>
                  </a:tcPr>
                </a:tc>
                <a:tc>
                  <a:txBody>
                    <a:bodyPr anchor="t" rtlCol="false"/>
                    <a:lstStyle/>
                    <a:p>
                      <a:pPr algn="l">
                        <a:lnSpc>
                          <a:spcPts val="2250"/>
                        </a:lnSpc>
                        <a:defRPr/>
                      </a:pPr>
                      <a:r>
                        <a:rPr lang="en-US" sz="1875">
                          <a:solidFill>
                            <a:srgbClr val="2B2B2B"/>
                          </a:solidFill>
                          <a:latin typeface="Open Sans"/>
                          <a:ea typeface="Open Sans"/>
                          <a:cs typeface="Open Sans"/>
                          <a:sym typeface="Open Sans"/>
                        </a:rPr>
                        <a:t>Welch t-test</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7ECEC"/>
                    </a:solidFill>
                  </a:tcPr>
                </a:tc>
                <a:tc>
                  <a:txBody>
                    <a:bodyPr anchor="t" rtlCol="false"/>
                    <a:lstStyle/>
                    <a:p>
                      <a:pPr algn="l">
                        <a:lnSpc>
                          <a:spcPts val="2250"/>
                        </a:lnSpc>
                        <a:defRPr/>
                      </a:pPr>
                      <a:r>
                        <a:rPr lang="en-US" sz="1875">
                          <a:solidFill>
                            <a:srgbClr val="2B2B2B"/>
                          </a:solidFill>
                          <a:latin typeface="Open Sans"/>
                          <a:ea typeface="Open Sans"/>
                          <a:cs typeface="Open Sans"/>
                          <a:sym typeface="Open Sans"/>
                        </a:rPr>
                        <a:t>&lt; 0.001</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7ECEC"/>
                    </a:solidFill>
                  </a:tcPr>
                </a:tc>
              </a:tr>
              <a:tr h="581728">
                <a:tc>
                  <a:txBody>
                    <a:bodyPr anchor="t" rtlCol="false"/>
                    <a:lstStyle/>
                    <a:p>
                      <a:pPr algn="l">
                        <a:lnSpc>
                          <a:spcPts val="2250"/>
                        </a:lnSpc>
                        <a:defRPr/>
                      </a:pPr>
                      <a:r>
                        <a:rPr lang="en-US" sz="1875">
                          <a:solidFill>
                            <a:srgbClr val="2B2B2B"/>
                          </a:solidFill>
                          <a:latin typeface="Open Sans"/>
                          <a:ea typeface="Open Sans"/>
                          <a:cs typeface="Open Sans"/>
                          <a:sym typeface="Open Sans"/>
                        </a:rPr>
                        <a:t>Resting BP (trestbps)</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B2B2B"/>
                          </a:solidFill>
                          <a:latin typeface="Open Sans"/>
                          <a:ea typeface="Open Sans"/>
                          <a:cs typeface="Open Sans"/>
                          <a:sym typeface="Open Sans"/>
                        </a:rPr>
                        <a:t>Welch t-test</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B2B2B"/>
                          </a:solidFill>
                          <a:latin typeface="Open Sans"/>
                          <a:ea typeface="Open Sans"/>
                          <a:cs typeface="Open Sans"/>
                          <a:sym typeface="Open Sans"/>
                        </a:rPr>
                        <a:t>0.009</a:t>
                      </a:r>
                      <a:endParaRPr lang="en-US" sz="1100"/>
                    </a:p>
                  </a:txBody>
                  <a:tcPr marL="91440" marR="91440" marT="91440" marB="91440" anchor="ctr">
                    <a:lnL cmpd="sng" algn="ctr" cap="flat" w="6350">
                      <a:solidFill>
                        <a:srgbClr val="EAD9D9"/>
                      </a:solidFill>
                      <a:prstDash val="solid"/>
                      <a:round/>
                      <a:headEnd type="none" w="med" len="med"/>
                      <a:tailEnd type="none" w="med" len="med"/>
                    </a:lnL>
                    <a:lnR cmpd="sng" algn="ctr" cap="flat" w="6350">
                      <a:solidFill>
                        <a:srgbClr val="EAD9D9"/>
                      </a:solidFill>
                      <a:prstDash val="solid"/>
                      <a:round/>
                      <a:headEnd type="none" w="med" len="med"/>
                      <a:tailEnd type="none" w="med" len="med"/>
                    </a:lnR>
                    <a:lnT cmpd="sng" algn="ctr" cap="flat" w="6350">
                      <a:solidFill>
                        <a:srgbClr val="EAD9D9"/>
                      </a:solidFill>
                      <a:prstDash val="solid"/>
                      <a:round/>
                      <a:headEnd type="none" w="med" len="med"/>
                      <a:tailEnd type="none" w="med" len="med"/>
                    </a:lnT>
                    <a:lnB cmpd="sng" algn="ctr" cap="flat" w="6350">
                      <a:solidFill>
                        <a:srgbClr val="EAD9D9"/>
                      </a:solidFill>
                      <a:prstDash val="solid"/>
                      <a:round/>
                      <a:headEnd type="none" w="med" len="med"/>
                      <a:tailEnd type="none" w="med" len="med"/>
                    </a:lnB>
                    <a:solidFill>
                      <a:srgbClr val="FFFFFF"/>
                    </a:solidFill>
                  </a:tcPr>
                </a:tc>
              </a:tr>
            </a:tbl>
          </a:graphicData>
        </a:graphic>
      </p:graphicFrame>
      <p:grpSp>
        <p:nvGrpSpPr>
          <p:cNvPr name="Group 17" id="17"/>
          <p:cNvGrpSpPr/>
          <p:nvPr/>
        </p:nvGrpSpPr>
        <p:grpSpPr>
          <a:xfrm rot="0">
            <a:off x="11521440" y="2400300"/>
            <a:ext cx="5897880" cy="480060"/>
            <a:chOff x="0" y="0"/>
            <a:chExt cx="7863840" cy="640080"/>
          </a:xfrm>
        </p:grpSpPr>
        <p:sp>
          <p:nvSpPr>
            <p:cNvPr name="Freeform 18" id="18"/>
            <p:cNvSpPr/>
            <p:nvPr/>
          </p:nvSpPr>
          <p:spPr>
            <a:xfrm flipH="false" flipV="false" rot="0">
              <a:off x="0" y="0"/>
              <a:ext cx="7863840" cy="640080"/>
            </a:xfrm>
            <a:custGeom>
              <a:avLst/>
              <a:gdLst/>
              <a:ahLst/>
              <a:cxnLst/>
              <a:rect r="r" b="b" t="t" l="l"/>
              <a:pathLst>
                <a:path h="640080" w="7863840">
                  <a:moveTo>
                    <a:pt x="0" y="0"/>
                  </a:moveTo>
                  <a:lnTo>
                    <a:pt x="7863840" y="0"/>
                  </a:lnTo>
                  <a:lnTo>
                    <a:pt x="7863840" y="640080"/>
                  </a:lnTo>
                  <a:lnTo>
                    <a:pt x="0" y="640080"/>
                  </a:lnTo>
                  <a:close/>
                </a:path>
              </a:pathLst>
            </a:custGeom>
            <a:blipFill>
              <a:blip r:embed="rId3">
                <a:alphaModFix amt="0"/>
              </a:blip>
              <a:stretch>
                <a:fillRect l="0" t="-189387" r="0" b="-189387"/>
              </a:stretch>
            </a:blipFill>
          </p:spPr>
        </p:sp>
        <p:sp>
          <p:nvSpPr>
            <p:cNvPr name="TextBox 19" id="19"/>
            <p:cNvSpPr txBox="true"/>
            <p:nvPr/>
          </p:nvSpPr>
          <p:spPr>
            <a:xfrm>
              <a:off x="0" y="0"/>
              <a:ext cx="7863840" cy="640080"/>
            </a:xfrm>
            <a:prstGeom prst="rect">
              <a:avLst/>
            </a:prstGeom>
          </p:spPr>
          <p:txBody>
            <a:bodyPr anchor="ctr" rtlCol="false" tIns="0" lIns="0" bIns="0" rIns="0"/>
            <a:lstStyle/>
            <a:p>
              <a:pPr algn="l">
                <a:lnSpc>
                  <a:spcPts val="2520"/>
                </a:lnSpc>
              </a:pPr>
              <a:r>
                <a:rPr lang="en-US" b="true" sz="2100" spc="150">
                  <a:solidFill>
                    <a:srgbClr val="7A6E6E"/>
                  </a:solidFill>
                  <a:latin typeface="Open Sans Bold"/>
                  <a:ea typeface="Open Sans Bold"/>
                  <a:cs typeface="Open Sans Bold"/>
                  <a:sym typeface="Open Sans Bold"/>
                </a:rPr>
                <a:t>KHÔNG CÓ Ý NGHĨA RÕ RÀNG</a:t>
              </a:r>
            </a:p>
          </p:txBody>
        </p:sp>
      </p:grpSp>
      <p:grpSp>
        <p:nvGrpSpPr>
          <p:cNvPr name="Group 20" id="20"/>
          <p:cNvGrpSpPr/>
          <p:nvPr/>
        </p:nvGrpSpPr>
        <p:grpSpPr>
          <a:xfrm rot="0">
            <a:off x="11511915" y="3007995"/>
            <a:ext cx="5916930" cy="1143762"/>
            <a:chOff x="0" y="0"/>
            <a:chExt cx="7889240" cy="1525016"/>
          </a:xfrm>
        </p:grpSpPr>
        <p:sp>
          <p:nvSpPr>
            <p:cNvPr name="Freeform 21" id="21"/>
            <p:cNvSpPr/>
            <p:nvPr/>
          </p:nvSpPr>
          <p:spPr>
            <a:xfrm flipH="false" flipV="false" rot="0">
              <a:off x="0" y="0"/>
              <a:ext cx="7889240" cy="1525016"/>
            </a:xfrm>
            <a:custGeom>
              <a:avLst/>
              <a:gdLst/>
              <a:ahLst/>
              <a:cxnLst/>
              <a:rect r="r" b="b" t="t" l="l"/>
              <a:pathLst>
                <a:path h="1525016" w="7889240">
                  <a:moveTo>
                    <a:pt x="0" y="0"/>
                  </a:moveTo>
                  <a:lnTo>
                    <a:pt x="7889240" y="0"/>
                  </a:lnTo>
                  <a:lnTo>
                    <a:pt x="7889240" y="1525016"/>
                  </a:lnTo>
                  <a:lnTo>
                    <a:pt x="0" y="1525016"/>
                  </a:lnTo>
                  <a:close/>
                </a:path>
              </a:pathLst>
            </a:custGeom>
            <a:solidFill>
              <a:srgbClr val="FFFFFF"/>
            </a:solidFill>
            <a:ln w="19050" cap="sq">
              <a:solidFill>
                <a:srgbClr val="E0E0E0"/>
              </a:solidFill>
              <a:prstDash val="solid"/>
              <a:miter/>
            </a:ln>
          </p:spPr>
        </p:sp>
      </p:grpSp>
      <p:grpSp>
        <p:nvGrpSpPr>
          <p:cNvPr name="Group 22" id="22"/>
          <p:cNvGrpSpPr/>
          <p:nvPr/>
        </p:nvGrpSpPr>
        <p:grpSpPr>
          <a:xfrm rot="0">
            <a:off x="11521440" y="3017520"/>
            <a:ext cx="137160" cy="1124712"/>
            <a:chOff x="0" y="0"/>
            <a:chExt cx="182880" cy="1499616"/>
          </a:xfrm>
        </p:grpSpPr>
        <p:sp>
          <p:nvSpPr>
            <p:cNvPr name="Freeform 23" id="23"/>
            <p:cNvSpPr/>
            <p:nvPr/>
          </p:nvSpPr>
          <p:spPr>
            <a:xfrm flipH="false" flipV="false" rot="0">
              <a:off x="0" y="0"/>
              <a:ext cx="182880" cy="1499616"/>
            </a:xfrm>
            <a:custGeom>
              <a:avLst/>
              <a:gdLst/>
              <a:ahLst/>
              <a:cxnLst/>
              <a:rect r="r" b="b" t="t" l="l"/>
              <a:pathLst>
                <a:path h="1499616" w="182880">
                  <a:moveTo>
                    <a:pt x="0" y="0"/>
                  </a:moveTo>
                  <a:lnTo>
                    <a:pt x="182880" y="0"/>
                  </a:lnTo>
                  <a:lnTo>
                    <a:pt x="182880" y="1499616"/>
                  </a:lnTo>
                  <a:lnTo>
                    <a:pt x="0" y="1499616"/>
                  </a:lnTo>
                  <a:close/>
                </a:path>
              </a:pathLst>
            </a:custGeom>
            <a:solidFill>
              <a:srgbClr val="7A6E6E"/>
            </a:solidFill>
          </p:spPr>
        </p:sp>
      </p:grpSp>
      <p:grpSp>
        <p:nvGrpSpPr>
          <p:cNvPr name="Group 24" id="24"/>
          <p:cNvGrpSpPr/>
          <p:nvPr/>
        </p:nvGrpSpPr>
        <p:grpSpPr>
          <a:xfrm rot="0">
            <a:off x="11864340" y="3127248"/>
            <a:ext cx="5486400" cy="548640"/>
            <a:chOff x="0" y="0"/>
            <a:chExt cx="7315200" cy="731520"/>
          </a:xfrm>
        </p:grpSpPr>
        <p:sp>
          <p:nvSpPr>
            <p:cNvPr name="Freeform 25" id="25"/>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26" id="26"/>
            <p:cNvSpPr txBox="true"/>
            <p:nvPr/>
          </p:nvSpPr>
          <p:spPr>
            <a:xfrm>
              <a:off x="0" y="9525"/>
              <a:ext cx="7315200" cy="721995"/>
            </a:xfrm>
            <a:prstGeom prst="rect">
              <a:avLst/>
            </a:prstGeom>
          </p:spPr>
          <p:txBody>
            <a:bodyPr anchor="ctr" rtlCol="false" tIns="0" lIns="0" bIns="0" rIns="0"/>
            <a:lstStyle/>
            <a:p>
              <a:pPr algn="l">
                <a:lnSpc>
                  <a:spcPts val="2879"/>
                </a:lnSpc>
              </a:pPr>
              <a:r>
                <a:rPr lang="en-US" sz="2400" b="true">
                  <a:solidFill>
                    <a:srgbClr val="2B2B2B"/>
                  </a:solidFill>
                  <a:latin typeface="Open Sans Bold"/>
                  <a:ea typeface="Open Sans Bold"/>
                  <a:cs typeface="Open Sans Bold"/>
                  <a:sym typeface="Open Sans Bold"/>
                </a:rPr>
                <a:t>Cholesterol</a:t>
              </a:r>
            </a:p>
          </p:txBody>
        </p:sp>
      </p:grpSp>
      <p:grpSp>
        <p:nvGrpSpPr>
          <p:cNvPr name="Group 27" id="27"/>
          <p:cNvGrpSpPr/>
          <p:nvPr/>
        </p:nvGrpSpPr>
        <p:grpSpPr>
          <a:xfrm rot="0">
            <a:off x="11864340" y="3634740"/>
            <a:ext cx="5486400" cy="411480"/>
            <a:chOff x="0" y="0"/>
            <a:chExt cx="7315200" cy="548640"/>
          </a:xfrm>
        </p:grpSpPr>
        <p:sp>
          <p:nvSpPr>
            <p:cNvPr name="Freeform 28" id="28"/>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3">
                <a:alphaModFix amt="0"/>
              </a:blip>
              <a:stretch>
                <a:fillRect l="0" t="-209800" r="0" b="-209800"/>
              </a:stretch>
            </a:blipFill>
          </p:spPr>
        </p:sp>
        <p:sp>
          <p:nvSpPr>
            <p:cNvPr name="TextBox 29" id="29"/>
            <p:cNvSpPr txBox="true"/>
            <p:nvPr/>
          </p:nvSpPr>
          <p:spPr>
            <a:xfrm>
              <a:off x="0" y="-9525"/>
              <a:ext cx="7315200" cy="558165"/>
            </a:xfrm>
            <a:prstGeom prst="rect">
              <a:avLst/>
            </a:prstGeom>
          </p:spPr>
          <p:txBody>
            <a:bodyPr anchor="ctr" rtlCol="false" tIns="0" lIns="0" bIns="0" rIns="0"/>
            <a:lstStyle/>
            <a:p>
              <a:pPr algn="l">
                <a:lnSpc>
                  <a:spcPts val="2340"/>
                </a:lnSpc>
              </a:pPr>
              <a:r>
                <a:rPr lang="en-US" sz="1950">
                  <a:solidFill>
                    <a:srgbClr val="7A6E6E"/>
                  </a:solidFill>
                  <a:latin typeface="Open Sans"/>
                  <a:ea typeface="Open Sans"/>
                  <a:cs typeface="Open Sans"/>
                  <a:sym typeface="Open Sans"/>
                </a:rPr>
                <a:t>p = 0.137  (ns)</a:t>
              </a:r>
            </a:p>
          </p:txBody>
        </p:sp>
      </p:grpSp>
      <p:grpSp>
        <p:nvGrpSpPr>
          <p:cNvPr name="Group 30" id="30"/>
          <p:cNvGrpSpPr/>
          <p:nvPr/>
        </p:nvGrpSpPr>
        <p:grpSpPr>
          <a:xfrm rot="0">
            <a:off x="11511915" y="4379595"/>
            <a:ext cx="5916930" cy="1143762"/>
            <a:chOff x="0" y="0"/>
            <a:chExt cx="7889240" cy="1525016"/>
          </a:xfrm>
        </p:grpSpPr>
        <p:sp>
          <p:nvSpPr>
            <p:cNvPr name="Freeform 31" id="31"/>
            <p:cNvSpPr/>
            <p:nvPr/>
          </p:nvSpPr>
          <p:spPr>
            <a:xfrm flipH="false" flipV="false" rot="0">
              <a:off x="0" y="0"/>
              <a:ext cx="7889240" cy="1525016"/>
            </a:xfrm>
            <a:custGeom>
              <a:avLst/>
              <a:gdLst/>
              <a:ahLst/>
              <a:cxnLst/>
              <a:rect r="r" b="b" t="t" l="l"/>
              <a:pathLst>
                <a:path h="1525016" w="7889240">
                  <a:moveTo>
                    <a:pt x="0" y="0"/>
                  </a:moveTo>
                  <a:lnTo>
                    <a:pt x="7889240" y="0"/>
                  </a:lnTo>
                  <a:lnTo>
                    <a:pt x="7889240" y="1525016"/>
                  </a:lnTo>
                  <a:lnTo>
                    <a:pt x="0" y="1525016"/>
                  </a:lnTo>
                  <a:close/>
                </a:path>
              </a:pathLst>
            </a:custGeom>
            <a:solidFill>
              <a:srgbClr val="FFFFFF"/>
            </a:solidFill>
            <a:ln w="19050" cap="sq">
              <a:solidFill>
                <a:srgbClr val="E0E0E0"/>
              </a:solidFill>
              <a:prstDash val="solid"/>
              <a:miter/>
            </a:ln>
          </p:spPr>
        </p:sp>
      </p:grpSp>
      <p:grpSp>
        <p:nvGrpSpPr>
          <p:cNvPr name="Group 32" id="32"/>
          <p:cNvGrpSpPr/>
          <p:nvPr/>
        </p:nvGrpSpPr>
        <p:grpSpPr>
          <a:xfrm rot="0">
            <a:off x="11521440" y="4389120"/>
            <a:ext cx="137160" cy="1124712"/>
            <a:chOff x="0" y="0"/>
            <a:chExt cx="182880" cy="1499616"/>
          </a:xfrm>
        </p:grpSpPr>
        <p:sp>
          <p:nvSpPr>
            <p:cNvPr name="Freeform 33" id="33"/>
            <p:cNvSpPr/>
            <p:nvPr/>
          </p:nvSpPr>
          <p:spPr>
            <a:xfrm flipH="false" flipV="false" rot="0">
              <a:off x="0" y="0"/>
              <a:ext cx="182880" cy="1499616"/>
            </a:xfrm>
            <a:custGeom>
              <a:avLst/>
              <a:gdLst/>
              <a:ahLst/>
              <a:cxnLst/>
              <a:rect r="r" b="b" t="t" l="l"/>
              <a:pathLst>
                <a:path h="1499616" w="182880">
                  <a:moveTo>
                    <a:pt x="0" y="0"/>
                  </a:moveTo>
                  <a:lnTo>
                    <a:pt x="182880" y="0"/>
                  </a:lnTo>
                  <a:lnTo>
                    <a:pt x="182880" y="1499616"/>
                  </a:lnTo>
                  <a:lnTo>
                    <a:pt x="0" y="1499616"/>
                  </a:lnTo>
                  <a:close/>
                </a:path>
              </a:pathLst>
            </a:custGeom>
            <a:solidFill>
              <a:srgbClr val="7A6E6E"/>
            </a:solidFill>
          </p:spPr>
        </p:sp>
      </p:grpSp>
      <p:grpSp>
        <p:nvGrpSpPr>
          <p:cNvPr name="Group 34" id="34"/>
          <p:cNvGrpSpPr/>
          <p:nvPr/>
        </p:nvGrpSpPr>
        <p:grpSpPr>
          <a:xfrm rot="0">
            <a:off x="11864340" y="4498848"/>
            <a:ext cx="5486400" cy="548640"/>
            <a:chOff x="0" y="0"/>
            <a:chExt cx="7315200" cy="731520"/>
          </a:xfrm>
        </p:grpSpPr>
        <p:sp>
          <p:nvSpPr>
            <p:cNvPr name="Freeform 35" id="35"/>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36" id="36"/>
            <p:cNvSpPr txBox="true"/>
            <p:nvPr/>
          </p:nvSpPr>
          <p:spPr>
            <a:xfrm>
              <a:off x="0" y="9525"/>
              <a:ext cx="7315200" cy="721995"/>
            </a:xfrm>
            <a:prstGeom prst="rect">
              <a:avLst/>
            </a:prstGeom>
          </p:spPr>
          <p:txBody>
            <a:bodyPr anchor="ctr" rtlCol="false" tIns="0" lIns="0" bIns="0" rIns="0"/>
            <a:lstStyle/>
            <a:p>
              <a:pPr algn="l">
                <a:lnSpc>
                  <a:spcPts val="2879"/>
                </a:lnSpc>
              </a:pPr>
              <a:r>
                <a:rPr lang="en-US" sz="2400" b="true">
                  <a:solidFill>
                    <a:srgbClr val="2B2B2B"/>
                  </a:solidFill>
                  <a:latin typeface="Open Sans Bold"/>
                  <a:ea typeface="Open Sans Bold"/>
                  <a:cs typeface="Open Sans Bold"/>
                  <a:sym typeface="Open Sans Bold"/>
                </a:rPr>
                <a:t>Fasting blood sugar</a:t>
              </a:r>
            </a:p>
          </p:txBody>
        </p:sp>
      </p:grpSp>
      <p:grpSp>
        <p:nvGrpSpPr>
          <p:cNvPr name="Group 37" id="37"/>
          <p:cNvGrpSpPr/>
          <p:nvPr/>
        </p:nvGrpSpPr>
        <p:grpSpPr>
          <a:xfrm rot="0">
            <a:off x="11864340" y="5006340"/>
            <a:ext cx="5486400" cy="411480"/>
            <a:chOff x="0" y="0"/>
            <a:chExt cx="7315200" cy="548640"/>
          </a:xfrm>
        </p:grpSpPr>
        <p:sp>
          <p:nvSpPr>
            <p:cNvPr name="Freeform 38" id="38"/>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3">
                <a:alphaModFix amt="0"/>
              </a:blip>
              <a:stretch>
                <a:fillRect l="0" t="-209800" r="0" b="-209800"/>
              </a:stretch>
            </a:blipFill>
          </p:spPr>
        </p:sp>
        <p:sp>
          <p:nvSpPr>
            <p:cNvPr name="TextBox 39" id="39"/>
            <p:cNvSpPr txBox="true"/>
            <p:nvPr/>
          </p:nvSpPr>
          <p:spPr>
            <a:xfrm>
              <a:off x="0" y="-9525"/>
              <a:ext cx="7315200" cy="558165"/>
            </a:xfrm>
            <a:prstGeom prst="rect">
              <a:avLst/>
            </a:prstGeom>
          </p:spPr>
          <p:txBody>
            <a:bodyPr anchor="ctr" rtlCol="false" tIns="0" lIns="0" bIns="0" rIns="0"/>
            <a:lstStyle/>
            <a:p>
              <a:pPr algn="l">
                <a:lnSpc>
                  <a:spcPts val="2340"/>
                </a:lnSpc>
              </a:pPr>
              <a:r>
                <a:rPr lang="en-US" sz="1950">
                  <a:solidFill>
                    <a:srgbClr val="7A6E6E"/>
                  </a:solidFill>
                  <a:latin typeface="Open Sans"/>
                  <a:ea typeface="Open Sans"/>
                  <a:cs typeface="Open Sans"/>
                  <a:sym typeface="Open Sans"/>
                </a:rPr>
                <a:t>p = 0.781  (ns)</a:t>
              </a:r>
            </a:p>
          </p:txBody>
        </p:sp>
      </p:grpSp>
      <p:grpSp>
        <p:nvGrpSpPr>
          <p:cNvPr name="Group 40" id="40"/>
          <p:cNvGrpSpPr/>
          <p:nvPr/>
        </p:nvGrpSpPr>
        <p:grpSpPr>
          <a:xfrm rot="0">
            <a:off x="11511915" y="5956935"/>
            <a:ext cx="5916930" cy="1870710"/>
            <a:chOff x="0" y="0"/>
            <a:chExt cx="7889240" cy="2494280"/>
          </a:xfrm>
        </p:grpSpPr>
        <p:sp>
          <p:nvSpPr>
            <p:cNvPr name="Freeform 41" id="41"/>
            <p:cNvSpPr/>
            <p:nvPr/>
          </p:nvSpPr>
          <p:spPr>
            <a:xfrm flipH="false" flipV="false" rot="0">
              <a:off x="0" y="0"/>
              <a:ext cx="7889240" cy="2494280"/>
            </a:xfrm>
            <a:custGeom>
              <a:avLst/>
              <a:gdLst/>
              <a:ahLst/>
              <a:cxnLst/>
              <a:rect r="r" b="b" t="t" l="l"/>
              <a:pathLst>
                <a:path h="2494280" w="7889240">
                  <a:moveTo>
                    <a:pt x="0" y="0"/>
                  </a:moveTo>
                  <a:lnTo>
                    <a:pt x="7889240" y="0"/>
                  </a:lnTo>
                  <a:lnTo>
                    <a:pt x="7889240" y="2494280"/>
                  </a:lnTo>
                  <a:lnTo>
                    <a:pt x="0" y="2494280"/>
                  </a:lnTo>
                  <a:close/>
                </a:path>
              </a:pathLst>
            </a:custGeom>
            <a:solidFill>
              <a:srgbClr val="F7ECEC"/>
            </a:solidFill>
            <a:ln w="19050" cap="sq">
              <a:solidFill>
                <a:srgbClr val="990011"/>
              </a:solidFill>
              <a:prstDash val="solid"/>
              <a:miter/>
            </a:ln>
          </p:spPr>
        </p:sp>
      </p:grpSp>
      <p:grpSp>
        <p:nvGrpSpPr>
          <p:cNvPr name="Group 42" id="42"/>
          <p:cNvGrpSpPr/>
          <p:nvPr/>
        </p:nvGrpSpPr>
        <p:grpSpPr>
          <a:xfrm rot="0">
            <a:off x="11864340" y="6103620"/>
            <a:ext cx="5280660" cy="1577340"/>
            <a:chOff x="0" y="0"/>
            <a:chExt cx="7040880" cy="2103120"/>
          </a:xfrm>
        </p:grpSpPr>
        <p:sp>
          <p:nvSpPr>
            <p:cNvPr name="Freeform 43" id="43"/>
            <p:cNvSpPr/>
            <p:nvPr/>
          </p:nvSpPr>
          <p:spPr>
            <a:xfrm flipH="false" flipV="false" rot="0">
              <a:off x="0" y="0"/>
              <a:ext cx="7040880" cy="2103120"/>
            </a:xfrm>
            <a:custGeom>
              <a:avLst/>
              <a:gdLst/>
              <a:ahLst/>
              <a:cxnLst/>
              <a:rect r="r" b="b" t="t" l="l"/>
              <a:pathLst>
                <a:path h="2103120" w="7040880">
                  <a:moveTo>
                    <a:pt x="0" y="0"/>
                  </a:moveTo>
                  <a:lnTo>
                    <a:pt x="7040880" y="0"/>
                  </a:lnTo>
                  <a:lnTo>
                    <a:pt x="7040880" y="2103120"/>
                  </a:lnTo>
                  <a:lnTo>
                    <a:pt x="0" y="2103120"/>
                  </a:lnTo>
                  <a:close/>
                </a:path>
              </a:pathLst>
            </a:custGeom>
            <a:blipFill>
              <a:blip r:embed="rId3">
                <a:alphaModFix amt="0"/>
              </a:blip>
              <a:stretch>
                <a:fillRect l="0" t="-15232" r="0" b="-15232"/>
              </a:stretch>
            </a:blipFill>
          </p:spPr>
        </p:sp>
        <p:sp>
          <p:nvSpPr>
            <p:cNvPr name="TextBox 44" id="44"/>
            <p:cNvSpPr txBox="true"/>
            <p:nvPr/>
          </p:nvSpPr>
          <p:spPr>
            <a:xfrm>
              <a:off x="0" y="0"/>
              <a:ext cx="7040880" cy="2103120"/>
            </a:xfrm>
            <a:prstGeom prst="rect">
              <a:avLst/>
            </a:prstGeom>
          </p:spPr>
          <p:txBody>
            <a:bodyPr anchor="ctr" rtlCol="false" tIns="0" lIns="0" bIns="0" rIns="0"/>
            <a:lstStyle/>
            <a:p>
              <a:pPr algn="l">
                <a:lnSpc>
                  <a:spcPts val="2609"/>
                </a:lnSpc>
              </a:pPr>
              <a:r>
                <a:rPr lang="en-US" sz="2174" i="true">
                  <a:solidFill>
                    <a:srgbClr val="990011"/>
                  </a:solidFill>
                  <a:latin typeface="Open Sans Italics"/>
                  <a:ea typeface="Open Sans Italics"/>
                  <a:cs typeface="Open Sans Italics"/>
                  <a:sym typeface="Open Sans Italics"/>
                </a:rPr>
                <a:t>Welch's t-test cho biến liên tục, Chi-square cho biến phân loại. Các yếu tố lâm sàng phản ánh chức năng tim mạch cho tín hiệu mạnh nhất.</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CF6F5"/>
        </a:solidFill>
      </p:bgPr>
    </p:bg>
    <p:spTree>
      <p:nvGrpSpPr>
        <p:cNvPr id="1" name=""/>
        <p:cNvGrpSpPr/>
        <p:nvPr/>
      </p:nvGrpSpPr>
      <p:grpSpPr>
        <a:xfrm>
          <a:off x="0" y="0"/>
          <a:ext cx="0" cy="0"/>
          <a:chOff x="0" y="0"/>
          <a:chExt cx="0" cy="0"/>
        </a:xfrm>
      </p:grpSpPr>
      <p:grpSp>
        <p:nvGrpSpPr>
          <p:cNvPr name="Group 2" id="2"/>
          <p:cNvGrpSpPr/>
          <p:nvPr/>
        </p:nvGrpSpPr>
        <p:grpSpPr>
          <a:xfrm rot="0">
            <a:off x="822960" y="754380"/>
            <a:ext cx="754380" cy="754380"/>
            <a:chOff x="0" y="0"/>
            <a:chExt cx="1005840" cy="1005840"/>
          </a:xfrm>
        </p:grpSpPr>
        <p:sp>
          <p:nvSpPr>
            <p:cNvPr name="Freeform 3" id="3"/>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990011"/>
            </a:solidFill>
          </p:spPr>
        </p:sp>
      </p:grpSp>
      <p:grpSp>
        <p:nvGrpSpPr>
          <p:cNvPr name="Group 4" id="4"/>
          <p:cNvGrpSpPr/>
          <p:nvPr/>
        </p:nvGrpSpPr>
        <p:grpSpPr>
          <a:xfrm rot="0">
            <a:off x="822960" y="754380"/>
            <a:ext cx="754380" cy="754380"/>
            <a:chOff x="0" y="0"/>
            <a:chExt cx="1005840" cy="1005840"/>
          </a:xfrm>
        </p:grpSpPr>
        <p:sp>
          <p:nvSpPr>
            <p:cNvPr name="Freeform 5" id="5"/>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6" id="6"/>
            <p:cNvSpPr txBox="true"/>
            <p:nvPr/>
          </p:nvSpPr>
          <p:spPr>
            <a:xfrm>
              <a:off x="0" y="-9525"/>
              <a:ext cx="1005840" cy="1015365"/>
            </a:xfrm>
            <a:prstGeom prst="rect">
              <a:avLst/>
            </a:prstGeom>
          </p:spPr>
          <p:txBody>
            <a:bodyPr anchor="ctr" rtlCol="false" tIns="0" lIns="0" bIns="0" rIns="0"/>
            <a:lstStyle/>
            <a:p>
              <a:pPr algn="ctr">
                <a:lnSpc>
                  <a:spcPts val="3960"/>
                </a:lnSpc>
              </a:pPr>
              <a:r>
                <a:rPr lang="en-US" sz="3300" b="true">
                  <a:solidFill>
                    <a:srgbClr val="FFFFFF"/>
                  </a:solidFill>
                  <a:latin typeface="Roboto Bold"/>
                  <a:ea typeface="Roboto Bold"/>
                  <a:cs typeface="Roboto Bold"/>
                  <a:sym typeface="Roboto Bold"/>
                </a:rPr>
                <a:t>7</a:t>
              </a:r>
            </a:p>
          </p:txBody>
        </p:sp>
      </p:grpSp>
      <p:grpSp>
        <p:nvGrpSpPr>
          <p:cNvPr name="Group 7" id="7"/>
          <p:cNvGrpSpPr/>
          <p:nvPr/>
        </p:nvGrpSpPr>
        <p:grpSpPr>
          <a:xfrm rot="0">
            <a:off x="1851660" y="685800"/>
            <a:ext cx="15499080" cy="960120"/>
            <a:chOff x="0" y="0"/>
            <a:chExt cx="20665440" cy="1280160"/>
          </a:xfrm>
        </p:grpSpPr>
        <p:sp>
          <p:nvSpPr>
            <p:cNvPr name="Freeform 8" id="8"/>
            <p:cNvSpPr/>
            <p:nvPr/>
          </p:nvSpPr>
          <p:spPr>
            <a:xfrm flipH="false" flipV="false" rot="0">
              <a:off x="0" y="0"/>
              <a:ext cx="20665439" cy="1280160"/>
            </a:xfrm>
            <a:custGeom>
              <a:avLst/>
              <a:gdLst/>
              <a:ahLst/>
              <a:cxnLst/>
              <a:rect r="r" b="b" t="t" l="l"/>
              <a:pathLst>
                <a:path h="1280160" w="20665439">
                  <a:moveTo>
                    <a:pt x="0" y="0"/>
                  </a:moveTo>
                  <a:lnTo>
                    <a:pt x="20665439" y="0"/>
                  </a:lnTo>
                  <a:lnTo>
                    <a:pt x="20665439" y="1280160"/>
                  </a:lnTo>
                  <a:lnTo>
                    <a:pt x="0" y="1280160"/>
                  </a:lnTo>
                  <a:close/>
                </a:path>
              </a:pathLst>
            </a:custGeom>
            <a:blipFill>
              <a:blip r:embed="rId3">
                <a:alphaModFix amt="0"/>
              </a:blip>
              <a:stretch>
                <a:fillRect l="0" t="-264544" r="0" b="-264544"/>
              </a:stretch>
            </a:blipFill>
          </p:spPr>
        </p:sp>
        <p:sp>
          <p:nvSpPr>
            <p:cNvPr name="TextBox 9" id="9"/>
            <p:cNvSpPr txBox="true"/>
            <p:nvPr/>
          </p:nvSpPr>
          <p:spPr>
            <a:xfrm>
              <a:off x="0" y="-19050"/>
              <a:ext cx="20665440" cy="1299210"/>
            </a:xfrm>
            <a:prstGeom prst="rect">
              <a:avLst/>
            </a:prstGeom>
          </p:spPr>
          <p:txBody>
            <a:bodyPr anchor="ctr" rtlCol="false" tIns="0" lIns="0" bIns="0" rIns="0"/>
            <a:lstStyle/>
            <a:p>
              <a:pPr algn="l">
                <a:lnSpc>
                  <a:spcPts val="5400"/>
                </a:lnSpc>
              </a:pPr>
              <a:r>
                <a:rPr lang="en-US" sz="4500" b="true">
                  <a:solidFill>
                    <a:srgbClr val="990011"/>
                  </a:solidFill>
                  <a:latin typeface="Roboto Bold"/>
                  <a:ea typeface="Roboto Bold"/>
                  <a:cs typeface="Roboto Bold"/>
                  <a:sym typeface="Roboto Bold"/>
                </a:rPr>
                <a:t>Thảo luận</a:t>
              </a:r>
            </a:p>
          </p:txBody>
        </p:sp>
      </p:grpSp>
      <p:grpSp>
        <p:nvGrpSpPr>
          <p:cNvPr name="Group 10" id="10"/>
          <p:cNvGrpSpPr/>
          <p:nvPr/>
        </p:nvGrpSpPr>
        <p:grpSpPr>
          <a:xfrm rot="0">
            <a:off x="1851660" y="1618488"/>
            <a:ext cx="15499080" cy="548640"/>
            <a:chOff x="0" y="0"/>
            <a:chExt cx="20665440" cy="731520"/>
          </a:xfrm>
        </p:grpSpPr>
        <p:sp>
          <p:nvSpPr>
            <p:cNvPr name="Freeform 11" id="11"/>
            <p:cNvSpPr/>
            <p:nvPr/>
          </p:nvSpPr>
          <p:spPr>
            <a:xfrm flipH="false" flipV="false" rot="0">
              <a:off x="0" y="0"/>
              <a:ext cx="20665439" cy="731520"/>
            </a:xfrm>
            <a:custGeom>
              <a:avLst/>
              <a:gdLst/>
              <a:ahLst/>
              <a:cxnLst/>
              <a:rect r="r" b="b" t="t" l="l"/>
              <a:pathLst>
                <a:path h="731520" w="20665439">
                  <a:moveTo>
                    <a:pt x="0" y="0"/>
                  </a:moveTo>
                  <a:lnTo>
                    <a:pt x="20665439" y="0"/>
                  </a:lnTo>
                  <a:lnTo>
                    <a:pt x="20665439" y="731520"/>
                  </a:lnTo>
                  <a:lnTo>
                    <a:pt x="0" y="731520"/>
                  </a:lnTo>
                  <a:close/>
                </a:path>
              </a:pathLst>
            </a:custGeom>
            <a:blipFill>
              <a:blip r:embed="rId3">
                <a:alphaModFix amt="0"/>
              </a:blip>
              <a:stretch>
                <a:fillRect l="0" t="-500452" r="0" b="-500452"/>
              </a:stretch>
            </a:blipFill>
          </p:spPr>
        </p:sp>
        <p:sp>
          <p:nvSpPr>
            <p:cNvPr name="TextBox 12" id="12"/>
            <p:cNvSpPr txBox="true"/>
            <p:nvPr/>
          </p:nvSpPr>
          <p:spPr>
            <a:xfrm>
              <a:off x="0" y="0"/>
              <a:ext cx="20665440" cy="731520"/>
            </a:xfrm>
            <a:prstGeom prst="rect">
              <a:avLst/>
            </a:prstGeom>
          </p:spPr>
          <p:txBody>
            <a:bodyPr anchor="ctr" rtlCol="false" tIns="0" lIns="0" bIns="0" rIns="0"/>
            <a:lstStyle/>
            <a:p>
              <a:pPr algn="l">
                <a:lnSpc>
                  <a:spcPts val="2520"/>
                </a:lnSpc>
              </a:pPr>
              <a:r>
                <a:rPr lang="en-US" sz="2100" i="true">
                  <a:solidFill>
                    <a:srgbClr val="7A6E6E"/>
                  </a:solidFill>
                  <a:latin typeface="Open Sans Italics"/>
                  <a:ea typeface="Open Sans Italics"/>
                  <a:cs typeface="Open Sans Italics"/>
                  <a:sym typeface="Open Sans Italics"/>
                </a:rPr>
                <a:t>Tương quan giữa các biến với bệnh tim (Pearson &amp; Spearman)</a:t>
              </a:r>
            </a:p>
          </p:txBody>
        </p:sp>
      </p:grpSp>
      <p:grpSp>
        <p:nvGrpSpPr>
          <p:cNvPr name="Group 13" id="13"/>
          <p:cNvGrpSpPr/>
          <p:nvPr/>
        </p:nvGrpSpPr>
        <p:grpSpPr>
          <a:xfrm rot="0">
            <a:off x="813435" y="2390775"/>
            <a:ext cx="10168890" cy="4888230"/>
            <a:chOff x="0" y="0"/>
            <a:chExt cx="13558520" cy="6517640"/>
          </a:xfrm>
        </p:grpSpPr>
        <p:sp>
          <p:nvSpPr>
            <p:cNvPr name="Freeform 14" id="14"/>
            <p:cNvSpPr/>
            <p:nvPr/>
          </p:nvSpPr>
          <p:spPr>
            <a:xfrm flipH="false" flipV="false" rot="0">
              <a:off x="0" y="0"/>
              <a:ext cx="13558520" cy="6517640"/>
            </a:xfrm>
            <a:custGeom>
              <a:avLst/>
              <a:gdLst/>
              <a:ahLst/>
              <a:cxnLst/>
              <a:rect r="r" b="b" t="t" l="l"/>
              <a:pathLst>
                <a:path h="6517640" w="13558520">
                  <a:moveTo>
                    <a:pt x="0" y="0"/>
                  </a:moveTo>
                  <a:lnTo>
                    <a:pt x="13558520" y="0"/>
                  </a:lnTo>
                  <a:lnTo>
                    <a:pt x="13558520" y="6517640"/>
                  </a:lnTo>
                  <a:lnTo>
                    <a:pt x="0" y="6517640"/>
                  </a:lnTo>
                  <a:close/>
                </a:path>
              </a:pathLst>
            </a:custGeom>
            <a:solidFill>
              <a:srgbClr val="FFFFFF"/>
            </a:solidFill>
            <a:ln w="19050" cap="sq">
              <a:solidFill>
                <a:srgbClr val="EAD9D9"/>
              </a:solidFill>
              <a:prstDash val="solid"/>
              <a:miter/>
            </a:ln>
          </p:spPr>
        </p:sp>
      </p:grpSp>
      <p:grpSp>
        <p:nvGrpSpPr>
          <p:cNvPr name="Group 15" id="15"/>
          <p:cNvGrpSpPr/>
          <p:nvPr/>
        </p:nvGrpSpPr>
        <p:grpSpPr>
          <a:xfrm rot="0">
            <a:off x="960120" y="2643559"/>
            <a:ext cx="9875520" cy="4382662"/>
            <a:chOff x="0" y="0"/>
            <a:chExt cx="13167360" cy="5843549"/>
          </a:xfrm>
        </p:grpSpPr>
        <p:sp>
          <p:nvSpPr>
            <p:cNvPr name="Freeform 16" id="16" descr="/home/claude/eda_imgs/correlation.png"/>
            <p:cNvSpPr/>
            <p:nvPr/>
          </p:nvSpPr>
          <p:spPr>
            <a:xfrm flipH="false" flipV="false" rot="0">
              <a:off x="0" y="0"/>
              <a:ext cx="13167361" cy="5843524"/>
            </a:xfrm>
            <a:custGeom>
              <a:avLst/>
              <a:gdLst/>
              <a:ahLst/>
              <a:cxnLst/>
              <a:rect r="r" b="b" t="t" l="l"/>
              <a:pathLst>
                <a:path h="5843524" w="13167361">
                  <a:moveTo>
                    <a:pt x="0" y="0"/>
                  </a:moveTo>
                  <a:lnTo>
                    <a:pt x="13167361" y="0"/>
                  </a:lnTo>
                  <a:lnTo>
                    <a:pt x="13167361" y="5843524"/>
                  </a:lnTo>
                  <a:lnTo>
                    <a:pt x="0" y="5843524"/>
                  </a:lnTo>
                  <a:lnTo>
                    <a:pt x="0" y="0"/>
                  </a:lnTo>
                  <a:close/>
                </a:path>
              </a:pathLst>
            </a:custGeom>
            <a:blipFill>
              <a:blip r:embed="rId4"/>
              <a:stretch>
                <a:fillRect l="0" t="0" r="0" b="0"/>
              </a:stretch>
            </a:blipFill>
          </p:spPr>
        </p:sp>
      </p:grpSp>
      <p:grpSp>
        <p:nvGrpSpPr>
          <p:cNvPr name="Group 17" id="17"/>
          <p:cNvGrpSpPr/>
          <p:nvPr/>
        </p:nvGrpSpPr>
        <p:grpSpPr>
          <a:xfrm rot="0">
            <a:off x="11521440" y="2400300"/>
            <a:ext cx="6172200" cy="480060"/>
            <a:chOff x="0" y="0"/>
            <a:chExt cx="8229600" cy="640080"/>
          </a:xfrm>
        </p:grpSpPr>
        <p:sp>
          <p:nvSpPr>
            <p:cNvPr name="Freeform 18" id="18"/>
            <p:cNvSpPr/>
            <p:nvPr/>
          </p:nvSpPr>
          <p:spPr>
            <a:xfrm flipH="false" flipV="false" rot="0">
              <a:off x="0" y="0"/>
              <a:ext cx="8229600" cy="640080"/>
            </a:xfrm>
            <a:custGeom>
              <a:avLst/>
              <a:gdLst/>
              <a:ahLst/>
              <a:cxnLst/>
              <a:rect r="r" b="b" t="t" l="l"/>
              <a:pathLst>
                <a:path h="640080" w="8229600">
                  <a:moveTo>
                    <a:pt x="0" y="0"/>
                  </a:moveTo>
                  <a:lnTo>
                    <a:pt x="8229600" y="0"/>
                  </a:lnTo>
                  <a:lnTo>
                    <a:pt x="8229600" y="640080"/>
                  </a:lnTo>
                  <a:lnTo>
                    <a:pt x="0" y="640080"/>
                  </a:lnTo>
                  <a:close/>
                </a:path>
              </a:pathLst>
            </a:custGeom>
            <a:blipFill>
              <a:blip r:embed="rId3">
                <a:alphaModFix amt="0"/>
              </a:blip>
              <a:stretch>
                <a:fillRect l="0" t="-200521" r="0" b="-200521"/>
              </a:stretch>
            </a:blipFill>
          </p:spPr>
        </p:sp>
        <p:sp>
          <p:nvSpPr>
            <p:cNvPr name="TextBox 19" id="19"/>
            <p:cNvSpPr txBox="true"/>
            <p:nvPr/>
          </p:nvSpPr>
          <p:spPr>
            <a:xfrm>
              <a:off x="0" y="-9525"/>
              <a:ext cx="8229600" cy="649605"/>
            </a:xfrm>
            <a:prstGeom prst="rect">
              <a:avLst/>
            </a:prstGeom>
          </p:spPr>
          <p:txBody>
            <a:bodyPr anchor="ctr" rtlCol="false" tIns="0" lIns="0" bIns="0" rIns="0"/>
            <a:lstStyle/>
            <a:p>
              <a:pPr algn="l">
                <a:lnSpc>
                  <a:spcPts val="2340"/>
                </a:lnSpc>
              </a:pPr>
              <a:r>
                <a:rPr lang="en-US" b="true" sz="1950" spc="150">
                  <a:solidFill>
                    <a:srgbClr val="990011"/>
                  </a:solidFill>
                  <a:latin typeface="Open Sans Bold"/>
                  <a:ea typeface="Open Sans Bold"/>
                  <a:cs typeface="Open Sans Bold"/>
                  <a:sym typeface="Open Sans Bold"/>
                </a:rPr>
                <a:t>YẾU TỐ ẢNH HƯỞNG MẠNH NHẤT</a:t>
              </a:r>
            </a:p>
          </p:txBody>
        </p:sp>
      </p:grpSp>
      <p:grpSp>
        <p:nvGrpSpPr>
          <p:cNvPr name="Group 20" id="20"/>
          <p:cNvGrpSpPr/>
          <p:nvPr/>
        </p:nvGrpSpPr>
        <p:grpSpPr>
          <a:xfrm rot="0">
            <a:off x="11521440" y="3058668"/>
            <a:ext cx="3429000" cy="548640"/>
            <a:chOff x="0" y="0"/>
            <a:chExt cx="4572000" cy="731520"/>
          </a:xfrm>
        </p:grpSpPr>
        <p:sp>
          <p:nvSpPr>
            <p:cNvPr name="Freeform 21" id="21"/>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3">
                <a:alphaModFix amt="0"/>
              </a:blip>
              <a:stretch>
                <a:fillRect l="0" t="-71781" r="0" b="-71781"/>
              </a:stretch>
            </a:blipFill>
          </p:spPr>
        </p:sp>
        <p:sp>
          <p:nvSpPr>
            <p:cNvPr name="TextBox 22" id="22"/>
            <p:cNvSpPr txBox="true"/>
            <p:nvPr/>
          </p:nvSpPr>
          <p:spPr>
            <a:xfrm>
              <a:off x="0" y="9525"/>
              <a:ext cx="4572000" cy="721995"/>
            </a:xfrm>
            <a:prstGeom prst="rect">
              <a:avLst/>
            </a:prstGeom>
          </p:spPr>
          <p:txBody>
            <a:bodyPr anchor="ctr" rtlCol="false" tIns="0" lIns="0" bIns="0" rIns="0"/>
            <a:lstStyle/>
            <a:p>
              <a:pPr algn="l">
                <a:lnSpc>
                  <a:spcPts val="2070"/>
                </a:lnSpc>
              </a:pPr>
              <a:r>
                <a:rPr lang="en-US" sz="1725">
                  <a:solidFill>
                    <a:srgbClr val="2B2B2B"/>
                  </a:solidFill>
                  <a:latin typeface="Open Sans"/>
                  <a:ea typeface="Open Sans"/>
                  <a:cs typeface="Open Sans"/>
                  <a:sym typeface="Open Sans"/>
                </a:rPr>
                <a:t>Thalassemia (thal)</a:t>
              </a:r>
            </a:p>
          </p:txBody>
        </p:sp>
      </p:grpSp>
      <p:grpSp>
        <p:nvGrpSpPr>
          <p:cNvPr name="Group 23" id="23"/>
          <p:cNvGrpSpPr/>
          <p:nvPr/>
        </p:nvGrpSpPr>
        <p:grpSpPr>
          <a:xfrm rot="0">
            <a:off x="15019020" y="3154680"/>
            <a:ext cx="2331720" cy="384048"/>
            <a:chOff x="0" y="0"/>
            <a:chExt cx="3108960" cy="512064"/>
          </a:xfrm>
        </p:grpSpPr>
        <p:sp>
          <p:nvSpPr>
            <p:cNvPr name="Freeform 24" id="24"/>
            <p:cNvSpPr/>
            <p:nvPr/>
          </p:nvSpPr>
          <p:spPr>
            <a:xfrm flipH="false" flipV="false" rot="0">
              <a:off x="0" y="0"/>
              <a:ext cx="3108960" cy="512064"/>
            </a:xfrm>
            <a:custGeom>
              <a:avLst/>
              <a:gdLst/>
              <a:ahLst/>
              <a:cxnLst/>
              <a:rect r="r" b="b" t="t" l="l"/>
              <a:pathLst>
                <a:path h="512064" w="3108960">
                  <a:moveTo>
                    <a:pt x="0" y="0"/>
                  </a:moveTo>
                  <a:lnTo>
                    <a:pt x="3108960" y="0"/>
                  </a:lnTo>
                  <a:lnTo>
                    <a:pt x="3108960" y="512064"/>
                  </a:lnTo>
                  <a:lnTo>
                    <a:pt x="0" y="512064"/>
                  </a:lnTo>
                  <a:close/>
                </a:path>
              </a:pathLst>
            </a:custGeom>
            <a:solidFill>
              <a:srgbClr val="990011"/>
            </a:solidFill>
          </p:spPr>
        </p:sp>
      </p:grpSp>
      <p:grpSp>
        <p:nvGrpSpPr>
          <p:cNvPr name="Group 25" id="25"/>
          <p:cNvGrpSpPr/>
          <p:nvPr/>
        </p:nvGrpSpPr>
        <p:grpSpPr>
          <a:xfrm rot="0">
            <a:off x="17419320" y="3086100"/>
            <a:ext cx="960120" cy="548640"/>
            <a:chOff x="0" y="0"/>
            <a:chExt cx="1280160" cy="731520"/>
          </a:xfrm>
        </p:grpSpPr>
        <p:sp>
          <p:nvSpPr>
            <p:cNvPr name="Freeform 26" id="26"/>
            <p:cNvSpPr/>
            <p:nvPr/>
          </p:nvSpPr>
          <p:spPr>
            <a:xfrm flipH="false" flipV="false" rot="0">
              <a:off x="0" y="0"/>
              <a:ext cx="1280160" cy="731520"/>
            </a:xfrm>
            <a:custGeom>
              <a:avLst/>
              <a:gdLst/>
              <a:ahLst/>
              <a:cxnLst/>
              <a:rect r="r" b="b" t="t" l="l"/>
              <a:pathLst>
                <a:path h="731520" w="1280160">
                  <a:moveTo>
                    <a:pt x="0" y="0"/>
                  </a:moveTo>
                  <a:lnTo>
                    <a:pt x="1280160" y="0"/>
                  </a:lnTo>
                  <a:lnTo>
                    <a:pt x="1280160" y="731520"/>
                  </a:lnTo>
                  <a:lnTo>
                    <a:pt x="0" y="731520"/>
                  </a:lnTo>
                  <a:close/>
                </a:path>
              </a:pathLst>
            </a:custGeom>
            <a:blipFill>
              <a:blip r:embed="rId3">
                <a:alphaModFix amt="0"/>
              </a:blip>
              <a:stretch>
                <a:fillRect l="-23316" t="0" r="-23316" b="0"/>
              </a:stretch>
            </a:blipFill>
          </p:spPr>
        </p:sp>
        <p:sp>
          <p:nvSpPr>
            <p:cNvPr name="TextBox 27" id="27"/>
            <p:cNvSpPr txBox="true"/>
            <p:nvPr/>
          </p:nvSpPr>
          <p:spPr>
            <a:xfrm>
              <a:off x="0" y="0"/>
              <a:ext cx="1280160" cy="731520"/>
            </a:xfrm>
            <a:prstGeom prst="rect">
              <a:avLst/>
            </a:prstGeom>
          </p:spPr>
          <p:txBody>
            <a:bodyPr anchor="ctr" rtlCol="false" tIns="0" lIns="0" bIns="0" rIns="0"/>
            <a:lstStyle/>
            <a:p>
              <a:pPr algn="l">
                <a:lnSpc>
                  <a:spcPts val="1980"/>
                </a:lnSpc>
              </a:pPr>
              <a:r>
                <a:rPr lang="en-US" sz="1650" b="true">
                  <a:solidFill>
                    <a:srgbClr val="990011"/>
                  </a:solidFill>
                  <a:latin typeface="Open Sans Bold"/>
                  <a:ea typeface="Open Sans Bold"/>
                  <a:cs typeface="Open Sans Bold"/>
                  <a:sym typeface="Open Sans Bold"/>
                </a:rPr>
                <a:t>0.53</a:t>
              </a:r>
            </a:p>
          </p:txBody>
        </p:sp>
      </p:grpSp>
      <p:grpSp>
        <p:nvGrpSpPr>
          <p:cNvPr name="Group 28" id="28"/>
          <p:cNvGrpSpPr/>
          <p:nvPr/>
        </p:nvGrpSpPr>
        <p:grpSpPr>
          <a:xfrm rot="0">
            <a:off x="11521440" y="3771900"/>
            <a:ext cx="3429000" cy="548640"/>
            <a:chOff x="0" y="0"/>
            <a:chExt cx="4572000" cy="731520"/>
          </a:xfrm>
        </p:grpSpPr>
        <p:sp>
          <p:nvSpPr>
            <p:cNvPr name="Freeform 29" id="29"/>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3">
                <a:alphaModFix amt="0"/>
              </a:blip>
              <a:stretch>
                <a:fillRect l="0" t="-71781" r="0" b="-71781"/>
              </a:stretch>
            </a:blipFill>
          </p:spPr>
        </p:sp>
        <p:sp>
          <p:nvSpPr>
            <p:cNvPr name="TextBox 30" id="30"/>
            <p:cNvSpPr txBox="true"/>
            <p:nvPr/>
          </p:nvSpPr>
          <p:spPr>
            <a:xfrm>
              <a:off x="0" y="9525"/>
              <a:ext cx="4572000" cy="721995"/>
            </a:xfrm>
            <a:prstGeom prst="rect">
              <a:avLst/>
            </a:prstGeom>
          </p:spPr>
          <p:txBody>
            <a:bodyPr anchor="ctr" rtlCol="false" tIns="0" lIns="0" bIns="0" rIns="0"/>
            <a:lstStyle/>
            <a:p>
              <a:pPr algn="l">
                <a:lnSpc>
                  <a:spcPts val="2070"/>
                </a:lnSpc>
              </a:pPr>
              <a:r>
                <a:rPr lang="en-US" sz="1725">
                  <a:solidFill>
                    <a:srgbClr val="2B2B2B"/>
                  </a:solidFill>
                  <a:latin typeface="Open Sans"/>
                  <a:ea typeface="Open Sans"/>
                  <a:cs typeface="Open Sans"/>
                  <a:sym typeface="Open Sans"/>
                </a:rPr>
                <a:t>Vessels (ca)</a:t>
              </a:r>
            </a:p>
          </p:txBody>
        </p:sp>
      </p:grpSp>
      <p:grpSp>
        <p:nvGrpSpPr>
          <p:cNvPr name="Group 31" id="31"/>
          <p:cNvGrpSpPr/>
          <p:nvPr/>
        </p:nvGrpSpPr>
        <p:grpSpPr>
          <a:xfrm rot="0">
            <a:off x="15019020" y="3867912"/>
            <a:ext cx="2023758" cy="384048"/>
            <a:chOff x="0" y="0"/>
            <a:chExt cx="2698344" cy="512064"/>
          </a:xfrm>
        </p:grpSpPr>
        <p:sp>
          <p:nvSpPr>
            <p:cNvPr name="Freeform 32" id="32"/>
            <p:cNvSpPr/>
            <p:nvPr/>
          </p:nvSpPr>
          <p:spPr>
            <a:xfrm flipH="false" flipV="false" rot="0">
              <a:off x="0" y="0"/>
              <a:ext cx="2698369" cy="512064"/>
            </a:xfrm>
            <a:custGeom>
              <a:avLst/>
              <a:gdLst/>
              <a:ahLst/>
              <a:cxnLst/>
              <a:rect r="r" b="b" t="t" l="l"/>
              <a:pathLst>
                <a:path h="512064" w="2698369">
                  <a:moveTo>
                    <a:pt x="0" y="0"/>
                  </a:moveTo>
                  <a:lnTo>
                    <a:pt x="2698369" y="0"/>
                  </a:lnTo>
                  <a:lnTo>
                    <a:pt x="2698369" y="512064"/>
                  </a:lnTo>
                  <a:lnTo>
                    <a:pt x="0" y="512064"/>
                  </a:lnTo>
                  <a:close/>
                </a:path>
              </a:pathLst>
            </a:custGeom>
            <a:solidFill>
              <a:srgbClr val="990011"/>
            </a:solidFill>
          </p:spPr>
        </p:sp>
      </p:grpSp>
      <p:grpSp>
        <p:nvGrpSpPr>
          <p:cNvPr name="Group 33" id="33"/>
          <p:cNvGrpSpPr/>
          <p:nvPr/>
        </p:nvGrpSpPr>
        <p:grpSpPr>
          <a:xfrm rot="0">
            <a:off x="17111358" y="3799332"/>
            <a:ext cx="960120" cy="548640"/>
            <a:chOff x="0" y="0"/>
            <a:chExt cx="1280160" cy="731520"/>
          </a:xfrm>
        </p:grpSpPr>
        <p:sp>
          <p:nvSpPr>
            <p:cNvPr name="Freeform 34" id="34"/>
            <p:cNvSpPr/>
            <p:nvPr/>
          </p:nvSpPr>
          <p:spPr>
            <a:xfrm flipH="false" flipV="false" rot="0">
              <a:off x="0" y="0"/>
              <a:ext cx="1280160" cy="731520"/>
            </a:xfrm>
            <a:custGeom>
              <a:avLst/>
              <a:gdLst/>
              <a:ahLst/>
              <a:cxnLst/>
              <a:rect r="r" b="b" t="t" l="l"/>
              <a:pathLst>
                <a:path h="731520" w="1280160">
                  <a:moveTo>
                    <a:pt x="0" y="0"/>
                  </a:moveTo>
                  <a:lnTo>
                    <a:pt x="1280160" y="0"/>
                  </a:lnTo>
                  <a:lnTo>
                    <a:pt x="1280160" y="731520"/>
                  </a:lnTo>
                  <a:lnTo>
                    <a:pt x="0" y="731520"/>
                  </a:lnTo>
                  <a:close/>
                </a:path>
              </a:pathLst>
            </a:custGeom>
            <a:blipFill>
              <a:blip r:embed="rId3">
                <a:alphaModFix amt="0"/>
              </a:blip>
              <a:stretch>
                <a:fillRect l="-23316" t="0" r="-23316" b="0"/>
              </a:stretch>
            </a:blipFill>
          </p:spPr>
        </p:sp>
        <p:sp>
          <p:nvSpPr>
            <p:cNvPr name="TextBox 35" id="35"/>
            <p:cNvSpPr txBox="true"/>
            <p:nvPr/>
          </p:nvSpPr>
          <p:spPr>
            <a:xfrm>
              <a:off x="0" y="0"/>
              <a:ext cx="1280160" cy="731520"/>
            </a:xfrm>
            <a:prstGeom prst="rect">
              <a:avLst/>
            </a:prstGeom>
          </p:spPr>
          <p:txBody>
            <a:bodyPr anchor="ctr" rtlCol="false" tIns="0" lIns="0" bIns="0" rIns="0"/>
            <a:lstStyle/>
            <a:p>
              <a:pPr algn="l">
                <a:lnSpc>
                  <a:spcPts val="1980"/>
                </a:lnSpc>
              </a:pPr>
              <a:r>
                <a:rPr lang="en-US" sz="1650" b="true">
                  <a:solidFill>
                    <a:srgbClr val="990011"/>
                  </a:solidFill>
                  <a:latin typeface="Open Sans Bold"/>
                  <a:ea typeface="Open Sans Bold"/>
                  <a:cs typeface="Open Sans Bold"/>
                  <a:sym typeface="Open Sans Bold"/>
                </a:rPr>
                <a:t>0.46</a:t>
              </a:r>
            </a:p>
          </p:txBody>
        </p:sp>
      </p:grpSp>
      <p:grpSp>
        <p:nvGrpSpPr>
          <p:cNvPr name="Group 36" id="36"/>
          <p:cNvGrpSpPr/>
          <p:nvPr/>
        </p:nvGrpSpPr>
        <p:grpSpPr>
          <a:xfrm rot="0">
            <a:off x="11521440" y="4485132"/>
            <a:ext cx="3429000" cy="548640"/>
            <a:chOff x="0" y="0"/>
            <a:chExt cx="4572000" cy="731520"/>
          </a:xfrm>
        </p:grpSpPr>
        <p:sp>
          <p:nvSpPr>
            <p:cNvPr name="Freeform 37" id="37"/>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3">
                <a:alphaModFix amt="0"/>
              </a:blip>
              <a:stretch>
                <a:fillRect l="0" t="-71781" r="0" b="-71781"/>
              </a:stretch>
            </a:blipFill>
          </p:spPr>
        </p:sp>
        <p:sp>
          <p:nvSpPr>
            <p:cNvPr name="TextBox 38" id="38"/>
            <p:cNvSpPr txBox="true"/>
            <p:nvPr/>
          </p:nvSpPr>
          <p:spPr>
            <a:xfrm>
              <a:off x="0" y="9525"/>
              <a:ext cx="4572000" cy="721995"/>
            </a:xfrm>
            <a:prstGeom prst="rect">
              <a:avLst/>
            </a:prstGeom>
          </p:spPr>
          <p:txBody>
            <a:bodyPr anchor="ctr" rtlCol="false" tIns="0" lIns="0" bIns="0" rIns="0"/>
            <a:lstStyle/>
            <a:p>
              <a:pPr algn="l">
                <a:lnSpc>
                  <a:spcPts val="2070"/>
                </a:lnSpc>
              </a:pPr>
              <a:r>
                <a:rPr lang="en-US" sz="1725">
                  <a:solidFill>
                    <a:srgbClr val="2B2B2B"/>
                  </a:solidFill>
                  <a:latin typeface="Open Sans"/>
                  <a:ea typeface="Open Sans"/>
                  <a:cs typeface="Open Sans"/>
                  <a:sym typeface="Open Sans"/>
                </a:rPr>
                <a:t>Exercise angina</a:t>
              </a:r>
            </a:p>
          </p:txBody>
        </p:sp>
      </p:grpSp>
      <p:grpSp>
        <p:nvGrpSpPr>
          <p:cNvPr name="Group 39" id="39"/>
          <p:cNvGrpSpPr/>
          <p:nvPr/>
        </p:nvGrpSpPr>
        <p:grpSpPr>
          <a:xfrm rot="0">
            <a:off x="15019020" y="4581144"/>
            <a:ext cx="1891770" cy="384048"/>
            <a:chOff x="0" y="0"/>
            <a:chExt cx="2522360" cy="512064"/>
          </a:xfrm>
        </p:grpSpPr>
        <p:sp>
          <p:nvSpPr>
            <p:cNvPr name="Freeform 40" id="40"/>
            <p:cNvSpPr/>
            <p:nvPr/>
          </p:nvSpPr>
          <p:spPr>
            <a:xfrm flipH="false" flipV="false" rot="0">
              <a:off x="0" y="0"/>
              <a:ext cx="2522347" cy="512064"/>
            </a:xfrm>
            <a:custGeom>
              <a:avLst/>
              <a:gdLst/>
              <a:ahLst/>
              <a:cxnLst/>
              <a:rect r="r" b="b" t="t" l="l"/>
              <a:pathLst>
                <a:path h="512064" w="2522347">
                  <a:moveTo>
                    <a:pt x="0" y="0"/>
                  </a:moveTo>
                  <a:lnTo>
                    <a:pt x="2522347" y="0"/>
                  </a:lnTo>
                  <a:lnTo>
                    <a:pt x="2522347" y="512064"/>
                  </a:lnTo>
                  <a:lnTo>
                    <a:pt x="0" y="512064"/>
                  </a:lnTo>
                  <a:close/>
                </a:path>
              </a:pathLst>
            </a:custGeom>
            <a:solidFill>
              <a:srgbClr val="990011"/>
            </a:solidFill>
          </p:spPr>
        </p:sp>
      </p:grpSp>
      <p:grpSp>
        <p:nvGrpSpPr>
          <p:cNvPr name="Group 41" id="41"/>
          <p:cNvGrpSpPr/>
          <p:nvPr/>
        </p:nvGrpSpPr>
        <p:grpSpPr>
          <a:xfrm rot="0">
            <a:off x="16979370" y="4512564"/>
            <a:ext cx="960120" cy="548640"/>
            <a:chOff x="0" y="0"/>
            <a:chExt cx="1280160" cy="731520"/>
          </a:xfrm>
        </p:grpSpPr>
        <p:sp>
          <p:nvSpPr>
            <p:cNvPr name="Freeform 42" id="42"/>
            <p:cNvSpPr/>
            <p:nvPr/>
          </p:nvSpPr>
          <p:spPr>
            <a:xfrm flipH="false" flipV="false" rot="0">
              <a:off x="0" y="0"/>
              <a:ext cx="1280160" cy="731520"/>
            </a:xfrm>
            <a:custGeom>
              <a:avLst/>
              <a:gdLst/>
              <a:ahLst/>
              <a:cxnLst/>
              <a:rect r="r" b="b" t="t" l="l"/>
              <a:pathLst>
                <a:path h="731520" w="1280160">
                  <a:moveTo>
                    <a:pt x="0" y="0"/>
                  </a:moveTo>
                  <a:lnTo>
                    <a:pt x="1280160" y="0"/>
                  </a:lnTo>
                  <a:lnTo>
                    <a:pt x="1280160" y="731520"/>
                  </a:lnTo>
                  <a:lnTo>
                    <a:pt x="0" y="731520"/>
                  </a:lnTo>
                  <a:close/>
                </a:path>
              </a:pathLst>
            </a:custGeom>
            <a:blipFill>
              <a:blip r:embed="rId3">
                <a:alphaModFix amt="0"/>
              </a:blip>
              <a:stretch>
                <a:fillRect l="-23316" t="0" r="-23316" b="0"/>
              </a:stretch>
            </a:blipFill>
          </p:spPr>
        </p:sp>
        <p:sp>
          <p:nvSpPr>
            <p:cNvPr name="TextBox 43" id="43"/>
            <p:cNvSpPr txBox="true"/>
            <p:nvPr/>
          </p:nvSpPr>
          <p:spPr>
            <a:xfrm>
              <a:off x="0" y="0"/>
              <a:ext cx="1280160" cy="731520"/>
            </a:xfrm>
            <a:prstGeom prst="rect">
              <a:avLst/>
            </a:prstGeom>
          </p:spPr>
          <p:txBody>
            <a:bodyPr anchor="ctr" rtlCol="false" tIns="0" lIns="0" bIns="0" rIns="0"/>
            <a:lstStyle/>
            <a:p>
              <a:pPr algn="l">
                <a:lnSpc>
                  <a:spcPts val="1980"/>
                </a:lnSpc>
              </a:pPr>
              <a:r>
                <a:rPr lang="en-US" sz="1650" b="true">
                  <a:solidFill>
                    <a:srgbClr val="990011"/>
                  </a:solidFill>
                  <a:latin typeface="Open Sans Bold"/>
                  <a:ea typeface="Open Sans Bold"/>
                  <a:cs typeface="Open Sans Bold"/>
                  <a:sym typeface="Open Sans Bold"/>
                </a:rPr>
                <a:t>0.43</a:t>
              </a:r>
            </a:p>
          </p:txBody>
        </p:sp>
      </p:grpSp>
      <p:grpSp>
        <p:nvGrpSpPr>
          <p:cNvPr name="Group 44" id="44"/>
          <p:cNvGrpSpPr/>
          <p:nvPr/>
        </p:nvGrpSpPr>
        <p:grpSpPr>
          <a:xfrm rot="0">
            <a:off x="11521440" y="5198364"/>
            <a:ext cx="3429000" cy="548640"/>
            <a:chOff x="0" y="0"/>
            <a:chExt cx="4572000" cy="731520"/>
          </a:xfrm>
        </p:grpSpPr>
        <p:sp>
          <p:nvSpPr>
            <p:cNvPr name="Freeform 45" id="45"/>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3">
                <a:alphaModFix amt="0"/>
              </a:blip>
              <a:stretch>
                <a:fillRect l="0" t="-71781" r="0" b="-71781"/>
              </a:stretch>
            </a:blipFill>
          </p:spPr>
        </p:sp>
        <p:sp>
          <p:nvSpPr>
            <p:cNvPr name="TextBox 46" id="46"/>
            <p:cNvSpPr txBox="true"/>
            <p:nvPr/>
          </p:nvSpPr>
          <p:spPr>
            <a:xfrm>
              <a:off x="0" y="9525"/>
              <a:ext cx="4572000" cy="721995"/>
            </a:xfrm>
            <a:prstGeom prst="rect">
              <a:avLst/>
            </a:prstGeom>
          </p:spPr>
          <p:txBody>
            <a:bodyPr anchor="ctr" rtlCol="false" tIns="0" lIns="0" bIns="0" rIns="0"/>
            <a:lstStyle/>
            <a:p>
              <a:pPr algn="l">
                <a:lnSpc>
                  <a:spcPts val="2070"/>
                </a:lnSpc>
              </a:pPr>
              <a:r>
                <a:rPr lang="en-US" sz="1725">
                  <a:solidFill>
                    <a:srgbClr val="2B2B2B"/>
                  </a:solidFill>
                  <a:latin typeface="Open Sans"/>
                  <a:ea typeface="Open Sans"/>
                  <a:cs typeface="Open Sans"/>
                  <a:sym typeface="Open Sans"/>
                </a:rPr>
                <a:t>ST depression</a:t>
              </a:r>
            </a:p>
          </p:txBody>
        </p:sp>
      </p:grpSp>
      <p:grpSp>
        <p:nvGrpSpPr>
          <p:cNvPr name="Group 47" id="47"/>
          <p:cNvGrpSpPr/>
          <p:nvPr/>
        </p:nvGrpSpPr>
        <p:grpSpPr>
          <a:xfrm rot="0">
            <a:off x="15019020" y="5294376"/>
            <a:ext cx="1891770" cy="384048"/>
            <a:chOff x="0" y="0"/>
            <a:chExt cx="2522360" cy="512064"/>
          </a:xfrm>
        </p:grpSpPr>
        <p:sp>
          <p:nvSpPr>
            <p:cNvPr name="Freeform 48" id="48"/>
            <p:cNvSpPr/>
            <p:nvPr/>
          </p:nvSpPr>
          <p:spPr>
            <a:xfrm flipH="false" flipV="false" rot="0">
              <a:off x="0" y="0"/>
              <a:ext cx="2522347" cy="512064"/>
            </a:xfrm>
            <a:custGeom>
              <a:avLst/>
              <a:gdLst/>
              <a:ahLst/>
              <a:cxnLst/>
              <a:rect r="r" b="b" t="t" l="l"/>
              <a:pathLst>
                <a:path h="512064" w="2522347">
                  <a:moveTo>
                    <a:pt x="0" y="0"/>
                  </a:moveTo>
                  <a:lnTo>
                    <a:pt x="2522347" y="0"/>
                  </a:lnTo>
                  <a:lnTo>
                    <a:pt x="2522347" y="512064"/>
                  </a:lnTo>
                  <a:lnTo>
                    <a:pt x="0" y="512064"/>
                  </a:lnTo>
                  <a:close/>
                </a:path>
              </a:pathLst>
            </a:custGeom>
            <a:solidFill>
              <a:srgbClr val="990011"/>
            </a:solidFill>
          </p:spPr>
        </p:sp>
      </p:grpSp>
      <p:grpSp>
        <p:nvGrpSpPr>
          <p:cNvPr name="Group 49" id="49"/>
          <p:cNvGrpSpPr/>
          <p:nvPr/>
        </p:nvGrpSpPr>
        <p:grpSpPr>
          <a:xfrm rot="0">
            <a:off x="16979370" y="5225796"/>
            <a:ext cx="960120" cy="548640"/>
            <a:chOff x="0" y="0"/>
            <a:chExt cx="1280160" cy="731520"/>
          </a:xfrm>
        </p:grpSpPr>
        <p:sp>
          <p:nvSpPr>
            <p:cNvPr name="Freeform 50" id="50"/>
            <p:cNvSpPr/>
            <p:nvPr/>
          </p:nvSpPr>
          <p:spPr>
            <a:xfrm flipH="false" flipV="false" rot="0">
              <a:off x="0" y="0"/>
              <a:ext cx="1280160" cy="731520"/>
            </a:xfrm>
            <a:custGeom>
              <a:avLst/>
              <a:gdLst/>
              <a:ahLst/>
              <a:cxnLst/>
              <a:rect r="r" b="b" t="t" l="l"/>
              <a:pathLst>
                <a:path h="731520" w="1280160">
                  <a:moveTo>
                    <a:pt x="0" y="0"/>
                  </a:moveTo>
                  <a:lnTo>
                    <a:pt x="1280160" y="0"/>
                  </a:lnTo>
                  <a:lnTo>
                    <a:pt x="1280160" y="731520"/>
                  </a:lnTo>
                  <a:lnTo>
                    <a:pt x="0" y="731520"/>
                  </a:lnTo>
                  <a:close/>
                </a:path>
              </a:pathLst>
            </a:custGeom>
            <a:blipFill>
              <a:blip r:embed="rId3">
                <a:alphaModFix amt="0"/>
              </a:blip>
              <a:stretch>
                <a:fillRect l="-23316" t="0" r="-23316" b="0"/>
              </a:stretch>
            </a:blipFill>
          </p:spPr>
        </p:sp>
        <p:sp>
          <p:nvSpPr>
            <p:cNvPr name="TextBox 51" id="51"/>
            <p:cNvSpPr txBox="true"/>
            <p:nvPr/>
          </p:nvSpPr>
          <p:spPr>
            <a:xfrm>
              <a:off x="0" y="0"/>
              <a:ext cx="1280160" cy="731520"/>
            </a:xfrm>
            <a:prstGeom prst="rect">
              <a:avLst/>
            </a:prstGeom>
          </p:spPr>
          <p:txBody>
            <a:bodyPr anchor="ctr" rtlCol="false" tIns="0" lIns="0" bIns="0" rIns="0"/>
            <a:lstStyle/>
            <a:p>
              <a:pPr algn="l">
                <a:lnSpc>
                  <a:spcPts val="1980"/>
                </a:lnSpc>
              </a:pPr>
              <a:r>
                <a:rPr lang="en-US" sz="1650" b="true">
                  <a:solidFill>
                    <a:srgbClr val="990011"/>
                  </a:solidFill>
                  <a:latin typeface="Open Sans Bold"/>
                  <a:ea typeface="Open Sans Bold"/>
                  <a:cs typeface="Open Sans Bold"/>
                  <a:sym typeface="Open Sans Bold"/>
                </a:rPr>
                <a:t>0.43</a:t>
              </a:r>
            </a:p>
          </p:txBody>
        </p:sp>
      </p:grpSp>
      <p:grpSp>
        <p:nvGrpSpPr>
          <p:cNvPr name="Group 52" id="52"/>
          <p:cNvGrpSpPr/>
          <p:nvPr/>
        </p:nvGrpSpPr>
        <p:grpSpPr>
          <a:xfrm rot="0">
            <a:off x="11521440" y="5911596"/>
            <a:ext cx="3429000" cy="548640"/>
            <a:chOff x="0" y="0"/>
            <a:chExt cx="4572000" cy="731520"/>
          </a:xfrm>
        </p:grpSpPr>
        <p:sp>
          <p:nvSpPr>
            <p:cNvPr name="Freeform 53" id="53"/>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3">
                <a:alphaModFix amt="0"/>
              </a:blip>
              <a:stretch>
                <a:fillRect l="0" t="-71781" r="0" b="-71781"/>
              </a:stretch>
            </a:blipFill>
          </p:spPr>
        </p:sp>
        <p:sp>
          <p:nvSpPr>
            <p:cNvPr name="TextBox 54" id="54"/>
            <p:cNvSpPr txBox="true"/>
            <p:nvPr/>
          </p:nvSpPr>
          <p:spPr>
            <a:xfrm>
              <a:off x="0" y="9525"/>
              <a:ext cx="4572000" cy="721995"/>
            </a:xfrm>
            <a:prstGeom prst="rect">
              <a:avLst/>
            </a:prstGeom>
          </p:spPr>
          <p:txBody>
            <a:bodyPr anchor="ctr" rtlCol="false" tIns="0" lIns="0" bIns="0" rIns="0"/>
            <a:lstStyle/>
            <a:p>
              <a:pPr algn="l">
                <a:lnSpc>
                  <a:spcPts val="2070"/>
                </a:lnSpc>
              </a:pPr>
              <a:r>
                <a:rPr lang="en-US" sz="1725">
                  <a:solidFill>
                    <a:srgbClr val="2B2B2B"/>
                  </a:solidFill>
                  <a:latin typeface="Open Sans"/>
                  <a:ea typeface="Open Sans"/>
                  <a:cs typeface="Open Sans"/>
                  <a:sym typeface="Open Sans"/>
                </a:rPr>
                <a:t>Max heart rate</a:t>
              </a:r>
            </a:p>
          </p:txBody>
        </p:sp>
      </p:grpSp>
      <p:grpSp>
        <p:nvGrpSpPr>
          <p:cNvPr name="Group 55" id="55"/>
          <p:cNvGrpSpPr/>
          <p:nvPr/>
        </p:nvGrpSpPr>
        <p:grpSpPr>
          <a:xfrm rot="0">
            <a:off x="15019020" y="6007608"/>
            <a:ext cx="1847774" cy="384048"/>
            <a:chOff x="0" y="0"/>
            <a:chExt cx="2463698" cy="512064"/>
          </a:xfrm>
        </p:grpSpPr>
        <p:sp>
          <p:nvSpPr>
            <p:cNvPr name="Freeform 56" id="56"/>
            <p:cNvSpPr/>
            <p:nvPr/>
          </p:nvSpPr>
          <p:spPr>
            <a:xfrm flipH="false" flipV="false" rot="0">
              <a:off x="0" y="0"/>
              <a:ext cx="2463673" cy="512064"/>
            </a:xfrm>
            <a:custGeom>
              <a:avLst/>
              <a:gdLst/>
              <a:ahLst/>
              <a:cxnLst/>
              <a:rect r="r" b="b" t="t" l="l"/>
              <a:pathLst>
                <a:path h="512064" w="2463673">
                  <a:moveTo>
                    <a:pt x="0" y="0"/>
                  </a:moveTo>
                  <a:lnTo>
                    <a:pt x="2463673" y="0"/>
                  </a:lnTo>
                  <a:lnTo>
                    <a:pt x="2463673" y="512064"/>
                  </a:lnTo>
                  <a:lnTo>
                    <a:pt x="0" y="512064"/>
                  </a:lnTo>
                  <a:close/>
                </a:path>
              </a:pathLst>
            </a:custGeom>
            <a:solidFill>
              <a:srgbClr val="990011"/>
            </a:solidFill>
          </p:spPr>
        </p:sp>
      </p:grpSp>
      <p:grpSp>
        <p:nvGrpSpPr>
          <p:cNvPr name="Group 57" id="57"/>
          <p:cNvGrpSpPr/>
          <p:nvPr/>
        </p:nvGrpSpPr>
        <p:grpSpPr>
          <a:xfrm rot="0">
            <a:off x="16935374" y="5939028"/>
            <a:ext cx="960120" cy="548640"/>
            <a:chOff x="0" y="0"/>
            <a:chExt cx="1280160" cy="731520"/>
          </a:xfrm>
        </p:grpSpPr>
        <p:sp>
          <p:nvSpPr>
            <p:cNvPr name="Freeform 58" id="58"/>
            <p:cNvSpPr/>
            <p:nvPr/>
          </p:nvSpPr>
          <p:spPr>
            <a:xfrm flipH="false" flipV="false" rot="0">
              <a:off x="0" y="0"/>
              <a:ext cx="1280160" cy="731520"/>
            </a:xfrm>
            <a:custGeom>
              <a:avLst/>
              <a:gdLst/>
              <a:ahLst/>
              <a:cxnLst/>
              <a:rect r="r" b="b" t="t" l="l"/>
              <a:pathLst>
                <a:path h="731520" w="1280160">
                  <a:moveTo>
                    <a:pt x="0" y="0"/>
                  </a:moveTo>
                  <a:lnTo>
                    <a:pt x="1280160" y="0"/>
                  </a:lnTo>
                  <a:lnTo>
                    <a:pt x="1280160" y="731520"/>
                  </a:lnTo>
                  <a:lnTo>
                    <a:pt x="0" y="731520"/>
                  </a:lnTo>
                  <a:close/>
                </a:path>
              </a:pathLst>
            </a:custGeom>
            <a:blipFill>
              <a:blip r:embed="rId3">
                <a:alphaModFix amt="0"/>
              </a:blip>
              <a:stretch>
                <a:fillRect l="-23316" t="0" r="-23316" b="0"/>
              </a:stretch>
            </a:blipFill>
          </p:spPr>
        </p:sp>
        <p:sp>
          <p:nvSpPr>
            <p:cNvPr name="TextBox 59" id="59"/>
            <p:cNvSpPr txBox="true"/>
            <p:nvPr/>
          </p:nvSpPr>
          <p:spPr>
            <a:xfrm>
              <a:off x="0" y="0"/>
              <a:ext cx="1280160" cy="731520"/>
            </a:xfrm>
            <a:prstGeom prst="rect">
              <a:avLst/>
            </a:prstGeom>
          </p:spPr>
          <p:txBody>
            <a:bodyPr anchor="ctr" rtlCol="false" tIns="0" lIns="0" bIns="0" rIns="0"/>
            <a:lstStyle/>
            <a:p>
              <a:pPr algn="l">
                <a:lnSpc>
                  <a:spcPts val="1980"/>
                </a:lnSpc>
              </a:pPr>
              <a:r>
                <a:rPr lang="en-US" sz="1650" b="true">
                  <a:solidFill>
                    <a:srgbClr val="990011"/>
                  </a:solidFill>
                  <a:latin typeface="Open Sans Bold"/>
                  <a:ea typeface="Open Sans Bold"/>
                  <a:cs typeface="Open Sans Bold"/>
                  <a:sym typeface="Open Sans Bold"/>
                </a:rPr>
                <a:t>0.42</a:t>
              </a:r>
            </a:p>
          </p:txBody>
        </p:sp>
      </p:grpSp>
      <p:grpSp>
        <p:nvGrpSpPr>
          <p:cNvPr name="Group 60" id="60"/>
          <p:cNvGrpSpPr/>
          <p:nvPr/>
        </p:nvGrpSpPr>
        <p:grpSpPr>
          <a:xfrm rot="0">
            <a:off x="11521440" y="6624828"/>
            <a:ext cx="3429000" cy="548640"/>
            <a:chOff x="0" y="0"/>
            <a:chExt cx="4572000" cy="731520"/>
          </a:xfrm>
        </p:grpSpPr>
        <p:sp>
          <p:nvSpPr>
            <p:cNvPr name="Freeform 61" id="61"/>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3">
                <a:alphaModFix amt="0"/>
              </a:blip>
              <a:stretch>
                <a:fillRect l="0" t="-71781" r="0" b="-71781"/>
              </a:stretch>
            </a:blipFill>
          </p:spPr>
        </p:sp>
        <p:sp>
          <p:nvSpPr>
            <p:cNvPr name="TextBox 62" id="62"/>
            <p:cNvSpPr txBox="true"/>
            <p:nvPr/>
          </p:nvSpPr>
          <p:spPr>
            <a:xfrm>
              <a:off x="0" y="9525"/>
              <a:ext cx="4572000" cy="721995"/>
            </a:xfrm>
            <a:prstGeom prst="rect">
              <a:avLst/>
            </a:prstGeom>
          </p:spPr>
          <p:txBody>
            <a:bodyPr anchor="ctr" rtlCol="false" tIns="0" lIns="0" bIns="0" rIns="0"/>
            <a:lstStyle/>
            <a:p>
              <a:pPr algn="l">
                <a:lnSpc>
                  <a:spcPts val="2070"/>
                </a:lnSpc>
              </a:pPr>
              <a:r>
                <a:rPr lang="en-US" sz="1725">
                  <a:solidFill>
                    <a:srgbClr val="2B2B2B"/>
                  </a:solidFill>
                  <a:latin typeface="Open Sans"/>
                  <a:ea typeface="Open Sans"/>
                  <a:cs typeface="Open Sans"/>
                  <a:sym typeface="Open Sans"/>
                </a:rPr>
                <a:t>Chest pain (cp)</a:t>
              </a:r>
            </a:p>
          </p:txBody>
        </p:sp>
      </p:grpSp>
      <p:grpSp>
        <p:nvGrpSpPr>
          <p:cNvPr name="Group 63" id="63"/>
          <p:cNvGrpSpPr/>
          <p:nvPr/>
        </p:nvGrpSpPr>
        <p:grpSpPr>
          <a:xfrm rot="0">
            <a:off x="15019020" y="6720840"/>
            <a:ext cx="1803787" cy="384048"/>
            <a:chOff x="0" y="0"/>
            <a:chExt cx="2405050" cy="512064"/>
          </a:xfrm>
        </p:grpSpPr>
        <p:sp>
          <p:nvSpPr>
            <p:cNvPr name="Freeform 64" id="64"/>
            <p:cNvSpPr/>
            <p:nvPr/>
          </p:nvSpPr>
          <p:spPr>
            <a:xfrm flipH="false" flipV="false" rot="0">
              <a:off x="0" y="0"/>
              <a:ext cx="2404999" cy="512064"/>
            </a:xfrm>
            <a:custGeom>
              <a:avLst/>
              <a:gdLst/>
              <a:ahLst/>
              <a:cxnLst/>
              <a:rect r="r" b="b" t="t" l="l"/>
              <a:pathLst>
                <a:path h="512064" w="2404999">
                  <a:moveTo>
                    <a:pt x="0" y="0"/>
                  </a:moveTo>
                  <a:lnTo>
                    <a:pt x="2404999" y="0"/>
                  </a:lnTo>
                  <a:lnTo>
                    <a:pt x="2404999" y="512064"/>
                  </a:lnTo>
                  <a:lnTo>
                    <a:pt x="0" y="512064"/>
                  </a:lnTo>
                  <a:close/>
                </a:path>
              </a:pathLst>
            </a:custGeom>
            <a:solidFill>
              <a:srgbClr val="990011"/>
            </a:solidFill>
          </p:spPr>
        </p:sp>
      </p:grpSp>
      <p:grpSp>
        <p:nvGrpSpPr>
          <p:cNvPr name="Group 65" id="65"/>
          <p:cNvGrpSpPr/>
          <p:nvPr/>
        </p:nvGrpSpPr>
        <p:grpSpPr>
          <a:xfrm rot="0">
            <a:off x="16891387" y="6652260"/>
            <a:ext cx="960120" cy="548640"/>
            <a:chOff x="0" y="0"/>
            <a:chExt cx="1280160" cy="731520"/>
          </a:xfrm>
        </p:grpSpPr>
        <p:sp>
          <p:nvSpPr>
            <p:cNvPr name="Freeform 66" id="66"/>
            <p:cNvSpPr/>
            <p:nvPr/>
          </p:nvSpPr>
          <p:spPr>
            <a:xfrm flipH="false" flipV="false" rot="0">
              <a:off x="0" y="0"/>
              <a:ext cx="1280160" cy="731520"/>
            </a:xfrm>
            <a:custGeom>
              <a:avLst/>
              <a:gdLst/>
              <a:ahLst/>
              <a:cxnLst/>
              <a:rect r="r" b="b" t="t" l="l"/>
              <a:pathLst>
                <a:path h="731520" w="1280160">
                  <a:moveTo>
                    <a:pt x="0" y="0"/>
                  </a:moveTo>
                  <a:lnTo>
                    <a:pt x="1280160" y="0"/>
                  </a:lnTo>
                  <a:lnTo>
                    <a:pt x="1280160" y="731520"/>
                  </a:lnTo>
                  <a:lnTo>
                    <a:pt x="0" y="731520"/>
                  </a:lnTo>
                  <a:close/>
                </a:path>
              </a:pathLst>
            </a:custGeom>
            <a:blipFill>
              <a:blip r:embed="rId3">
                <a:alphaModFix amt="0"/>
              </a:blip>
              <a:stretch>
                <a:fillRect l="-23316" t="0" r="-23316" b="0"/>
              </a:stretch>
            </a:blipFill>
          </p:spPr>
        </p:sp>
        <p:sp>
          <p:nvSpPr>
            <p:cNvPr name="TextBox 67" id="67"/>
            <p:cNvSpPr txBox="true"/>
            <p:nvPr/>
          </p:nvSpPr>
          <p:spPr>
            <a:xfrm>
              <a:off x="0" y="0"/>
              <a:ext cx="1280160" cy="731520"/>
            </a:xfrm>
            <a:prstGeom prst="rect">
              <a:avLst/>
            </a:prstGeom>
          </p:spPr>
          <p:txBody>
            <a:bodyPr anchor="ctr" rtlCol="false" tIns="0" lIns="0" bIns="0" rIns="0"/>
            <a:lstStyle/>
            <a:p>
              <a:pPr algn="l">
                <a:lnSpc>
                  <a:spcPts val="1980"/>
                </a:lnSpc>
              </a:pPr>
              <a:r>
                <a:rPr lang="en-US" sz="1650" b="true">
                  <a:solidFill>
                    <a:srgbClr val="990011"/>
                  </a:solidFill>
                  <a:latin typeface="Open Sans Bold"/>
                  <a:ea typeface="Open Sans Bold"/>
                  <a:cs typeface="Open Sans Bold"/>
                  <a:sym typeface="Open Sans Bold"/>
                </a:rPr>
                <a:t>0.41</a:t>
              </a:r>
            </a:p>
          </p:txBody>
        </p:sp>
      </p:grpSp>
      <p:grpSp>
        <p:nvGrpSpPr>
          <p:cNvPr name="Group 68" id="68"/>
          <p:cNvGrpSpPr/>
          <p:nvPr/>
        </p:nvGrpSpPr>
        <p:grpSpPr>
          <a:xfrm rot="0">
            <a:off x="822960" y="7612380"/>
            <a:ext cx="10149840" cy="1988820"/>
            <a:chOff x="0" y="0"/>
            <a:chExt cx="13533120" cy="2651760"/>
          </a:xfrm>
        </p:grpSpPr>
        <p:sp>
          <p:nvSpPr>
            <p:cNvPr name="Freeform 69" id="69"/>
            <p:cNvSpPr/>
            <p:nvPr/>
          </p:nvSpPr>
          <p:spPr>
            <a:xfrm flipH="false" flipV="false" rot="0">
              <a:off x="0" y="0"/>
              <a:ext cx="13533120" cy="2651760"/>
            </a:xfrm>
            <a:custGeom>
              <a:avLst/>
              <a:gdLst/>
              <a:ahLst/>
              <a:cxnLst/>
              <a:rect r="r" b="b" t="t" l="l"/>
              <a:pathLst>
                <a:path h="2651760" w="13533120">
                  <a:moveTo>
                    <a:pt x="0" y="0"/>
                  </a:moveTo>
                  <a:lnTo>
                    <a:pt x="13533120" y="0"/>
                  </a:lnTo>
                  <a:lnTo>
                    <a:pt x="13533120" y="2651760"/>
                  </a:lnTo>
                  <a:lnTo>
                    <a:pt x="0" y="2651760"/>
                  </a:lnTo>
                  <a:close/>
                </a:path>
              </a:pathLst>
            </a:custGeom>
            <a:solidFill>
              <a:srgbClr val="4A0008"/>
            </a:solidFill>
          </p:spPr>
        </p:sp>
      </p:grpSp>
      <p:grpSp>
        <p:nvGrpSpPr>
          <p:cNvPr name="Group 70" id="70"/>
          <p:cNvGrpSpPr/>
          <p:nvPr/>
        </p:nvGrpSpPr>
        <p:grpSpPr>
          <a:xfrm rot="0">
            <a:off x="1097280" y="7749540"/>
            <a:ext cx="9601200" cy="411480"/>
            <a:chOff x="0" y="0"/>
            <a:chExt cx="12801600" cy="548640"/>
          </a:xfrm>
        </p:grpSpPr>
        <p:sp>
          <p:nvSpPr>
            <p:cNvPr name="Freeform 71" id="71"/>
            <p:cNvSpPr/>
            <p:nvPr/>
          </p:nvSpPr>
          <p:spPr>
            <a:xfrm flipH="false" flipV="false" rot="0">
              <a:off x="0" y="0"/>
              <a:ext cx="12801600" cy="548640"/>
            </a:xfrm>
            <a:custGeom>
              <a:avLst/>
              <a:gdLst/>
              <a:ahLst/>
              <a:cxnLst/>
              <a:rect r="r" b="b" t="t" l="l"/>
              <a:pathLst>
                <a:path h="548640" w="12801600">
                  <a:moveTo>
                    <a:pt x="0" y="0"/>
                  </a:moveTo>
                  <a:lnTo>
                    <a:pt x="12801600" y="0"/>
                  </a:lnTo>
                  <a:lnTo>
                    <a:pt x="12801600" y="548640"/>
                  </a:lnTo>
                  <a:lnTo>
                    <a:pt x="0" y="548640"/>
                  </a:lnTo>
                  <a:close/>
                </a:path>
              </a:pathLst>
            </a:custGeom>
            <a:blipFill>
              <a:blip r:embed="rId3">
                <a:alphaModFix amt="0"/>
              </a:blip>
              <a:stretch>
                <a:fillRect l="0" t="-404650" r="0" b="-404650"/>
              </a:stretch>
            </a:blipFill>
          </p:spPr>
        </p:sp>
        <p:sp>
          <p:nvSpPr>
            <p:cNvPr name="TextBox 72" id="72"/>
            <p:cNvSpPr txBox="true"/>
            <p:nvPr/>
          </p:nvSpPr>
          <p:spPr>
            <a:xfrm>
              <a:off x="0" y="9525"/>
              <a:ext cx="12801600" cy="539115"/>
            </a:xfrm>
            <a:prstGeom prst="rect">
              <a:avLst/>
            </a:prstGeom>
          </p:spPr>
          <p:txBody>
            <a:bodyPr anchor="ctr" rtlCol="false" tIns="0" lIns="0" bIns="0" rIns="0"/>
            <a:lstStyle/>
            <a:p>
              <a:pPr algn="l">
                <a:lnSpc>
                  <a:spcPts val="2160"/>
                </a:lnSpc>
              </a:pPr>
              <a:r>
                <a:rPr lang="en-US" b="true" sz="1800" spc="149">
                  <a:solidFill>
                    <a:srgbClr val="E8B4B8"/>
                  </a:solidFill>
                  <a:latin typeface="Open Sans Bold"/>
                  <a:ea typeface="Open Sans Bold"/>
                  <a:cs typeface="Open Sans Bold"/>
                  <a:sym typeface="Open Sans Bold"/>
                </a:rPr>
                <a:t>Ý NGHĨA</a:t>
              </a:r>
            </a:p>
          </p:txBody>
        </p:sp>
      </p:grpSp>
      <p:sp>
        <p:nvSpPr>
          <p:cNvPr name="TextBox 73" id="73"/>
          <p:cNvSpPr txBox="true"/>
          <p:nvPr/>
        </p:nvSpPr>
        <p:spPr>
          <a:xfrm rot="0">
            <a:off x="1097280" y="8161020"/>
            <a:ext cx="9601200" cy="971550"/>
          </a:xfrm>
          <a:prstGeom prst="rect">
            <a:avLst/>
          </a:prstGeom>
        </p:spPr>
        <p:txBody>
          <a:bodyPr anchor="t" rtlCol="false" tIns="0" lIns="0" bIns="0" rIns="0">
            <a:spAutoFit/>
          </a:bodyPr>
          <a:lstStyle/>
          <a:p>
            <a:pPr algn="l">
              <a:lnSpc>
                <a:spcPts val="2609"/>
              </a:lnSpc>
            </a:pPr>
            <a:r>
              <a:rPr lang="en-US" sz="2174">
                <a:solidFill>
                  <a:srgbClr val="F0E0E0"/>
                </a:solidFill>
                <a:latin typeface="Open Sans"/>
                <a:ea typeface="Open Sans"/>
                <a:cs typeface="Open Sans"/>
                <a:sym typeface="Open Sans"/>
              </a:rPr>
              <a:t>Các chỉ số phản ánh trực tiếp chức năng tim mạch (cp, thalach, exang, oldpeak, ca, thal) ảnh hưởng mạnh hơn các chỉ số sinh hóa đơn lẻ. Kết quả phù hợp với nhiều nghiên cứu trước trên bộ UCI.</a:t>
            </a:r>
          </a:p>
        </p:txBody>
      </p:sp>
      <p:grpSp>
        <p:nvGrpSpPr>
          <p:cNvPr name="Group 74" id="74"/>
          <p:cNvGrpSpPr/>
          <p:nvPr/>
        </p:nvGrpSpPr>
        <p:grpSpPr>
          <a:xfrm rot="0">
            <a:off x="11511915" y="7602855"/>
            <a:ext cx="5916930" cy="2007870"/>
            <a:chOff x="0" y="0"/>
            <a:chExt cx="7889240" cy="2677160"/>
          </a:xfrm>
        </p:grpSpPr>
        <p:sp>
          <p:nvSpPr>
            <p:cNvPr name="Freeform 75" id="75"/>
            <p:cNvSpPr/>
            <p:nvPr/>
          </p:nvSpPr>
          <p:spPr>
            <a:xfrm flipH="false" flipV="false" rot="0">
              <a:off x="0" y="0"/>
              <a:ext cx="7889240" cy="2677160"/>
            </a:xfrm>
            <a:custGeom>
              <a:avLst/>
              <a:gdLst/>
              <a:ahLst/>
              <a:cxnLst/>
              <a:rect r="r" b="b" t="t" l="l"/>
              <a:pathLst>
                <a:path h="2677160" w="7889240">
                  <a:moveTo>
                    <a:pt x="0" y="0"/>
                  </a:moveTo>
                  <a:lnTo>
                    <a:pt x="7889240" y="0"/>
                  </a:lnTo>
                  <a:lnTo>
                    <a:pt x="7889240" y="2677160"/>
                  </a:lnTo>
                  <a:lnTo>
                    <a:pt x="0" y="2677160"/>
                  </a:lnTo>
                  <a:close/>
                </a:path>
              </a:pathLst>
            </a:custGeom>
            <a:solidFill>
              <a:srgbClr val="F7ECEC"/>
            </a:solidFill>
            <a:ln w="19050" cap="sq">
              <a:solidFill>
                <a:srgbClr val="990011"/>
              </a:solidFill>
              <a:prstDash val="solid"/>
              <a:miter/>
            </a:ln>
          </p:spPr>
        </p:sp>
      </p:grpSp>
      <p:grpSp>
        <p:nvGrpSpPr>
          <p:cNvPr name="Group 76" id="76"/>
          <p:cNvGrpSpPr/>
          <p:nvPr/>
        </p:nvGrpSpPr>
        <p:grpSpPr>
          <a:xfrm rot="0">
            <a:off x="11795760" y="7749540"/>
            <a:ext cx="5486400" cy="411480"/>
            <a:chOff x="0" y="0"/>
            <a:chExt cx="7315200" cy="548640"/>
          </a:xfrm>
        </p:grpSpPr>
        <p:sp>
          <p:nvSpPr>
            <p:cNvPr name="Freeform 77" id="77"/>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3">
                <a:alphaModFix amt="0"/>
              </a:blip>
              <a:stretch>
                <a:fillRect l="0" t="-209800" r="0" b="-209800"/>
              </a:stretch>
            </a:blipFill>
          </p:spPr>
        </p:sp>
        <p:sp>
          <p:nvSpPr>
            <p:cNvPr name="TextBox 78" id="78"/>
            <p:cNvSpPr txBox="true"/>
            <p:nvPr/>
          </p:nvSpPr>
          <p:spPr>
            <a:xfrm>
              <a:off x="0" y="9525"/>
              <a:ext cx="7315200" cy="539115"/>
            </a:xfrm>
            <a:prstGeom prst="rect">
              <a:avLst/>
            </a:prstGeom>
          </p:spPr>
          <p:txBody>
            <a:bodyPr anchor="ctr" rtlCol="false" tIns="0" lIns="0" bIns="0" rIns="0"/>
            <a:lstStyle/>
            <a:p>
              <a:pPr algn="l">
                <a:lnSpc>
                  <a:spcPts val="2160"/>
                </a:lnSpc>
              </a:pPr>
              <a:r>
                <a:rPr lang="en-US" b="true" sz="1800" spc="149">
                  <a:solidFill>
                    <a:srgbClr val="990011"/>
                  </a:solidFill>
                  <a:latin typeface="Open Sans Bold"/>
                  <a:ea typeface="Open Sans Bold"/>
                  <a:cs typeface="Open Sans Bold"/>
                  <a:sym typeface="Open Sans Bold"/>
                </a:rPr>
                <a:t>HẠN CHẾ</a:t>
              </a:r>
            </a:p>
          </p:txBody>
        </p:sp>
      </p:grpSp>
      <p:sp>
        <p:nvSpPr>
          <p:cNvPr name="TextBox 79" id="79"/>
          <p:cNvSpPr txBox="true"/>
          <p:nvPr/>
        </p:nvSpPr>
        <p:spPr>
          <a:xfrm rot="0">
            <a:off x="12092940" y="8206740"/>
            <a:ext cx="5097780" cy="571500"/>
          </a:xfrm>
          <a:prstGeom prst="rect">
            <a:avLst/>
          </a:prstGeom>
        </p:spPr>
        <p:txBody>
          <a:bodyPr anchor="t" rtlCol="false" tIns="0" lIns="0" bIns="0" rIns="0">
            <a:spAutoFit/>
          </a:bodyPr>
          <a:lstStyle/>
          <a:p>
            <a:pPr algn="l" marL="339328" indent="-169664" lvl="1">
              <a:lnSpc>
                <a:spcPts val="2250"/>
              </a:lnSpc>
              <a:buFont typeface="Arial"/>
              <a:buChar char="•"/>
            </a:pPr>
            <a:r>
              <a:rPr lang="en-US" sz="1875">
                <a:solidFill>
                  <a:srgbClr val="2B2B2B"/>
                </a:solidFill>
                <a:latin typeface="Open Sans"/>
                <a:ea typeface="Open Sans"/>
                <a:cs typeface="Open Sans"/>
                <a:sym typeface="Open Sans"/>
              </a:rPr>
              <a:t>Chỉ gồm 303 mẫu</a:t>
            </a:r>
          </a:p>
          <a:p>
            <a:pPr algn="l" marL="339328" indent="-169664" lvl="1">
              <a:lnSpc>
                <a:spcPts val="2250"/>
              </a:lnSpc>
              <a:buFont typeface="Arial"/>
              <a:buChar char="•"/>
            </a:pPr>
            <a:r>
              <a:rPr lang="en-US" sz="1875">
                <a:solidFill>
                  <a:srgbClr val="2B2B2B"/>
                </a:solidFill>
                <a:latin typeface="Open Sans"/>
                <a:ea typeface="Open Sans"/>
                <a:cs typeface="Open Sans"/>
                <a:sym typeface="Open Sans"/>
              </a:rPr>
              <a:t>Không đại diện cho toàn bộ dân số</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4A0008"/>
        </a:solidFill>
      </p:bgPr>
    </p:bg>
    <p:spTree>
      <p:nvGrpSpPr>
        <p:cNvPr id="1" name=""/>
        <p:cNvGrpSpPr/>
        <p:nvPr/>
      </p:nvGrpSpPr>
      <p:grpSpPr>
        <a:xfrm>
          <a:off x="0" y="0"/>
          <a:ext cx="0" cy="0"/>
          <a:chOff x="0" y="0"/>
          <a:chExt cx="0" cy="0"/>
        </a:xfrm>
      </p:grpSpPr>
      <p:grpSp>
        <p:nvGrpSpPr>
          <p:cNvPr name="Group 2" id="2"/>
          <p:cNvGrpSpPr/>
          <p:nvPr/>
        </p:nvGrpSpPr>
        <p:grpSpPr>
          <a:xfrm rot="0">
            <a:off x="822960" y="754380"/>
            <a:ext cx="754380" cy="754380"/>
            <a:chOff x="0" y="0"/>
            <a:chExt cx="1005840" cy="1005840"/>
          </a:xfrm>
        </p:grpSpPr>
        <p:sp>
          <p:nvSpPr>
            <p:cNvPr name="Freeform 3" id="3"/>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990011"/>
            </a:solidFill>
          </p:spPr>
        </p:sp>
      </p:grpSp>
      <p:grpSp>
        <p:nvGrpSpPr>
          <p:cNvPr name="Group 4" id="4"/>
          <p:cNvGrpSpPr/>
          <p:nvPr/>
        </p:nvGrpSpPr>
        <p:grpSpPr>
          <a:xfrm rot="0">
            <a:off x="822960" y="754380"/>
            <a:ext cx="754380" cy="754380"/>
            <a:chOff x="0" y="0"/>
            <a:chExt cx="1005840" cy="1005840"/>
          </a:xfrm>
        </p:grpSpPr>
        <p:sp>
          <p:nvSpPr>
            <p:cNvPr name="Freeform 5" id="5"/>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6" id="6"/>
            <p:cNvSpPr txBox="true"/>
            <p:nvPr/>
          </p:nvSpPr>
          <p:spPr>
            <a:xfrm>
              <a:off x="0" y="-9525"/>
              <a:ext cx="1005840" cy="1015365"/>
            </a:xfrm>
            <a:prstGeom prst="rect">
              <a:avLst/>
            </a:prstGeom>
          </p:spPr>
          <p:txBody>
            <a:bodyPr anchor="ctr" rtlCol="false" tIns="0" lIns="0" bIns="0" rIns="0"/>
            <a:lstStyle/>
            <a:p>
              <a:pPr algn="ctr">
                <a:lnSpc>
                  <a:spcPts val="3960"/>
                </a:lnSpc>
              </a:pPr>
              <a:r>
                <a:rPr lang="en-US" sz="3300" b="true">
                  <a:solidFill>
                    <a:srgbClr val="FFFFFF"/>
                  </a:solidFill>
                  <a:latin typeface="Roboto Bold"/>
                  <a:ea typeface="Roboto Bold"/>
                  <a:cs typeface="Roboto Bold"/>
                  <a:sym typeface="Roboto Bold"/>
                </a:rPr>
                <a:t>8</a:t>
              </a:r>
            </a:p>
          </p:txBody>
        </p:sp>
      </p:grpSp>
      <p:grpSp>
        <p:nvGrpSpPr>
          <p:cNvPr name="Group 7" id="7"/>
          <p:cNvGrpSpPr/>
          <p:nvPr/>
        </p:nvGrpSpPr>
        <p:grpSpPr>
          <a:xfrm rot="0">
            <a:off x="1851660" y="685800"/>
            <a:ext cx="15087600" cy="960120"/>
            <a:chOff x="0" y="0"/>
            <a:chExt cx="20116800" cy="1280160"/>
          </a:xfrm>
        </p:grpSpPr>
        <p:sp>
          <p:nvSpPr>
            <p:cNvPr name="Freeform 8" id="8"/>
            <p:cNvSpPr/>
            <p:nvPr/>
          </p:nvSpPr>
          <p:spPr>
            <a:xfrm flipH="false" flipV="false" rot="0">
              <a:off x="0" y="0"/>
              <a:ext cx="20116800" cy="1280160"/>
            </a:xfrm>
            <a:custGeom>
              <a:avLst/>
              <a:gdLst/>
              <a:ahLst/>
              <a:cxnLst/>
              <a:rect r="r" b="b" t="t" l="l"/>
              <a:pathLst>
                <a:path h="1280160" w="20116800">
                  <a:moveTo>
                    <a:pt x="0" y="0"/>
                  </a:moveTo>
                  <a:lnTo>
                    <a:pt x="20116800" y="0"/>
                  </a:lnTo>
                  <a:lnTo>
                    <a:pt x="20116800" y="1280160"/>
                  </a:lnTo>
                  <a:lnTo>
                    <a:pt x="0" y="1280160"/>
                  </a:lnTo>
                  <a:close/>
                </a:path>
              </a:pathLst>
            </a:custGeom>
            <a:blipFill>
              <a:blip r:embed="rId3">
                <a:alphaModFix amt="0"/>
              </a:blip>
              <a:stretch>
                <a:fillRect l="0" t="-256193" r="0" b="-256193"/>
              </a:stretch>
            </a:blipFill>
          </p:spPr>
        </p:sp>
        <p:sp>
          <p:nvSpPr>
            <p:cNvPr name="TextBox 9" id="9"/>
            <p:cNvSpPr txBox="true"/>
            <p:nvPr/>
          </p:nvSpPr>
          <p:spPr>
            <a:xfrm>
              <a:off x="0" y="-19050"/>
              <a:ext cx="20116800" cy="1299210"/>
            </a:xfrm>
            <a:prstGeom prst="rect">
              <a:avLst/>
            </a:prstGeom>
          </p:spPr>
          <p:txBody>
            <a:bodyPr anchor="ctr" rtlCol="false" tIns="0" lIns="0" bIns="0" rIns="0"/>
            <a:lstStyle/>
            <a:p>
              <a:pPr algn="l">
                <a:lnSpc>
                  <a:spcPts val="5400"/>
                </a:lnSpc>
              </a:pPr>
              <a:r>
                <a:rPr lang="en-US" sz="4500" b="true">
                  <a:solidFill>
                    <a:srgbClr val="FFFFFF"/>
                  </a:solidFill>
                  <a:latin typeface="Roboto Bold"/>
                  <a:ea typeface="Roboto Bold"/>
                  <a:cs typeface="Roboto Bold"/>
                  <a:sym typeface="Roboto Bold"/>
                </a:rPr>
                <a:t>Kết luận</a:t>
              </a:r>
            </a:p>
          </p:txBody>
        </p:sp>
      </p:grpSp>
      <p:grpSp>
        <p:nvGrpSpPr>
          <p:cNvPr name="Group 10" id="10"/>
          <p:cNvGrpSpPr/>
          <p:nvPr/>
        </p:nvGrpSpPr>
        <p:grpSpPr>
          <a:xfrm rot="0">
            <a:off x="822960" y="2058584"/>
            <a:ext cx="9601200" cy="616036"/>
            <a:chOff x="0" y="0"/>
            <a:chExt cx="12801600" cy="821381"/>
          </a:xfrm>
        </p:grpSpPr>
        <p:sp>
          <p:nvSpPr>
            <p:cNvPr name="Freeform 11" id="11"/>
            <p:cNvSpPr/>
            <p:nvPr/>
          </p:nvSpPr>
          <p:spPr>
            <a:xfrm flipH="false" flipV="false" rot="0">
              <a:off x="0" y="0"/>
              <a:ext cx="12801600" cy="821381"/>
            </a:xfrm>
            <a:custGeom>
              <a:avLst/>
              <a:gdLst/>
              <a:ahLst/>
              <a:cxnLst/>
              <a:rect r="r" b="b" t="t" l="l"/>
              <a:pathLst>
                <a:path h="821381" w="12801600">
                  <a:moveTo>
                    <a:pt x="0" y="0"/>
                  </a:moveTo>
                  <a:lnTo>
                    <a:pt x="12801600" y="0"/>
                  </a:lnTo>
                  <a:lnTo>
                    <a:pt x="12801600" y="821381"/>
                  </a:lnTo>
                  <a:lnTo>
                    <a:pt x="0" y="821381"/>
                  </a:lnTo>
                  <a:close/>
                </a:path>
              </a:pathLst>
            </a:custGeom>
            <a:blipFill>
              <a:blip r:embed="rId3">
                <a:alphaModFix amt="0"/>
              </a:blip>
              <a:stretch>
                <a:fillRect l="0" t="-259153" r="0" b="-248213"/>
              </a:stretch>
            </a:blipFill>
          </p:spPr>
        </p:sp>
        <p:sp>
          <p:nvSpPr>
            <p:cNvPr name="TextBox 12" id="12"/>
            <p:cNvSpPr txBox="true"/>
            <p:nvPr/>
          </p:nvSpPr>
          <p:spPr>
            <a:xfrm>
              <a:off x="0" y="9525"/>
              <a:ext cx="12801600" cy="811856"/>
            </a:xfrm>
            <a:prstGeom prst="rect">
              <a:avLst/>
            </a:prstGeom>
          </p:spPr>
          <p:txBody>
            <a:bodyPr anchor="ctr" rtlCol="false" tIns="0" lIns="0" bIns="0" rIns="0"/>
            <a:lstStyle/>
            <a:p>
              <a:pPr algn="l">
                <a:lnSpc>
                  <a:spcPts val="3599"/>
                </a:lnSpc>
              </a:pPr>
              <a:r>
                <a:rPr lang="en-US" b="true" sz="2999" spc="428">
                  <a:solidFill>
                    <a:srgbClr val="E8B4B8"/>
                  </a:solidFill>
                  <a:latin typeface="Open Sans Bold"/>
                  <a:ea typeface="Open Sans Bold"/>
                  <a:cs typeface="Open Sans Bold"/>
                  <a:sym typeface="Open Sans Bold"/>
                </a:rPr>
                <a:t>KẾT LUẬN CHÍNH</a:t>
              </a:r>
            </a:p>
          </p:txBody>
        </p:sp>
      </p:grpSp>
      <p:grpSp>
        <p:nvGrpSpPr>
          <p:cNvPr name="Group 13" id="13"/>
          <p:cNvGrpSpPr/>
          <p:nvPr/>
        </p:nvGrpSpPr>
        <p:grpSpPr>
          <a:xfrm rot="0">
            <a:off x="822960" y="2948940"/>
            <a:ext cx="617220" cy="617220"/>
            <a:chOff x="0" y="0"/>
            <a:chExt cx="822960" cy="822960"/>
          </a:xfrm>
        </p:grpSpPr>
        <p:sp>
          <p:nvSpPr>
            <p:cNvPr name="Freeform 14" id="14"/>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990011"/>
            </a:solidFill>
          </p:spPr>
        </p:sp>
      </p:grpSp>
      <p:grpSp>
        <p:nvGrpSpPr>
          <p:cNvPr name="Group 15" id="15"/>
          <p:cNvGrpSpPr/>
          <p:nvPr/>
        </p:nvGrpSpPr>
        <p:grpSpPr>
          <a:xfrm rot="0">
            <a:off x="822960" y="2948940"/>
            <a:ext cx="617220" cy="617220"/>
            <a:chOff x="0" y="0"/>
            <a:chExt cx="822960" cy="822960"/>
          </a:xfrm>
        </p:grpSpPr>
        <p:sp>
          <p:nvSpPr>
            <p:cNvPr name="Freeform 16" id="16"/>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3">
                <a:alphaModFix amt="0"/>
              </a:blip>
              <a:stretch>
                <a:fillRect l="-78303" t="0" r="-78303" b="0"/>
              </a:stretch>
            </a:blipFill>
          </p:spPr>
        </p:sp>
        <p:sp>
          <p:nvSpPr>
            <p:cNvPr name="TextBox 17" id="17"/>
            <p:cNvSpPr txBox="true"/>
            <p:nvPr/>
          </p:nvSpPr>
          <p:spPr>
            <a:xfrm>
              <a:off x="0" y="-9525"/>
              <a:ext cx="822960" cy="832485"/>
            </a:xfrm>
            <a:prstGeom prst="rect">
              <a:avLst/>
            </a:prstGeom>
          </p:spPr>
          <p:txBody>
            <a:bodyPr anchor="ctr" rtlCol="false" tIns="0" lIns="0" bIns="0" rIns="0"/>
            <a:lstStyle/>
            <a:p>
              <a:pPr algn="ctr">
                <a:lnSpc>
                  <a:spcPts val="2879"/>
                </a:lnSpc>
              </a:pPr>
              <a:r>
                <a:rPr lang="en-US" sz="2400" b="true">
                  <a:solidFill>
                    <a:srgbClr val="FFFFFF"/>
                  </a:solidFill>
                  <a:latin typeface="Roboto Bold"/>
                  <a:ea typeface="Roboto Bold"/>
                  <a:cs typeface="Roboto Bold"/>
                  <a:sym typeface="Roboto Bold"/>
                </a:rPr>
                <a:t>1</a:t>
              </a:r>
            </a:p>
          </p:txBody>
        </p:sp>
      </p:grpSp>
      <p:grpSp>
        <p:nvGrpSpPr>
          <p:cNvPr name="Group 18" id="18"/>
          <p:cNvGrpSpPr/>
          <p:nvPr/>
        </p:nvGrpSpPr>
        <p:grpSpPr>
          <a:xfrm rot="0">
            <a:off x="1714500" y="2811780"/>
            <a:ext cx="8915400" cy="960120"/>
            <a:chOff x="0" y="0"/>
            <a:chExt cx="11887200" cy="1280160"/>
          </a:xfrm>
        </p:grpSpPr>
        <p:sp>
          <p:nvSpPr>
            <p:cNvPr name="Freeform 19" id="19"/>
            <p:cNvSpPr/>
            <p:nvPr/>
          </p:nvSpPr>
          <p:spPr>
            <a:xfrm flipH="false" flipV="false" rot="0">
              <a:off x="0" y="0"/>
              <a:ext cx="11887200" cy="1280160"/>
            </a:xfrm>
            <a:custGeom>
              <a:avLst/>
              <a:gdLst/>
              <a:ahLst/>
              <a:cxnLst/>
              <a:rect r="r" b="b" t="t" l="l"/>
              <a:pathLst>
                <a:path h="1280160" w="11887200">
                  <a:moveTo>
                    <a:pt x="0" y="0"/>
                  </a:moveTo>
                  <a:lnTo>
                    <a:pt x="11887200" y="0"/>
                  </a:lnTo>
                  <a:lnTo>
                    <a:pt x="11887200" y="1280160"/>
                  </a:lnTo>
                  <a:lnTo>
                    <a:pt x="0" y="1280160"/>
                  </a:lnTo>
                  <a:close/>
                </a:path>
              </a:pathLst>
            </a:custGeom>
            <a:blipFill>
              <a:blip r:embed="rId3">
                <a:alphaModFix amt="0"/>
              </a:blip>
              <a:stretch>
                <a:fillRect l="0" t="-130932" r="0" b="-130932"/>
              </a:stretch>
            </a:blipFill>
          </p:spPr>
        </p:sp>
        <p:sp>
          <p:nvSpPr>
            <p:cNvPr name="TextBox 20" id="20"/>
            <p:cNvSpPr txBox="true"/>
            <p:nvPr/>
          </p:nvSpPr>
          <p:spPr>
            <a:xfrm>
              <a:off x="0" y="-9525"/>
              <a:ext cx="11887200" cy="1289685"/>
            </a:xfrm>
            <a:prstGeom prst="rect">
              <a:avLst/>
            </a:prstGeom>
          </p:spPr>
          <p:txBody>
            <a:bodyPr anchor="ctr" rtlCol="false" tIns="0" lIns="0" bIns="0" rIns="0"/>
            <a:lstStyle/>
            <a:p>
              <a:pPr algn="l">
                <a:lnSpc>
                  <a:spcPts val="3119"/>
                </a:lnSpc>
              </a:pPr>
              <a:r>
                <a:rPr lang="en-US" sz="2599">
                  <a:solidFill>
                    <a:srgbClr val="F0E0E0"/>
                  </a:solidFill>
                  <a:latin typeface="Open Sans"/>
                  <a:ea typeface="Open Sans"/>
                  <a:cs typeface="Open Sans"/>
                  <a:sym typeface="Open Sans"/>
                </a:rPr>
                <a:t>Nghiên cứu xác định nhiều yếu tố liên hệ đáng kể với bệnh tim (11/13 biến).</a:t>
              </a:r>
            </a:p>
          </p:txBody>
        </p:sp>
      </p:grpSp>
      <p:grpSp>
        <p:nvGrpSpPr>
          <p:cNvPr name="Group 21" id="21"/>
          <p:cNvGrpSpPr/>
          <p:nvPr/>
        </p:nvGrpSpPr>
        <p:grpSpPr>
          <a:xfrm rot="0">
            <a:off x="822960" y="4251960"/>
            <a:ext cx="617220" cy="617220"/>
            <a:chOff x="0" y="0"/>
            <a:chExt cx="822960" cy="822960"/>
          </a:xfrm>
        </p:grpSpPr>
        <p:sp>
          <p:nvSpPr>
            <p:cNvPr name="Freeform 22" id="22"/>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990011"/>
            </a:solidFill>
          </p:spPr>
        </p:sp>
      </p:grpSp>
      <p:grpSp>
        <p:nvGrpSpPr>
          <p:cNvPr name="Group 23" id="23"/>
          <p:cNvGrpSpPr/>
          <p:nvPr/>
        </p:nvGrpSpPr>
        <p:grpSpPr>
          <a:xfrm rot="0">
            <a:off x="822960" y="4251960"/>
            <a:ext cx="617220" cy="617220"/>
            <a:chOff x="0" y="0"/>
            <a:chExt cx="822960" cy="822960"/>
          </a:xfrm>
        </p:grpSpPr>
        <p:sp>
          <p:nvSpPr>
            <p:cNvPr name="Freeform 24" id="24"/>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3">
                <a:alphaModFix amt="0"/>
              </a:blip>
              <a:stretch>
                <a:fillRect l="-78303" t="0" r="-78303" b="0"/>
              </a:stretch>
            </a:blipFill>
          </p:spPr>
        </p:sp>
        <p:sp>
          <p:nvSpPr>
            <p:cNvPr name="TextBox 25" id="25"/>
            <p:cNvSpPr txBox="true"/>
            <p:nvPr/>
          </p:nvSpPr>
          <p:spPr>
            <a:xfrm>
              <a:off x="0" y="-9525"/>
              <a:ext cx="822960" cy="832485"/>
            </a:xfrm>
            <a:prstGeom prst="rect">
              <a:avLst/>
            </a:prstGeom>
          </p:spPr>
          <p:txBody>
            <a:bodyPr anchor="ctr" rtlCol="false" tIns="0" lIns="0" bIns="0" rIns="0"/>
            <a:lstStyle/>
            <a:p>
              <a:pPr algn="ctr">
                <a:lnSpc>
                  <a:spcPts val="2879"/>
                </a:lnSpc>
              </a:pPr>
              <a:r>
                <a:rPr lang="en-US" sz="2400" b="true">
                  <a:solidFill>
                    <a:srgbClr val="FFFFFF"/>
                  </a:solidFill>
                  <a:latin typeface="Roboto Bold"/>
                  <a:ea typeface="Roboto Bold"/>
                  <a:cs typeface="Roboto Bold"/>
                  <a:sym typeface="Roboto Bold"/>
                </a:rPr>
                <a:t>2</a:t>
              </a:r>
            </a:p>
          </p:txBody>
        </p:sp>
      </p:grpSp>
      <p:grpSp>
        <p:nvGrpSpPr>
          <p:cNvPr name="Group 26" id="26"/>
          <p:cNvGrpSpPr/>
          <p:nvPr/>
        </p:nvGrpSpPr>
        <p:grpSpPr>
          <a:xfrm rot="0">
            <a:off x="1714500" y="4114800"/>
            <a:ext cx="8915400" cy="960120"/>
            <a:chOff x="0" y="0"/>
            <a:chExt cx="11887200" cy="1280160"/>
          </a:xfrm>
        </p:grpSpPr>
        <p:sp>
          <p:nvSpPr>
            <p:cNvPr name="Freeform 27" id="27"/>
            <p:cNvSpPr/>
            <p:nvPr/>
          </p:nvSpPr>
          <p:spPr>
            <a:xfrm flipH="false" flipV="false" rot="0">
              <a:off x="0" y="0"/>
              <a:ext cx="11887200" cy="1280160"/>
            </a:xfrm>
            <a:custGeom>
              <a:avLst/>
              <a:gdLst/>
              <a:ahLst/>
              <a:cxnLst/>
              <a:rect r="r" b="b" t="t" l="l"/>
              <a:pathLst>
                <a:path h="1280160" w="11887200">
                  <a:moveTo>
                    <a:pt x="0" y="0"/>
                  </a:moveTo>
                  <a:lnTo>
                    <a:pt x="11887200" y="0"/>
                  </a:lnTo>
                  <a:lnTo>
                    <a:pt x="11887200" y="1280160"/>
                  </a:lnTo>
                  <a:lnTo>
                    <a:pt x="0" y="1280160"/>
                  </a:lnTo>
                  <a:close/>
                </a:path>
              </a:pathLst>
            </a:custGeom>
            <a:blipFill>
              <a:blip r:embed="rId3">
                <a:alphaModFix amt="0"/>
              </a:blip>
              <a:stretch>
                <a:fillRect l="0" t="-130932" r="0" b="-130932"/>
              </a:stretch>
            </a:blipFill>
          </p:spPr>
        </p:sp>
        <p:sp>
          <p:nvSpPr>
            <p:cNvPr name="TextBox 28" id="28"/>
            <p:cNvSpPr txBox="true"/>
            <p:nvPr/>
          </p:nvSpPr>
          <p:spPr>
            <a:xfrm>
              <a:off x="0" y="-9525"/>
              <a:ext cx="11887200" cy="1289685"/>
            </a:xfrm>
            <a:prstGeom prst="rect">
              <a:avLst/>
            </a:prstGeom>
          </p:spPr>
          <p:txBody>
            <a:bodyPr anchor="ctr" rtlCol="false" tIns="0" lIns="0" bIns="0" rIns="0"/>
            <a:lstStyle/>
            <a:p>
              <a:pPr algn="l">
                <a:lnSpc>
                  <a:spcPts val="3119"/>
                </a:lnSpc>
              </a:pPr>
              <a:r>
                <a:rPr lang="en-US" sz="2599">
                  <a:solidFill>
                    <a:srgbClr val="F0E0E0"/>
                  </a:solidFill>
                  <a:latin typeface="Open Sans"/>
                  <a:ea typeface="Open Sans"/>
                  <a:cs typeface="Open Sans"/>
                  <a:sym typeface="Open Sans"/>
                </a:rPr>
                <a:t>Tuổi, đau ngực, nhịp tim tối đa, oldpeak, ca và thal là các yếu tố mạnh nhất.</a:t>
              </a:r>
            </a:p>
          </p:txBody>
        </p:sp>
      </p:grpSp>
      <p:grpSp>
        <p:nvGrpSpPr>
          <p:cNvPr name="Group 29" id="29"/>
          <p:cNvGrpSpPr/>
          <p:nvPr/>
        </p:nvGrpSpPr>
        <p:grpSpPr>
          <a:xfrm rot="0">
            <a:off x="822960" y="5554980"/>
            <a:ext cx="617220" cy="617220"/>
            <a:chOff x="0" y="0"/>
            <a:chExt cx="822960" cy="822960"/>
          </a:xfrm>
        </p:grpSpPr>
        <p:sp>
          <p:nvSpPr>
            <p:cNvPr name="Freeform 30" id="30"/>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990011"/>
            </a:solidFill>
          </p:spPr>
        </p:sp>
      </p:grpSp>
      <p:grpSp>
        <p:nvGrpSpPr>
          <p:cNvPr name="Group 31" id="31"/>
          <p:cNvGrpSpPr/>
          <p:nvPr/>
        </p:nvGrpSpPr>
        <p:grpSpPr>
          <a:xfrm rot="0">
            <a:off x="822960" y="5554980"/>
            <a:ext cx="617220" cy="617220"/>
            <a:chOff x="0" y="0"/>
            <a:chExt cx="822960" cy="822960"/>
          </a:xfrm>
        </p:grpSpPr>
        <p:sp>
          <p:nvSpPr>
            <p:cNvPr name="Freeform 32" id="32"/>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3">
                <a:alphaModFix amt="0"/>
              </a:blip>
              <a:stretch>
                <a:fillRect l="-78303" t="0" r="-78303" b="0"/>
              </a:stretch>
            </a:blipFill>
          </p:spPr>
        </p:sp>
        <p:sp>
          <p:nvSpPr>
            <p:cNvPr name="TextBox 33" id="33"/>
            <p:cNvSpPr txBox="true"/>
            <p:nvPr/>
          </p:nvSpPr>
          <p:spPr>
            <a:xfrm>
              <a:off x="0" y="-9525"/>
              <a:ext cx="822960" cy="832485"/>
            </a:xfrm>
            <a:prstGeom prst="rect">
              <a:avLst/>
            </a:prstGeom>
          </p:spPr>
          <p:txBody>
            <a:bodyPr anchor="ctr" rtlCol="false" tIns="0" lIns="0" bIns="0" rIns="0"/>
            <a:lstStyle/>
            <a:p>
              <a:pPr algn="ctr">
                <a:lnSpc>
                  <a:spcPts val="2879"/>
                </a:lnSpc>
              </a:pPr>
              <a:r>
                <a:rPr lang="en-US" sz="2400" b="true">
                  <a:solidFill>
                    <a:srgbClr val="FFFFFF"/>
                  </a:solidFill>
                  <a:latin typeface="Roboto Bold"/>
                  <a:ea typeface="Roboto Bold"/>
                  <a:cs typeface="Roboto Bold"/>
                  <a:sym typeface="Roboto Bold"/>
                </a:rPr>
                <a:t>3</a:t>
              </a:r>
            </a:p>
          </p:txBody>
        </p:sp>
      </p:grpSp>
      <p:grpSp>
        <p:nvGrpSpPr>
          <p:cNvPr name="Group 34" id="34"/>
          <p:cNvGrpSpPr/>
          <p:nvPr/>
        </p:nvGrpSpPr>
        <p:grpSpPr>
          <a:xfrm rot="0">
            <a:off x="1714500" y="5417820"/>
            <a:ext cx="8915400" cy="960120"/>
            <a:chOff x="0" y="0"/>
            <a:chExt cx="11887200" cy="1280160"/>
          </a:xfrm>
        </p:grpSpPr>
        <p:sp>
          <p:nvSpPr>
            <p:cNvPr name="Freeform 35" id="35"/>
            <p:cNvSpPr/>
            <p:nvPr/>
          </p:nvSpPr>
          <p:spPr>
            <a:xfrm flipH="false" flipV="false" rot="0">
              <a:off x="0" y="0"/>
              <a:ext cx="11887200" cy="1280160"/>
            </a:xfrm>
            <a:custGeom>
              <a:avLst/>
              <a:gdLst/>
              <a:ahLst/>
              <a:cxnLst/>
              <a:rect r="r" b="b" t="t" l="l"/>
              <a:pathLst>
                <a:path h="1280160" w="11887200">
                  <a:moveTo>
                    <a:pt x="0" y="0"/>
                  </a:moveTo>
                  <a:lnTo>
                    <a:pt x="11887200" y="0"/>
                  </a:lnTo>
                  <a:lnTo>
                    <a:pt x="11887200" y="1280160"/>
                  </a:lnTo>
                  <a:lnTo>
                    <a:pt x="0" y="1280160"/>
                  </a:lnTo>
                  <a:close/>
                </a:path>
              </a:pathLst>
            </a:custGeom>
            <a:blipFill>
              <a:blip r:embed="rId3">
                <a:alphaModFix amt="0"/>
              </a:blip>
              <a:stretch>
                <a:fillRect l="0" t="-130932" r="0" b="-130932"/>
              </a:stretch>
            </a:blipFill>
          </p:spPr>
        </p:sp>
        <p:sp>
          <p:nvSpPr>
            <p:cNvPr name="TextBox 36" id="36"/>
            <p:cNvSpPr txBox="true"/>
            <p:nvPr/>
          </p:nvSpPr>
          <p:spPr>
            <a:xfrm>
              <a:off x="0" y="-9525"/>
              <a:ext cx="11887200" cy="1289685"/>
            </a:xfrm>
            <a:prstGeom prst="rect">
              <a:avLst/>
            </a:prstGeom>
          </p:spPr>
          <p:txBody>
            <a:bodyPr anchor="ctr" rtlCol="false" tIns="0" lIns="0" bIns="0" rIns="0"/>
            <a:lstStyle/>
            <a:p>
              <a:pPr algn="l">
                <a:lnSpc>
                  <a:spcPts val="3119"/>
                </a:lnSpc>
              </a:pPr>
              <a:r>
                <a:rPr lang="en-US" sz="2599">
                  <a:solidFill>
                    <a:srgbClr val="F0E0E0"/>
                  </a:solidFill>
                  <a:latin typeface="Open Sans"/>
                  <a:ea typeface="Open Sans"/>
                  <a:cs typeface="Open Sans"/>
                  <a:sym typeface="Open Sans"/>
                </a:rPr>
                <a:t>Cholesterol và đường huyết không cho thấy mối liên hệ mạnh trong tập dữ liệu này.</a:t>
              </a:r>
            </a:p>
          </p:txBody>
        </p:sp>
      </p:grpSp>
      <p:grpSp>
        <p:nvGrpSpPr>
          <p:cNvPr name="Group 37" id="37"/>
          <p:cNvGrpSpPr/>
          <p:nvPr/>
        </p:nvGrpSpPr>
        <p:grpSpPr>
          <a:xfrm rot="0">
            <a:off x="11247120" y="2674620"/>
            <a:ext cx="6172200" cy="4937760"/>
            <a:chOff x="0" y="0"/>
            <a:chExt cx="8229600" cy="6583680"/>
          </a:xfrm>
        </p:grpSpPr>
        <p:sp>
          <p:nvSpPr>
            <p:cNvPr name="Freeform 38" id="38"/>
            <p:cNvSpPr/>
            <p:nvPr/>
          </p:nvSpPr>
          <p:spPr>
            <a:xfrm flipH="false" flipV="false" rot="0">
              <a:off x="0" y="0"/>
              <a:ext cx="8229600" cy="6583680"/>
            </a:xfrm>
            <a:custGeom>
              <a:avLst/>
              <a:gdLst/>
              <a:ahLst/>
              <a:cxnLst/>
              <a:rect r="r" b="b" t="t" l="l"/>
              <a:pathLst>
                <a:path h="6583680" w="8229600">
                  <a:moveTo>
                    <a:pt x="0" y="0"/>
                  </a:moveTo>
                  <a:lnTo>
                    <a:pt x="8229600" y="0"/>
                  </a:lnTo>
                  <a:lnTo>
                    <a:pt x="8229600" y="6583680"/>
                  </a:lnTo>
                  <a:lnTo>
                    <a:pt x="0" y="6583680"/>
                  </a:lnTo>
                  <a:close/>
                </a:path>
              </a:pathLst>
            </a:custGeom>
            <a:solidFill>
              <a:srgbClr val="FFFFFF"/>
            </a:solidFill>
          </p:spPr>
        </p:sp>
      </p:grpSp>
      <p:grpSp>
        <p:nvGrpSpPr>
          <p:cNvPr name="Group 39" id="39"/>
          <p:cNvGrpSpPr/>
          <p:nvPr/>
        </p:nvGrpSpPr>
        <p:grpSpPr>
          <a:xfrm rot="0">
            <a:off x="11247120" y="2674620"/>
            <a:ext cx="6172200" cy="822960"/>
            <a:chOff x="0" y="0"/>
            <a:chExt cx="8229600" cy="1097280"/>
          </a:xfrm>
        </p:grpSpPr>
        <p:sp>
          <p:nvSpPr>
            <p:cNvPr name="Freeform 40" id="40"/>
            <p:cNvSpPr/>
            <p:nvPr/>
          </p:nvSpPr>
          <p:spPr>
            <a:xfrm flipH="false" flipV="false" rot="0">
              <a:off x="0" y="0"/>
              <a:ext cx="8229600" cy="1097280"/>
            </a:xfrm>
            <a:custGeom>
              <a:avLst/>
              <a:gdLst/>
              <a:ahLst/>
              <a:cxnLst/>
              <a:rect r="r" b="b" t="t" l="l"/>
              <a:pathLst>
                <a:path h="1097280" w="8229600">
                  <a:moveTo>
                    <a:pt x="0" y="0"/>
                  </a:moveTo>
                  <a:lnTo>
                    <a:pt x="8229600" y="0"/>
                  </a:lnTo>
                  <a:lnTo>
                    <a:pt x="8229600" y="1097280"/>
                  </a:lnTo>
                  <a:lnTo>
                    <a:pt x="0" y="1097280"/>
                  </a:lnTo>
                  <a:close/>
                </a:path>
              </a:pathLst>
            </a:custGeom>
            <a:solidFill>
              <a:srgbClr val="990011"/>
            </a:solidFill>
          </p:spPr>
        </p:sp>
      </p:grpSp>
      <p:grpSp>
        <p:nvGrpSpPr>
          <p:cNvPr name="Group 41" id="41"/>
          <p:cNvGrpSpPr/>
          <p:nvPr/>
        </p:nvGrpSpPr>
        <p:grpSpPr>
          <a:xfrm rot="0">
            <a:off x="11521440" y="2674620"/>
            <a:ext cx="5760720" cy="822960"/>
            <a:chOff x="0" y="0"/>
            <a:chExt cx="7680960" cy="1097280"/>
          </a:xfrm>
        </p:grpSpPr>
        <p:sp>
          <p:nvSpPr>
            <p:cNvPr name="Freeform 42" id="42"/>
            <p:cNvSpPr/>
            <p:nvPr/>
          </p:nvSpPr>
          <p:spPr>
            <a:xfrm flipH="false" flipV="false" rot="0">
              <a:off x="0" y="0"/>
              <a:ext cx="7680960" cy="1097280"/>
            </a:xfrm>
            <a:custGeom>
              <a:avLst/>
              <a:gdLst/>
              <a:ahLst/>
              <a:cxnLst/>
              <a:rect r="r" b="b" t="t" l="l"/>
              <a:pathLst>
                <a:path h="1097280" w="7680960">
                  <a:moveTo>
                    <a:pt x="0" y="0"/>
                  </a:moveTo>
                  <a:lnTo>
                    <a:pt x="7680960" y="0"/>
                  </a:lnTo>
                  <a:lnTo>
                    <a:pt x="7680960" y="1097280"/>
                  </a:lnTo>
                  <a:lnTo>
                    <a:pt x="0" y="1097280"/>
                  </a:lnTo>
                  <a:close/>
                </a:path>
              </a:pathLst>
            </a:custGeom>
            <a:blipFill>
              <a:blip r:embed="rId3">
                <a:alphaModFix amt="0"/>
              </a:blip>
              <a:stretch>
                <a:fillRect l="0" t="-86395" r="0" b="-86395"/>
              </a:stretch>
            </a:blipFill>
          </p:spPr>
        </p:sp>
        <p:sp>
          <p:nvSpPr>
            <p:cNvPr name="TextBox 43" id="43"/>
            <p:cNvSpPr txBox="true"/>
            <p:nvPr/>
          </p:nvSpPr>
          <p:spPr>
            <a:xfrm>
              <a:off x="0" y="0"/>
              <a:ext cx="7680960" cy="1097280"/>
            </a:xfrm>
            <a:prstGeom prst="rect">
              <a:avLst/>
            </a:prstGeom>
          </p:spPr>
          <p:txBody>
            <a:bodyPr anchor="ctr" rtlCol="false" tIns="0" lIns="0" bIns="0" rIns="0"/>
            <a:lstStyle/>
            <a:p>
              <a:pPr algn="l">
                <a:lnSpc>
                  <a:spcPts val="2520"/>
                </a:lnSpc>
              </a:pPr>
              <a:r>
                <a:rPr lang="en-US" b="true" sz="2100" spc="150">
                  <a:solidFill>
                    <a:srgbClr val="FFFFFF"/>
                  </a:solidFill>
                  <a:latin typeface="Open Sans Bold"/>
                  <a:ea typeface="Open Sans Bold"/>
                  <a:cs typeface="Open Sans Bold"/>
                  <a:sym typeface="Open Sans Bold"/>
                </a:rPr>
                <a:t>HƯỚNG PHÁT TRIỂN</a:t>
              </a:r>
            </a:p>
          </p:txBody>
        </p:sp>
      </p:grpSp>
      <p:sp>
        <p:nvSpPr>
          <p:cNvPr name="TextBox 44" id="44"/>
          <p:cNvSpPr txBox="true"/>
          <p:nvPr/>
        </p:nvSpPr>
        <p:spPr>
          <a:xfrm rot="0">
            <a:off x="11521440" y="3771900"/>
            <a:ext cx="5737860" cy="3558731"/>
          </a:xfrm>
          <a:prstGeom prst="rect">
            <a:avLst/>
          </a:prstGeom>
        </p:spPr>
        <p:txBody>
          <a:bodyPr anchor="t" rtlCol="false" tIns="0" lIns="0" bIns="0" rIns="0">
            <a:spAutoFit/>
          </a:bodyPr>
          <a:lstStyle/>
          <a:p>
            <a:pPr algn="l" marL="529349" indent="-264675" lvl="1">
              <a:lnSpc>
                <a:spcPts val="4738"/>
              </a:lnSpc>
              <a:buFont typeface="Arial"/>
              <a:buChar char="•"/>
            </a:pPr>
            <a:r>
              <a:rPr lang="en-US" sz="2924">
                <a:solidFill>
                  <a:srgbClr val="2B2B2B"/>
                </a:solidFill>
                <a:latin typeface="Open Sans"/>
                <a:ea typeface="Open Sans"/>
                <a:cs typeface="Open Sans"/>
                <a:sym typeface="Open Sans"/>
              </a:rPr>
              <a:t>Mở rộng sang các bộ dữ liệu lớn hơn</a:t>
            </a:r>
          </a:p>
          <a:p>
            <a:pPr algn="l" marL="529349" indent="-264675" lvl="1">
              <a:lnSpc>
                <a:spcPts val="4738"/>
              </a:lnSpc>
              <a:buFont typeface="Arial"/>
              <a:buChar char="•"/>
            </a:pPr>
            <a:r>
              <a:rPr lang="en-US" sz="2924">
                <a:solidFill>
                  <a:srgbClr val="2B2B2B"/>
                </a:solidFill>
                <a:latin typeface="Open Sans"/>
                <a:ea typeface="Open Sans"/>
                <a:cs typeface="Open Sans"/>
                <a:sym typeface="Open Sans"/>
              </a:rPr>
              <a:t>So sánh giữa các nhóm dân số khác nhau</a:t>
            </a:r>
          </a:p>
          <a:p>
            <a:pPr algn="l" marL="529349" indent="-264675" lvl="1">
              <a:lnSpc>
                <a:spcPts val="4738"/>
              </a:lnSpc>
              <a:buFont typeface="Arial"/>
              <a:buChar char="•"/>
            </a:pPr>
            <a:r>
              <a:rPr lang="en-US" sz="2924">
                <a:solidFill>
                  <a:srgbClr val="2B2B2B"/>
                </a:solidFill>
                <a:latin typeface="Open Sans"/>
                <a:ea typeface="Open Sans"/>
                <a:cs typeface="Open Sans"/>
                <a:sym typeface="Open Sans"/>
              </a:rPr>
              <a:t>Kết hợp thêm dữ liệu lâm sàng thực tế</a:t>
            </a:r>
          </a:p>
        </p:txBody>
      </p:sp>
      <p:grpSp>
        <p:nvGrpSpPr>
          <p:cNvPr name="Group 45" id="45"/>
          <p:cNvGrpSpPr/>
          <p:nvPr/>
        </p:nvGrpSpPr>
        <p:grpSpPr>
          <a:xfrm rot="0">
            <a:off x="813435" y="8974455"/>
            <a:ext cx="16615410" cy="19050"/>
            <a:chOff x="0" y="0"/>
            <a:chExt cx="22153880" cy="25400"/>
          </a:xfrm>
        </p:grpSpPr>
        <p:sp>
          <p:nvSpPr>
            <p:cNvPr name="Freeform 46" id="46"/>
            <p:cNvSpPr/>
            <p:nvPr/>
          </p:nvSpPr>
          <p:spPr>
            <a:xfrm flipH="false" flipV="false" rot="0">
              <a:off x="0" y="0"/>
              <a:ext cx="22153880" cy="25400"/>
            </a:xfrm>
            <a:custGeom>
              <a:avLst/>
              <a:gdLst/>
              <a:ahLst/>
              <a:cxnLst/>
              <a:rect r="r" b="b" t="t" l="l"/>
              <a:pathLst>
                <a:path h="25400" w="22153880">
                  <a:moveTo>
                    <a:pt x="0" y="0"/>
                  </a:moveTo>
                  <a:lnTo>
                    <a:pt x="22153880" y="25400"/>
                  </a:lnTo>
                </a:path>
              </a:pathLst>
            </a:custGeom>
            <a:blipFill>
              <a:blip r:embed="rId3">
                <a:alphaModFix amt="0"/>
              </a:blip>
              <a:stretch>
                <a:fillRect l="0" t="-16944850" r="0" b="-16944850"/>
              </a:stretch>
            </a:blipFill>
            <a:ln w="19050" cap="sq">
              <a:solidFill>
                <a:srgbClr val="FFFFFF"/>
              </a:solidFill>
              <a:prstDash val="solid"/>
              <a:miter/>
            </a:ln>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DAHLWzMJRec</dc:identifier>
  <dcterms:modified xsi:type="dcterms:W3CDTF">2011-08-01T06:04:30Z</dcterms:modified>
  <cp:revision>1</cp:revision>
  <dc:title>Heart_Disease_Presentation_8slides.pptx</dc:title>
</cp:coreProperties>
</file>